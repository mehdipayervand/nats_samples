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_rels/presentation.xml.rels" ContentType="application/vnd.openxmlformats-package.relationships+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_rels/slideLayout22.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17.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16.xml.rels" ContentType="application/vnd.openxmlformats-package.relationships+xml"/>
  <Override PartName="/ppt/slideLayouts/_rels/slideLayout18.xml.rels" ContentType="application/vnd.openxmlformats-package.relationships+xml"/>
  <Override PartName="/ppt/slideLayouts/_rels/slideLayout5.xml.rels" ContentType="application/vnd.openxmlformats-package.relationships+xml"/>
  <Override PartName="/ppt/slideLayouts/_rels/slideLayout13.xml.rels" ContentType="application/vnd.openxmlformats-package.relationships+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1.xml.rels" ContentType="application/vnd.openxmlformats-package.relationships+xml"/>
  <Override PartName="/ppt/slideLayouts/_rels/slideLayout14.xml.rels" ContentType="application/vnd.openxmlformats-package.relationships+xml"/>
  <Override PartName="/ppt/slideLayouts/_rels/slideLayout10.xml.rels" ContentType="application/vnd.openxmlformats-package.relationships+xml"/>
  <Override PartName="/ppt/slideLayouts/_rels/slideLayout24.xml.rels" ContentType="application/vnd.openxmlformats-package.relationships+xml"/>
  <Override PartName="/ppt/slideLayouts/_rels/slideLayout9.xml.rels" ContentType="application/vnd.openxmlformats-package.relationships+xml"/>
  <Override PartName="/ppt/slideLayouts/_rels/slideLayout23.xml.rels" ContentType="application/vnd.openxmlformats-package.relationships+xml"/>
  <Override PartName="/ppt/slideLayouts/_rels/slideLayout8.xml.rels" ContentType="application/vnd.openxmlformats-package.relationships+xml"/>
  <Override PartName="/ppt/slideLayouts/_rels/slideLayout15.xml.rels" ContentType="application/vnd.openxmlformats-package.relationships+xml"/>
  <Override PartName="/ppt/slideLayouts/_rels/slideLayout2.xml.rels" ContentType="application/vnd.openxmlformats-package.relationships+xml"/>
  <Override PartName="/ppt/slideLayouts/_rels/slideLayout20.xml.rels" ContentType="application/vnd.openxmlformats-package.relationships+xml"/>
  <Override PartName="/ppt/slideLayouts/slideLayout6.xml" ContentType="application/vnd.openxmlformats-officedocument.presentationml.slideLayout+xml"/>
  <Override PartName="/ppt/slideLayouts/slideLayout24.xml" ContentType="application/vnd.openxmlformats-officedocument.presentationml.slideLayout+xml"/>
  <Override PartName="/ppt/slideLayouts/slideLayout5.xml" ContentType="application/vnd.openxmlformats-officedocument.presentationml.slideLayout+xml"/>
  <Override PartName="/ppt/slideLayouts/slideLayout23.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3.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4.xml" ContentType="application/vnd.openxmlformats-officedocument.presentationml.slideLayout+xml"/>
  <Override PartName="/ppt/slideLayouts/slideLayout22.xml" ContentType="application/vnd.openxmlformats-officedocument.presentationml.slideLayout+xml"/>
  <Override PartName="/ppt/presProps.xml" ContentType="application/vnd.openxmlformats-officedocument.presentationml.presPro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8.xml" ContentType="application/vnd.openxmlformats-officedocument.presentationml.slide+xml"/>
  <Override PartName="/ppt/slides/_rels/slide17.xml.rels" ContentType="application/vnd.openxmlformats-package.relationships+xml"/>
  <Override PartName="/ppt/slides/_rels/slide18.xml.rels" ContentType="application/vnd.openxmlformats-package.relationships+xml"/>
  <Override PartName="/ppt/slides/_rels/slide20.xml.rels" ContentType="application/vnd.openxmlformats-package.relationships+xml"/>
  <Override PartName="/ppt/slides/_rels/slide2.xml.rels" ContentType="application/vnd.openxmlformats-package.relationships+xml"/>
  <Override PartName="/ppt/slides/_rels/slide19.xml.rels" ContentType="application/vnd.openxmlformats-package.relationships+xml"/>
  <Override PartName="/ppt/slides/_rels/slide21.xml.rels" ContentType="application/vnd.openxmlformats-package.relationships+xml"/>
  <Override PartName="/ppt/slides/_rels/slide3.xml.rels" ContentType="application/vnd.openxmlformats-package.relationships+xml"/>
  <Override PartName="/ppt/slides/_rels/slide22.xml.rels" ContentType="application/vnd.openxmlformats-package.relationships+xml"/>
  <Override PartName="/ppt/slides/_rels/slide23.xml.rels" ContentType="application/vnd.openxmlformats-package.relationships+xml"/>
  <Override PartName="/ppt/slides/_rels/slide16.xml.rels" ContentType="application/vnd.openxmlformats-package.relationships+xml"/>
  <Override PartName="/ppt/slides/_rels/slide26.xml.rels" ContentType="application/vnd.openxmlformats-package.relationships+xml"/>
  <Override PartName="/ppt/slides/_rels/slide11.xml.rels" ContentType="application/vnd.openxmlformats-package.relationships+xml"/>
  <Override PartName="/ppt/slides/_rels/slide24.xml.rels" ContentType="application/vnd.openxmlformats-package.relationships+xml"/>
  <Override PartName="/ppt/slides/_rels/slide27.xml.rels" ContentType="application/vnd.openxmlformats-package.relationships+xml"/>
  <Override PartName="/ppt/slides/_rels/slide9.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15.xml.rels" ContentType="application/vnd.openxmlformats-package.relationships+xml"/>
  <Override PartName="/ppt/slides/_rels/slide28.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_rels/slide14.xml.rels" ContentType="application/vnd.openxmlformats-package.relationships+xml"/>
  <Override PartName="/ppt/slides/_rels/slide25.xml.rels" ContentType="application/vnd.openxmlformats-package.relationships+xml"/>
  <Override PartName="/ppt/slides/_rels/slide10.xml.rels" ContentType="application/vnd.openxmlformats-package.relationships+xml"/>
  <Override PartName="/ppt/slides/slide16.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Lst>
  <p:sldSz cx="9144000" cy="5143500"/>
  <p:notesSz cx="7772400" cy="100584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4"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6"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8"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
        <p:nvSpPr>
          <p:cNvPr id="19"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1"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3"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24"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
        <p:nvSpPr>
          <p:cNvPr id="25"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7"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
        <p:nvSpPr>
          <p:cNvPr id="28"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29"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3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1"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32"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33"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5"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US" sz="3200" spc="-1" strike="noStrike">
              <a:latin typeface="Arial"/>
            </a:endParaRPr>
          </a:p>
        </p:txBody>
      </p:sp>
      <p:sp>
        <p:nvSpPr>
          <p:cNvPr id="36"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8"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39"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40"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41"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4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43"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44"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45"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46"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47"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48"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1"/>
          </p:nvPr>
        </p:nvSpPr>
        <p:spPr/>
        <p:txBody>
          <a:bodyPr/>
          <a:p>
            <a:fld id="{49A4F23F-5D0D-4B6E-BA7C-690581EBB5ED}" type="slidenum">
              <a:t>&lt;#&gt;</a:t>
            </a:fld>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6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63"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sldNum" idx="1"/>
          </p:nvPr>
        </p:nvSpPr>
        <p:spPr/>
        <p:txBody>
          <a:bodyPr/>
          <a:p>
            <a:fld id="{3C14C2DD-4AA6-4CDF-9A9A-5AF4B1BE6CD3}" type="slidenum">
              <a:t>&lt;#&gt;</a:t>
            </a:fld>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65"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US" sz="3200" spc="-1" strike="noStrike">
              <a:latin typeface="Arial"/>
            </a:endParaRPr>
          </a:p>
        </p:txBody>
      </p:sp>
      <p:sp>
        <p:nvSpPr>
          <p:cNvPr id="4" name="PlaceHolder 3"/>
          <p:cNvSpPr>
            <a:spLocks noGrp="1"/>
          </p:cNvSpPr>
          <p:nvPr>
            <p:ph type="sldNum" idx="1"/>
          </p:nvPr>
        </p:nvSpPr>
        <p:spPr/>
        <p:txBody>
          <a:bodyPr/>
          <a:p>
            <a:fld id="{B49B3E90-6744-4524-A626-48F1A723DA6C}" type="slidenum">
              <a:t>&lt;#&gt;</a:t>
            </a:fld>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67"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
        <p:nvSpPr>
          <p:cNvPr id="68"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sldNum" idx="1"/>
          </p:nvPr>
        </p:nvSpPr>
        <p:spPr/>
        <p:txBody>
          <a:bodyPr/>
          <a:p>
            <a:fld id="{64EADEFC-10AD-4E56-9924-91487CFF147A}" type="slidenum">
              <a:t>&lt;#&gt;</a:t>
            </a:fld>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6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 name="PlaceHolder 2"/>
          <p:cNvSpPr>
            <a:spLocks noGrp="1"/>
          </p:cNvSpPr>
          <p:nvPr>
            <p:ph type="sldNum" idx="1"/>
          </p:nvPr>
        </p:nvSpPr>
        <p:spPr/>
        <p:txBody>
          <a:bodyPr/>
          <a:p>
            <a:fld id="{2387F592-D166-445B-8721-0C6AD4B09D20}" type="slidenum">
              <a:t>&lt;#&gt;</a:t>
            </a:fld>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70"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sldNum" idx="1"/>
          </p:nvPr>
        </p:nvSpPr>
        <p:spPr/>
        <p:txBody>
          <a:bodyPr/>
          <a:p>
            <a:fld id="{34329418-4871-4F6B-8099-4CAFF8732590}" type="slidenum">
              <a:t>&lt;#&gt;</a:t>
            </a:fld>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72"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73"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
        <p:nvSpPr>
          <p:cNvPr id="74"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sldNum" idx="1"/>
          </p:nvPr>
        </p:nvSpPr>
        <p:spPr/>
        <p:txBody>
          <a:bodyPr/>
          <a:p>
            <a:fld id="{594F9734-EA9A-4819-A980-E91BC2A69737}" type="slidenum">
              <a:t>&lt;#&gt;</a:t>
            </a:fld>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76"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
        <p:nvSpPr>
          <p:cNvPr id="77"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78"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sldNum" idx="1"/>
          </p:nvPr>
        </p:nvSpPr>
        <p:spPr/>
        <p:txBody>
          <a:bodyPr/>
          <a:p>
            <a:fld id="{8658C3F1-9F20-42AB-A330-F3F2ED0993DC}" type="slidenum">
              <a:t>&lt;#&gt;</a:t>
            </a:fld>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7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80"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81"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82"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sldNum" idx="1"/>
          </p:nvPr>
        </p:nvSpPr>
        <p:spPr/>
        <p:txBody>
          <a:bodyPr/>
          <a:p>
            <a:fld id="{E26D0968-0884-49E5-A304-E08671ADE82A}" type="slidenum">
              <a:t>&lt;#&gt;</a:t>
            </a:fld>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8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84"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US" sz="3200" spc="-1" strike="noStrike">
              <a:latin typeface="Arial"/>
            </a:endParaRPr>
          </a:p>
        </p:txBody>
      </p:sp>
      <p:sp>
        <p:nvSpPr>
          <p:cNvPr id="85"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sldNum" idx="1"/>
          </p:nvPr>
        </p:nvSpPr>
        <p:spPr/>
        <p:txBody>
          <a:bodyPr/>
          <a:p>
            <a:fld id="{6247214F-5BAC-4422-B50D-597D7A78A6D7}" type="slidenum">
              <a:t>&lt;#&gt;</a:t>
            </a:fld>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8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87"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88"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89"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90"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7" name="PlaceHolder 6"/>
          <p:cNvSpPr>
            <a:spLocks noGrp="1"/>
          </p:cNvSpPr>
          <p:nvPr>
            <p:ph type="sldNum" idx="1"/>
          </p:nvPr>
        </p:nvSpPr>
        <p:spPr/>
        <p:txBody>
          <a:bodyPr/>
          <a:p>
            <a:fld id="{FDC59FD8-20B0-458F-AB5D-3908262A3166}" type="slidenum">
              <a:t>&lt;#&gt;</a:t>
            </a:fld>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92"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93"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94"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95"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96"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97"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9" name="PlaceHolder 8"/>
          <p:cNvSpPr>
            <a:spLocks noGrp="1"/>
          </p:cNvSpPr>
          <p:nvPr>
            <p:ph type="sldNum" idx="1"/>
          </p:nvPr>
        </p:nvSpPr>
        <p:spPr/>
        <p:txBody>
          <a:bodyPr/>
          <a:p>
            <a:fld id="{1ABF94EE-30E2-4AC6-B1E2-6702434334B4}" type="slidenum">
              <a:t>&lt;#&gt;</a:t>
            </a:fld>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aee25a"/>
        </a:solidFill>
      </p:bgPr>
    </p:bg>
    <p:spTree>
      <p:nvGrpSpPr>
        <p:cNvPr id="1" name=""/>
        <p:cNvGrpSpPr/>
        <p:nvPr/>
      </p:nvGrpSpPr>
      <p:grpSpPr>
        <a:xfrm>
          <a:off x="0" y="0"/>
          <a:ext cx="0" cy="0"/>
          <a:chOff x="0" y="0"/>
          <a:chExt cx="0" cy="0"/>
        </a:xfrm>
      </p:grpSpPr>
      <p:sp>
        <p:nvSpPr>
          <p:cNvPr id="0" name="Google Shape;10;p2"/>
          <p:cNvSpPr/>
          <p:nvPr/>
        </p:nvSpPr>
        <p:spPr>
          <a:xfrm>
            <a:off x="781920" y="777600"/>
            <a:ext cx="7578360" cy="3863520"/>
          </a:xfrm>
          <a:custGeom>
            <a:avLst/>
            <a:gdLst/>
            <a:ahLst/>
            <a:rect l="l" t="t" r="r" b="b"/>
            <a:pathLst>
              <a:path w="3592202" h="1831582">
                <a:moveTo>
                  <a:pt x="3554475" y="588873"/>
                </a:moveTo>
                <a:cubicBezTo>
                  <a:pt x="3581881" y="-89254"/>
                  <a:pt x="2593478" y="24995"/>
                  <a:pt x="2107652" y="528"/>
                </a:cubicBezTo>
                <a:cubicBezTo>
                  <a:pt x="1659207" y="-4515"/>
                  <a:pt x="1181252" y="27319"/>
                  <a:pt x="750347" y="64701"/>
                </a:cubicBezTo>
                <a:cubicBezTo>
                  <a:pt x="-8045" y="130474"/>
                  <a:pt x="40101" y="825724"/>
                  <a:pt x="6973" y="1349129"/>
                </a:cubicBezTo>
                <a:cubicBezTo>
                  <a:pt x="-5853" y="1475480"/>
                  <a:pt x="-13088" y="1628228"/>
                  <a:pt x="99056" y="1715663"/>
                </a:cubicBezTo>
                <a:cubicBezTo>
                  <a:pt x="135341" y="1744165"/>
                  <a:pt x="181120" y="1758789"/>
                  <a:pt x="226394" y="1766090"/>
                </a:cubicBezTo>
                <a:cubicBezTo>
                  <a:pt x="547610" y="1798407"/>
                  <a:pt x="870976" y="1810947"/>
                  <a:pt x="1193749" y="1821405"/>
                </a:cubicBezTo>
                <a:cubicBezTo>
                  <a:pt x="1869266" y="1838945"/>
                  <a:pt x="2634630" y="1839954"/>
                  <a:pt x="3306903" y="1773939"/>
                </a:cubicBezTo>
                <a:cubicBezTo>
                  <a:pt x="3542965" y="1713230"/>
                  <a:pt x="3574777" y="1531804"/>
                  <a:pt x="3589730" y="1335448"/>
                </a:cubicBezTo>
                <a:cubicBezTo>
                  <a:pt x="3601744" y="1168470"/>
                  <a:pt x="3566731" y="755807"/>
                  <a:pt x="3554475" y="588873"/>
                </a:cubicBezTo>
                <a:close/>
              </a:path>
            </a:pathLst>
          </a:custGeom>
          <a:solidFill>
            <a:srgbClr val="ffffff"/>
          </a:solidFill>
          <a:ln w="0">
            <a:noFill/>
          </a:ln>
        </p:spPr>
        <p:style>
          <a:lnRef idx="0"/>
          <a:fillRef idx="0"/>
          <a:effectRef idx="0"/>
          <a:fontRef idx="minor"/>
        </p:style>
      </p:sp>
      <p:sp>
        <p:nvSpPr>
          <p:cNvPr id="1" name="Google Shape;11;p2"/>
          <p:cNvSpPr/>
          <p:nvPr/>
        </p:nvSpPr>
        <p:spPr>
          <a:xfrm>
            <a:off x="793800" y="559800"/>
            <a:ext cx="7398000" cy="3909600"/>
          </a:xfrm>
          <a:custGeom>
            <a:avLst/>
            <a:gdLst/>
            <a:ahLst/>
            <a:rect l="l" t="t" r="r" b="b"/>
            <a:pathLst>
              <a:path w="3506719" h="1853427">
                <a:moveTo>
                  <a:pt x="3499305" y="1166353"/>
                </a:moveTo>
                <a:cubicBezTo>
                  <a:pt x="3487751" y="941889"/>
                  <a:pt x="3482379" y="741016"/>
                  <a:pt x="3468150" y="516750"/>
                </a:cubicBezTo>
                <a:cubicBezTo>
                  <a:pt x="3459578" y="392635"/>
                  <a:pt x="3434540" y="262425"/>
                  <a:pt x="3343926" y="170342"/>
                </a:cubicBezTo>
                <a:cubicBezTo>
                  <a:pt x="3249760" y="74400"/>
                  <a:pt x="3105299" y="78500"/>
                  <a:pt x="2981184" y="57847"/>
                </a:cubicBezTo>
                <a:cubicBezTo>
                  <a:pt x="2181223" y="-47983"/>
                  <a:pt x="1370738" y="7114"/>
                  <a:pt x="571983" y="97465"/>
                </a:cubicBezTo>
                <a:cubicBezTo>
                  <a:pt x="583142" y="79706"/>
                  <a:pt x="597415" y="64118"/>
                  <a:pt x="614122" y="51423"/>
                </a:cubicBezTo>
                <a:cubicBezTo>
                  <a:pt x="621729" y="45657"/>
                  <a:pt x="614122" y="33314"/>
                  <a:pt x="606317" y="39277"/>
                </a:cubicBezTo>
                <a:cubicBezTo>
                  <a:pt x="584019" y="56115"/>
                  <a:pt x="565669" y="77601"/>
                  <a:pt x="552470" y="102223"/>
                </a:cubicBezTo>
                <a:cubicBezTo>
                  <a:pt x="551023" y="104503"/>
                  <a:pt x="551176" y="107419"/>
                  <a:pt x="552843" y="109545"/>
                </a:cubicBezTo>
                <a:cubicBezTo>
                  <a:pt x="552996" y="111124"/>
                  <a:pt x="553654" y="112615"/>
                  <a:pt x="554728" y="113799"/>
                </a:cubicBezTo>
                <a:cubicBezTo>
                  <a:pt x="574416" y="135921"/>
                  <a:pt x="597985" y="154271"/>
                  <a:pt x="624273" y="167908"/>
                </a:cubicBezTo>
                <a:cubicBezTo>
                  <a:pt x="632429" y="172162"/>
                  <a:pt x="639401" y="158700"/>
                  <a:pt x="631025" y="154315"/>
                </a:cubicBezTo>
                <a:cubicBezTo>
                  <a:pt x="609956" y="143265"/>
                  <a:pt x="590728" y="129014"/>
                  <a:pt x="574021" y="112067"/>
                </a:cubicBezTo>
                <a:cubicBezTo>
                  <a:pt x="1426426" y="15774"/>
                  <a:pt x="2294047" y="-40901"/>
                  <a:pt x="3145004" y="97048"/>
                </a:cubicBezTo>
                <a:cubicBezTo>
                  <a:pt x="3209331" y="107550"/>
                  <a:pt x="3269536" y="123884"/>
                  <a:pt x="3319414" y="167886"/>
                </a:cubicBezTo>
                <a:cubicBezTo>
                  <a:pt x="3474552" y="310265"/>
                  <a:pt x="3450632" y="540604"/>
                  <a:pt x="3463897" y="732531"/>
                </a:cubicBezTo>
                <a:cubicBezTo>
                  <a:pt x="3470474" y="878856"/>
                  <a:pt x="3477052" y="1001085"/>
                  <a:pt x="3483783" y="1147410"/>
                </a:cubicBezTo>
                <a:cubicBezTo>
                  <a:pt x="3501191" y="1385138"/>
                  <a:pt x="3525965" y="1744218"/>
                  <a:pt x="3230532" y="1813916"/>
                </a:cubicBezTo>
                <a:cubicBezTo>
                  <a:pt x="3161470" y="1826939"/>
                  <a:pt x="3088899" y="1823212"/>
                  <a:pt x="3018938" y="1824396"/>
                </a:cubicBezTo>
                <a:cubicBezTo>
                  <a:pt x="2066294" y="1838384"/>
                  <a:pt x="1110998" y="1858664"/>
                  <a:pt x="159779" y="1795412"/>
                </a:cubicBezTo>
                <a:cubicBezTo>
                  <a:pt x="96198" y="1786642"/>
                  <a:pt x="52897" y="1750883"/>
                  <a:pt x="37988" y="1686381"/>
                </a:cubicBezTo>
                <a:cubicBezTo>
                  <a:pt x="23014" y="1627185"/>
                  <a:pt x="28429" y="1563604"/>
                  <a:pt x="29218" y="1503201"/>
                </a:cubicBezTo>
                <a:cubicBezTo>
                  <a:pt x="32288" y="1285666"/>
                  <a:pt x="37769" y="1068196"/>
                  <a:pt x="45640" y="850771"/>
                </a:cubicBezTo>
                <a:cubicBezTo>
                  <a:pt x="67279" y="849039"/>
                  <a:pt x="84052" y="831170"/>
                  <a:pt x="84403" y="809465"/>
                </a:cubicBezTo>
                <a:cubicBezTo>
                  <a:pt x="84775" y="785085"/>
                  <a:pt x="61119" y="766449"/>
                  <a:pt x="37528" y="771382"/>
                </a:cubicBezTo>
                <a:cubicBezTo>
                  <a:pt x="-10202" y="773070"/>
                  <a:pt x="-12460" y="837024"/>
                  <a:pt x="31082" y="849280"/>
                </a:cubicBezTo>
                <a:cubicBezTo>
                  <a:pt x="22860" y="1075914"/>
                  <a:pt x="17248" y="1302614"/>
                  <a:pt x="14222" y="1529401"/>
                </a:cubicBezTo>
                <a:cubicBezTo>
                  <a:pt x="6724" y="1697563"/>
                  <a:pt x="25184" y="1816372"/>
                  <a:pt x="222900" y="1815955"/>
                </a:cubicBezTo>
                <a:cubicBezTo>
                  <a:pt x="1165853" y="1869451"/>
                  <a:pt x="2110823" y="1854630"/>
                  <a:pt x="3054653" y="1838559"/>
                </a:cubicBezTo>
                <a:cubicBezTo>
                  <a:pt x="3124352" y="1837376"/>
                  <a:pt x="3196834" y="1840752"/>
                  <a:pt x="3264427" y="1820822"/>
                </a:cubicBezTo>
                <a:cubicBezTo>
                  <a:pt x="3445173" y="1765222"/>
                  <a:pt x="3508426" y="1558539"/>
                  <a:pt x="3506606" y="1387089"/>
                </a:cubicBezTo>
                <a:cubicBezTo>
                  <a:pt x="3507527" y="1313642"/>
                  <a:pt x="3502637" y="1239910"/>
                  <a:pt x="3499305" y="1166353"/>
                </a:cubicBezTo>
                <a:close/>
                <a:moveTo>
                  <a:pt x="14683" y="811175"/>
                </a:moveTo>
                <a:cubicBezTo>
                  <a:pt x="12863" y="794424"/>
                  <a:pt x="28933" y="781270"/>
                  <a:pt x="44807" y="788066"/>
                </a:cubicBezTo>
                <a:cubicBezTo>
                  <a:pt x="47241" y="789162"/>
                  <a:pt x="50112" y="788768"/>
                  <a:pt x="52152" y="787036"/>
                </a:cubicBezTo>
                <a:cubicBezTo>
                  <a:pt x="78987" y="795301"/>
                  <a:pt x="73002" y="833713"/>
                  <a:pt x="45815" y="836191"/>
                </a:cubicBezTo>
                <a:cubicBezTo>
                  <a:pt x="30424" y="837594"/>
                  <a:pt x="16656" y="826588"/>
                  <a:pt x="14683" y="811241"/>
                </a:cubicBezTo>
                <a:close/>
              </a:path>
            </a:pathLst>
          </a:custGeom>
          <a:solidFill>
            <a:srgbClr val="2b3547"/>
          </a:solidFill>
          <a:ln w="0">
            <a:noFill/>
          </a:ln>
        </p:spPr>
        <p:style>
          <a:lnRef idx="0"/>
          <a:fillRef idx="0"/>
          <a:effectRef idx="0"/>
          <a:fontRef idx="minor"/>
        </p:style>
      </p:sp>
      <p:sp>
        <p:nvSpPr>
          <p:cNvPr id="2" name="Google Shape;12;p2"/>
          <p:cNvSpPr/>
          <p:nvPr/>
        </p:nvSpPr>
        <p:spPr>
          <a:xfrm>
            <a:off x="7459920" y="542160"/>
            <a:ext cx="813240" cy="1021320"/>
          </a:xfrm>
          <a:custGeom>
            <a:avLst/>
            <a:gdLst/>
            <a:ahLst/>
            <a:rect l="l" t="t" r="r" b="b"/>
            <a:pathLst>
              <a:path w="385904" h="484587">
                <a:moveTo>
                  <a:pt x="316148" y="219239"/>
                </a:moveTo>
                <a:cubicBezTo>
                  <a:pt x="261491" y="116194"/>
                  <a:pt x="157744" y="32311"/>
                  <a:pt x="38101" y="26786"/>
                </a:cubicBezTo>
                <a:cubicBezTo>
                  <a:pt x="47463" y="22510"/>
                  <a:pt x="56935" y="18432"/>
                  <a:pt x="66471" y="14530"/>
                </a:cubicBezTo>
                <a:cubicBezTo>
                  <a:pt x="75241" y="10978"/>
                  <a:pt x="71273" y="-3010"/>
                  <a:pt x="62086" y="586"/>
                </a:cubicBezTo>
                <a:cubicBezTo>
                  <a:pt x="42552" y="8566"/>
                  <a:pt x="23390" y="17336"/>
                  <a:pt x="4578" y="26895"/>
                </a:cubicBezTo>
                <a:cubicBezTo>
                  <a:pt x="-2854" y="30645"/>
                  <a:pt x="-508" y="42440"/>
                  <a:pt x="6398" y="41585"/>
                </a:cubicBezTo>
                <a:cubicBezTo>
                  <a:pt x="7473" y="41870"/>
                  <a:pt x="8591" y="41957"/>
                  <a:pt x="9709" y="41826"/>
                </a:cubicBezTo>
                <a:cubicBezTo>
                  <a:pt x="22162" y="48710"/>
                  <a:pt x="33190" y="57875"/>
                  <a:pt x="42267" y="68837"/>
                </a:cubicBezTo>
                <a:cubicBezTo>
                  <a:pt x="48231" y="76094"/>
                  <a:pt x="60618" y="67368"/>
                  <a:pt x="54786" y="60265"/>
                </a:cubicBezTo>
                <a:cubicBezTo>
                  <a:pt x="49217" y="53468"/>
                  <a:pt x="42990" y="47241"/>
                  <a:pt x="36216" y="41650"/>
                </a:cubicBezTo>
                <a:cubicBezTo>
                  <a:pt x="257544" y="58730"/>
                  <a:pt x="357411" y="281133"/>
                  <a:pt x="371135" y="478147"/>
                </a:cubicBezTo>
                <a:cubicBezTo>
                  <a:pt x="372034" y="487859"/>
                  <a:pt x="386723" y="485952"/>
                  <a:pt x="385869" y="476678"/>
                </a:cubicBezTo>
                <a:cubicBezTo>
                  <a:pt x="377756" y="387730"/>
                  <a:pt x="358704" y="298409"/>
                  <a:pt x="316148" y="219239"/>
                </a:cubicBezTo>
                <a:close/>
              </a:path>
            </a:pathLst>
          </a:custGeom>
          <a:solidFill>
            <a:srgbClr val="2b3547"/>
          </a:solidFill>
          <a:ln w="0">
            <a:noFill/>
          </a:ln>
        </p:spPr>
        <p:style>
          <a:lnRef idx="0"/>
          <a:fillRef idx="0"/>
          <a:effectRef idx="0"/>
          <a:fontRef idx="minor"/>
        </p:style>
      </p:sp>
      <p:sp>
        <p:nvSpPr>
          <p:cNvPr id="3" name="Google Shape;13;p2"/>
          <p:cNvSpPr/>
          <p:nvPr/>
        </p:nvSpPr>
        <p:spPr>
          <a:xfrm>
            <a:off x="8121600" y="820800"/>
            <a:ext cx="184680" cy="334440"/>
          </a:xfrm>
          <a:custGeom>
            <a:avLst/>
            <a:gdLst/>
            <a:ahLst/>
            <a:rect l="l" t="t" r="r" b="b"/>
            <a:pathLst>
              <a:path w="88019" h="159157">
                <a:moveTo>
                  <a:pt x="87774" y="149186"/>
                </a:moveTo>
                <a:cubicBezTo>
                  <a:pt x="74290" y="95537"/>
                  <a:pt x="49098" y="45526"/>
                  <a:pt x="14041" y="2730"/>
                </a:cubicBezTo>
                <a:cubicBezTo>
                  <a:pt x="8078" y="-4527"/>
                  <a:pt x="-4309" y="4199"/>
                  <a:pt x="1522" y="11302"/>
                </a:cubicBezTo>
                <a:cubicBezTo>
                  <a:pt x="35835" y="53069"/>
                  <a:pt x="60478" y="101916"/>
                  <a:pt x="73676" y="154338"/>
                </a:cubicBezTo>
                <a:cubicBezTo>
                  <a:pt x="76044" y="163678"/>
                  <a:pt x="90032" y="158065"/>
                  <a:pt x="87774" y="149186"/>
                </a:cubicBezTo>
                <a:close/>
              </a:path>
            </a:pathLst>
          </a:custGeom>
          <a:solidFill>
            <a:srgbClr val="2b3547"/>
          </a:solidFill>
          <a:ln w="0">
            <a:noFill/>
          </a:ln>
        </p:spPr>
        <p:style>
          <a:lnRef idx="0"/>
          <a:fillRef idx="0"/>
          <a:effectRef idx="0"/>
          <a:fontRef idx="minor"/>
        </p:style>
      </p:sp>
      <p:sp>
        <p:nvSpPr>
          <p:cNvPr id="4" name="Google Shape;14;p2"/>
          <p:cNvSpPr/>
          <p:nvPr/>
        </p:nvSpPr>
        <p:spPr>
          <a:xfrm>
            <a:off x="2947680" y="505080"/>
            <a:ext cx="830160" cy="95040"/>
          </a:xfrm>
          <a:custGeom>
            <a:avLst/>
            <a:gdLst/>
            <a:ahLst/>
            <a:rect l="l" t="t" r="r" b="b"/>
            <a:pathLst>
              <a:path w="393896" h="45566">
                <a:moveTo>
                  <a:pt x="386461" y="1"/>
                </a:moveTo>
                <a:cubicBezTo>
                  <a:pt x="259364" y="2172"/>
                  <a:pt x="132531" y="12432"/>
                  <a:pt x="6750" y="30696"/>
                </a:cubicBezTo>
                <a:cubicBezTo>
                  <a:pt x="-2393" y="32011"/>
                  <a:pt x="-2305" y="46876"/>
                  <a:pt x="7364" y="45473"/>
                </a:cubicBezTo>
                <a:cubicBezTo>
                  <a:pt x="133145" y="27210"/>
                  <a:pt x="259978" y="16949"/>
                  <a:pt x="387053" y="14778"/>
                </a:cubicBezTo>
                <a:cubicBezTo>
                  <a:pt x="396349" y="14647"/>
                  <a:pt x="396196" y="-152"/>
                  <a:pt x="386461" y="1"/>
                </a:cubicBezTo>
                <a:close/>
              </a:path>
            </a:pathLst>
          </a:custGeom>
          <a:solidFill>
            <a:srgbClr val="2b3547"/>
          </a:solidFill>
          <a:ln w="0">
            <a:noFill/>
          </a:ln>
        </p:spPr>
        <p:style>
          <a:lnRef idx="0"/>
          <a:fillRef idx="0"/>
          <a:effectRef idx="0"/>
          <a:fontRef idx="minor"/>
        </p:style>
      </p:sp>
      <p:sp>
        <p:nvSpPr>
          <p:cNvPr id="5" name="Google Shape;15;p2"/>
          <p:cNvSpPr/>
          <p:nvPr/>
        </p:nvSpPr>
        <p:spPr>
          <a:xfrm>
            <a:off x="3867840" y="487080"/>
            <a:ext cx="277200" cy="42120"/>
          </a:xfrm>
          <a:custGeom>
            <a:avLst/>
            <a:gdLst/>
            <a:ahLst/>
            <a:rect l="l" t="t" r="r" b="b"/>
            <a:pathLst>
              <a:path w="131926" h="20426">
                <a:moveTo>
                  <a:pt x="124504" y="198"/>
                </a:moveTo>
                <a:cubicBezTo>
                  <a:pt x="85193" y="-635"/>
                  <a:pt x="45860" y="1163"/>
                  <a:pt x="6791" y="5570"/>
                </a:cubicBezTo>
                <a:cubicBezTo>
                  <a:pt x="-2417" y="6622"/>
                  <a:pt x="-2308" y="21465"/>
                  <a:pt x="7405" y="20369"/>
                </a:cubicBezTo>
                <a:cubicBezTo>
                  <a:pt x="46474" y="15962"/>
                  <a:pt x="85807" y="14164"/>
                  <a:pt x="125118" y="14997"/>
                </a:cubicBezTo>
                <a:cubicBezTo>
                  <a:pt x="134392" y="15194"/>
                  <a:pt x="134195" y="417"/>
                  <a:pt x="124504" y="198"/>
                </a:cubicBezTo>
                <a:close/>
              </a:path>
            </a:pathLst>
          </a:custGeom>
          <a:solidFill>
            <a:srgbClr val="2b3547"/>
          </a:solidFill>
          <a:ln w="0">
            <a:noFill/>
          </a:ln>
        </p:spPr>
        <p:style>
          <a:lnRef idx="0"/>
          <a:fillRef idx="0"/>
          <a:effectRef idx="0"/>
          <a:fontRef idx="minor"/>
        </p:style>
      </p:sp>
      <p:sp>
        <p:nvSpPr>
          <p:cNvPr id="6" name="Google Shape;16;p2"/>
          <p:cNvSpPr/>
          <p:nvPr/>
        </p:nvSpPr>
        <p:spPr>
          <a:xfrm>
            <a:off x="3549240" y="4514400"/>
            <a:ext cx="879480" cy="46080"/>
          </a:xfrm>
          <a:custGeom>
            <a:avLst/>
            <a:gdLst/>
            <a:ahLst/>
            <a:rect l="l" t="t" r="r" b="b"/>
            <a:pathLst>
              <a:path w="417355" h="22406">
                <a:moveTo>
                  <a:pt x="409929" y="3189"/>
                </a:moveTo>
                <a:lnTo>
                  <a:pt x="209122" y="5951"/>
                </a:lnTo>
                <a:cubicBezTo>
                  <a:pt x="142580" y="6872"/>
                  <a:pt x="74658" y="11476"/>
                  <a:pt x="8775" y="119"/>
                </a:cubicBezTo>
                <a:cubicBezTo>
                  <a:pt x="-302" y="-1459"/>
                  <a:pt x="-3897" y="13142"/>
                  <a:pt x="5618" y="14787"/>
                </a:cubicBezTo>
                <a:cubicBezTo>
                  <a:pt x="71391" y="26122"/>
                  <a:pt x="139029" y="21715"/>
                  <a:pt x="205351" y="20794"/>
                </a:cubicBezTo>
                <a:lnTo>
                  <a:pt x="410521" y="17966"/>
                </a:lnTo>
                <a:cubicBezTo>
                  <a:pt x="419817" y="17747"/>
                  <a:pt x="419641" y="2969"/>
                  <a:pt x="409929" y="3189"/>
                </a:cubicBezTo>
                <a:close/>
              </a:path>
            </a:pathLst>
          </a:custGeom>
          <a:solidFill>
            <a:srgbClr val="2b3547"/>
          </a:solidFill>
          <a:ln w="0">
            <a:noFill/>
          </a:ln>
        </p:spPr>
        <p:style>
          <a:lnRef idx="0"/>
          <a:fillRef idx="0"/>
          <a:effectRef idx="0"/>
          <a:fontRef idx="minor"/>
        </p:style>
      </p:sp>
      <p:sp>
        <p:nvSpPr>
          <p:cNvPr id="7" name="Google Shape;17;p2"/>
          <p:cNvSpPr/>
          <p:nvPr/>
        </p:nvSpPr>
        <p:spPr>
          <a:xfrm>
            <a:off x="3925080" y="4620600"/>
            <a:ext cx="284400" cy="34200"/>
          </a:xfrm>
          <a:custGeom>
            <a:avLst/>
            <a:gdLst/>
            <a:ahLst/>
            <a:rect l="l" t="t" r="r" b="b"/>
            <a:pathLst>
              <a:path w="135256" h="16655">
                <a:moveTo>
                  <a:pt x="129610" y="810"/>
                </a:moveTo>
                <a:cubicBezTo>
                  <a:pt x="88677" y="-549"/>
                  <a:pt x="47766" y="-198"/>
                  <a:pt x="6832" y="1863"/>
                </a:cubicBezTo>
                <a:cubicBezTo>
                  <a:pt x="-2442" y="2345"/>
                  <a:pt x="-2310" y="17210"/>
                  <a:pt x="7446" y="16640"/>
                </a:cubicBezTo>
                <a:cubicBezTo>
                  <a:pt x="47130" y="14601"/>
                  <a:pt x="86835" y="14228"/>
                  <a:pt x="126562" y="15478"/>
                </a:cubicBezTo>
                <a:cubicBezTo>
                  <a:pt x="135507" y="15785"/>
                  <a:pt x="139191" y="1117"/>
                  <a:pt x="129610" y="810"/>
                </a:cubicBezTo>
                <a:close/>
              </a:path>
            </a:pathLst>
          </a:custGeom>
          <a:solidFill>
            <a:srgbClr val="2b3547"/>
          </a:solidFill>
          <a:ln w="0">
            <a:noFill/>
          </a:ln>
        </p:spPr>
        <p:style>
          <a:lnRef idx="0"/>
          <a:fillRef idx="0"/>
          <a:effectRef idx="0"/>
          <a:fontRef idx="minor"/>
        </p:style>
      </p:sp>
      <p:sp>
        <p:nvSpPr>
          <p:cNvPr id="8" name="Google Shape;19;p2"/>
          <p:cNvSpPr/>
          <p:nvPr/>
        </p:nvSpPr>
        <p:spPr>
          <a:xfrm rot="20728200">
            <a:off x="593280" y="662400"/>
            <a:ext cx="1233720" cy="1389600"/>
          </a:xfrm>
          <a:custGeom>
            <a:avLst/>
            <a:gdLst/>
            <a:ahLst/>
            <a:rect l="l" t="t" r="r" b="b"/>
            <a:pathLst>
              <a:path w="584559" h="658270">
                <a:moveTo>
                  <a:pt x="400656" y="592594"/>
                </a:moveTo>
                <a:cubicBezTo>
                  <a:pt x="398705" y="592697"/>
                  <a:pt x="396842" y="593473"/>
                  <a:pt x="395395" y="594786"/>
                </a:cubicBezTo>
                <a:cubicBezTo>
                  <a:pt x="372790" y="614869"/>
                  <a:pt x="326968" y="608292"/>
                  <a:pt x="296493" y="605310"/>
                </a:cubicBezTo>
                <a:cubicBezTo>
                  <a:pt x="253302" y="602043"/>
                  <a:pt x="220963" y="596014"/>
                  <a:pt x="191671" y="585731"/>
                </a:cubicBezTo>
                <a:cubicBezTo>
                  <a:pt x="185292" y="583232"/>
                  <a:pt x="178517" y="589173"/>
                  <a:pt x="177552" y="595027"/>
                </a:cubicBezTo>
                <a:cubicBezTo>
                  <a:pt x="176719" y="598472"/>
                  <a:pt x="178846" y="601934"/>
                  <a:pt x="182288" y="602767"/>
                </a:cubicBezTo>
                <a:cubicBezTo>
                  <a:pt x="218069" y="615921"/>
                  <a:pt x="265294" y="622893"/>
                  <a:pt x="316028" y="625524"/>
                </a:cubicBezTo>
                <a:cubicBezTo>
                  <a:pt x="346152" y="628462"/>
                  <a:pt x="384498" y="628528"/>
                  <a:pt x="404515" y="610440"/>
                </a:cubicBezTo>
                <a:cubicBezTo>
                  <a:pt x="412320" y="604038"/>
                  <a:pt x="407585" y="592901"/>
                  <a:pt x="400656" y="592594"/>
                </a:cubicBezTo>
                <a:close/>
                <a:moveTo>
                  <a:pt x="310547" y="639710"/>
                </a:moveTo>
                <a:lnTo>
                  <a:pt x="268429" y="637692"/>
                </a:lnTo>
                <a:cubicBezTo>
                  <a:pt x="263694" y="637495"/>
                  <a:pt x="258191" y="639490"/>
                  <a:pt x="256788" y="645673"/>
                </a:cubicBezTo>
                <a:cubicBezTo>
                  <a:pt x="256042" y="649839"/>
                  <a:pt x="258191" y="655671"/>
                  <a:pt x="263365" y="656241"/>
                </a:cubicBezTo>
                <a:lnTo>
                  <a:pt x="305460" y="658258"/>
                </a:lnTo>
                <a:cubicBezTo>
                  <a:pt x="310218" y="658455"/>
                  <a:pt x="315699" y="656460"/>
                  <a:pt x="317124" y="650277"/>
                </a:cubicBezTo>
                <a:cubicBezTo>
                  <a:pt x="317847" y="646111"/>
                  <a:pt x="315699" y="640258"/>
                  <a:pt x="310547" y="639710"/>
                </a:cubicBezTo>
                <a:close/>
                <a:moveTo>
                  <a:pt x="85075" y="404459"/>
                </a:moveTo>
                <a:cubicBezTo>
                  <a:pt x="50631" y="383609"/>
                  <a:pt x="26799" y="349648"/>
                  <a:pt x="17985" y="308824"/>
                </a:cubicBezTo>
                <a:cubicBezTo>
                  <a:pt x="14894" y="296437"/>
                  <a:pt x="-2448" y="306303"/>
                  <a:pt x="292" y="316257"/>
                </a:cubicBezTo>
                <a:cubicBezTo>
                  <a:pt x="9829" y="360347"/>
                  <a:pt x="37038" y="397925"/>
                  <a:pt x="77028" y="422064"/>
                </a:cubicBezTo>
                <a:cubicBezTo>
                  <a:pt x="82224" y="425572"/>
                  <a:pt x="87991" y="421034"/>
                  <a:pt x="89262" y="415641"/>
                </a:cubicBezTo>
                <a:cubicBezTo>
                  <a:pt x="90643" y="411394"/>
                  <a:pt x="88911" y="406755"/>
                  <a:pt x="85075" y="404459"/>
                </a:cubicBezTo>
                <a:close/>
                <a:moveTo>
                  <a:pt x="329906" y="581522"/>
                </a:moveTo>
                <a:cubicBezTo>
                  <a:pt x="357816" y="581522"/>
                  <a:pt x="380332" y="577751"/>
                  <a:pt x="400656" y="569661"/>
                </a:cubicBezTo>
                <a:cubicBezTo>
                  <a:pt x="405261" y="567896"/>
                  <a:pt x="407870" y="563002"/>
                  <a:pt x="406752" y="558194"/>
                </a:cubicBezTo>
                <a:cubicBezTo>
                  <a:pt x="406357" y="554364"/>
                  <a:pt x="403243" y="551382"/>
                  <a:pt x="399407" y="551134"/>
                </a:cubicBezTo>
                <a:cubicBezTo>
                  <a:pt x="398135" y="551161"/>
                  <a:pt x="396885" y="551428"/>
                  <a:pt x="395701" y="551924"/>
                </a:cubicBezTo>
                <a:cubicBezTo>
                  <a:pt x="365511" y="565078"/>
                  <a:pt x="319887" y="564201"/>
                  <a:pt x="285399" y="560123"/>
                </a:cubicBezTo>
                <a:cubicBezTo>
                  <a:pt x="250079" y="556857"/>
                  <a:pt x="213553" y="549337"/>
                  <a:pt x="177004" y="540545"/>
                </a:cubicBezTo>
                <a:cubicBezTo>
                  <a:pt x="172137" y="540545"/>
                  <a:pt x="169352" y="544930"/>
                  <a:pt x="168826" y="549095"/>
                </a:cubicBezTo>
                <a:cubicBezTo>
                  <a:pt x="167884" y="553862"/>
                  <a:pt x="170887" y="558516"/>
                  <a:pt x="175623" y="559619"/>
                </a:cubicBezTo>
                <a:cubicBezTo>
                  <a:pt x="226663" y="572796"/>
                  <a:pt x="279633" y="581061"/>
                  <a:pt x="329906" y="581522"/>
                </a:cubicBezTo>
                <a:close/>
                <a:moveTo>
                  <a:pt x="216951" y="106307"/>
                </a:moveTo>
                <a:cubicBezTo>
                  <a:pt x="171238" y="119725"/>
                  <a:pt x="136444" y="158926"/>
                  <a:pt x="123991" y="204968"/>
                </a:cubicBezTo>
                <a:cubicBezTo>
                  <a:pt x="122237" y="210887"/>
                  <a:pt x="126183" y="214877"/>
                  <a:pt x="132081" y="214899"/>
                </a:cubicBezTo>
                <a:cubicBezTo>
                  <a:pt x="136860" y="215086"/>
                  <a:pt x="141114" y="211902"/>
                  <a:pt x="142276" y="207270"/>
                </a:cubicBezTo>
                <a:cubicBezTo>
                  <a:pt x="152602" y="168886"/>
                  <a:pt x="181104" y="138014"/>
                  <a:pt x="218551" y="124658"/>
                </a:cubicBezTo>
                <a:cubicBezTo>
                  <a:pt x="228198" y="121216"/>
                  <a:pt x="226334" y="106811"/>
                  <a:pt x="216951" y="106307"/>
                </a:cubicBezTo>
                <a:close/>
                <a:moveTo>
                  <a:pt x="259660" y="91574"/>
                </a:moveTo>
                <a:cubicBezTo>
                  <a:pt x="248325" y="91574"/>
                  <a:pt x="248127" y="110232"/>
                  <a:pt x="260690" y="110297"/>
                </a:cubicBezTo>
                <a:cubicBezTo>
                  <a:pt x="272025" y="110407"/>
                  <a:pt x="272201" y="91640"/>
                  <a:pt x="259660" y="91574"/>
                </a:cubicBezTo>
                <a:close/>
                <a:moveTo>
                  <a:pt x="557483" y="48689"/>
                </a:moveTo>
                <a:cubicBezTo>
                  <a:pt x="551256" y="39700"/>
                  <a:pt x="533760" y="49939"/>
                  <a:pt x="541193" y="59235"/>
                </a:cubicBezTo>
                <a:cubicBezTo>
                  <a:pt x="556321" y="77557"/>
                  <a:pt x="565003" y="100330"/>
                  <a:pt x="565946" y="124066"/>
                </a:cubicBezTo>
                <a:cubicBezTo>
                  <a:pt x="565770" y="128275"/>
                  <a:pt x="569059" y="131825"/>
                  <a:pt x="573268" y="131992"/>
                </a:cubicBezTo>
                <a:cubicBezTo>
                  <a:pt x="573532" y="132003"/>
                  <a:pt x="573817" y="131998"/>
                  <a:pt x="574080" y="131981"/>
                </a:cubicBezTo>
                <a:cubicBezTo>
                  <a:pt x="579561" y="132272"/>
                  <a:pt x="584253" y="128058"/>
                  <a:pt x="584538" y="122569"/>
                </a:cubicBezTo>
                <a:cubicBezTo>
                  <a:pt x="584560" y="122323"/>
                  <a:pt x="584560" y="122075"/>
                  <a:pt x="584560" y="121830"/>
                </a:cubicBezTo>
                <a:cubicBezTo>
                  <a:pt x="583639" y="95169"/>
                  <a:pt x="574146" y="69515"/>
                  <a:pt x="557483" y="48689"/>
                </a:cubicBezTo>
                <a:close/>
                <a:moveTo>
                  <a:pt x="403682" y="258"/>
                </a:moveTo>
                <a:cubicBezTo>
                  <a:pt x="392720" y="-2395"/>
                  <a:pt x="387765" y="16219"/>
                  <a:pt x="399780" y="18960"/>
                </a:cubicBezTo>
                <a:cubicBezTo>
                  <a:pt x="493595" y="37946"/>
                  <a:pt x="532160" y="149148"/>
                  <a:pt x="535120" y="227659"/>
                </a:cubicBezTo>
                <a:cubicBezTo>
                  <a:pt x="535076" y="232018"/>
                  <a:pt x="538562" y="235590"/>
                  <a:pt x="542925" y="235633"/>
                </a:cubicBezTo>
                <a:cubicBezTo>
                  <a:pt x="543122" y="235636"/>
                  <a:pt x="543320" y="235631"/>
                  <a:pt x="543517" y="235618"/>
                </a:cubicBezTo>
                <a:cubicBezTo>
                  <a:pt x="546499" y="235695"/>
                  <a:pt x="549371" y="234555"/>
                  <a:pt x="551497" y="232461"/>
                </a:cubicBezTo>
                <a:cubicBezTo>
                  <a:pt x="553208" y="230630"/>
                  <a:pt x="554062" y="228157"/>
                  <a:pt x="553822" y="225664"/>
                </a:cubicBezTo>
                <a:cubicBezTo>
                  <a:pt x="551629" y="188393"/>
                  <a:pt x="542859" y="133800"/>
                  <a:pt x="514993" y="85610"/>
                </a:cubicBezTo>
                <a:cubicBezTo>
                  <a:pt x="488442" y="39898"/>
                  <a:pt x="451017" y="11220"/>
                  <a:pt x="403682" y="258"/>
                </a:cubicBezTo>
                <a:close/>
                <a:moveTo>
                  <a:pt x="431548" y="75240"/>
                </a:moveTo>
                <a:cubicBezTo>
                  <a:pt x="312936" y="-26709"/>
                  <a:pt x="83934" y="43559"/>
                  <a:pt x="55323" y="204968"/>
                </a:cubicBezTo>
                <a:cubicBezTo>
                  <a:pt x="46553" y="255569"/>
                  <a:pt x="59708" y="304373"/>
                  <a:pt x="92134" y="342369"/>
                </a:cubicBezTo>
                <a:cubicBezTo>
                  <a:pt x="111406" y="364995"/>
                  <a:pt x="133352" y="384398"/>
                  <a:pt x="147757" y="411431"/>
                </a:cubicBezTo>
                <a:cubicBezTo>
                  <a:pt x="162161" y="438464"/>
                  <a:pt x="168498" y="469312"/>
                  <a:pt x="166524" y="502681"/>
                </a:cubicBezTo>
                <a:cubicBezTo>
                  <a:pt x="166480" y="503654"/>
                  <a:pt x="165998" y="504556"/>
                  <a:pt x="165209" y="505137"/>
                </a:cubicBezTo>
                <a:cubicBezTo>
                  <a:pt x="161986" y="507785"/>
                  <a:pt x="160495" y="512012"/>
                  <a:pt x="161350" y="516099"/>
                </a:cubicBezTo>
                <a:cubicBezTo>
                  <a:pt x="161964" y="519442"/>
                  <a:pt x="164573" y="522060"/>
                  <a:pt x="167928" y="522676"/>
                </a:cubicBezTo>
                <a:cubicBezTo>
                  <a:pt x="215043" y="533845"/>
                  <a:pt x="263124" y="540387"/>
                  <a:pt x="311511" y="542211"/>
                </a:cubicBezTo>
                <a:cubicBezTo>
                  <a:pt x="350011" y="543022"/>
                  <a:pt x="388510" y="548218"/>
                  <a:pt x="425651" y="525855"/>
                </a:cubicBezTo>
                <a:cubicBezTo>
                  <a:pt x="429180" y="523911"/>
                  <a:pt x="430847" y="519741"/>
                  <a:pt x="429619" y="515902"/>
                </a:cubicBezTo>
                <a:cubicBezTo>
                  <a:pt x="428610" y="511990"/>
                  <a:pt x="425190" y="509184"/>
                  <a:pt x="421156" y="508973"/>
                </a:cubicBezTo>
                <a:cubicBezTo>
                  <a:pt x="418656" y="508601"/>
                  <a:pt x="416004" y="511626"/>
                  <a:pt x="413526" y="510048"/>
                </a:cubicBezTo>
                <a:cubicBezTo>
                  <a:pt x="412518" y="509440"/>
                  <a:pt x="411926" y="508346"/>
                  <a:pt x="411948" y="507176"/>
                </a:cubicBezTo>
                <a:cubicBezTo>
                  <a:pt x="412452" y="477012"/>
                  <a:pt x="419906" y="447368"/>
                  <a:pt x="433719" y="420552"/>
                </a:cubicBezTo>
                <a:cubicBezTo>
                  <a:pt x="441458" y="405731"/>
                  <a:pt x="451697" y="392642"/>
                  <a:pt x="461607" y="379969"/>
                </a:cubicBezTo>
                <a:cubicBezTo>
                  <a:pt x="467856" y="371989"/>
                  <a:pt x="474323" y="363723"/>
                  <a:pt x="480045" y="355151"/>
                </a:cubicBezTo>
                <a:cubicBezTo>
                  <a:pt x="530231" y="279708"/>
                  <a:pt x="512033" y="136629"/>
                  <a:pt x="431548" y="75240"/>
                </a:cubicBezTo>
                <a:close/>
                <a:moveTo>
                  <a:pt x="334116" y="324171"/>
                </a:moveTo>
                <a:cubicBezTo>
                  <a:pt x="324644" y="390296"/>
                  <a:pt x="323548" y="458108"/>
                  <a:pt x="320961" y="523312"/>
                </a:cubicBezTo>
                <a:cubicBezTo>
                  <a:pt x="320303" y="523941"/>
                  <a:pt x="319404" y="524268"/>
                  <a:pt x="318483" y="524211"/>
                </a:cubicBezTo>
                <a:cubicBezTo>
                  <a:pt x="310788" y="523685"/>
                  <a:pt x="302873" y="523027"/>
                  <a:pt x="295419" y="522567"/>
                </a:cubicBezTo>
                <a:cubicBezTo>
                  <a:pt x="285224" y="521909"/>
                  <a:pt x="274832" y="520988"/>
                  <a:pt x="263694" y="519760"/>
                </a:cubicBezTo>
                <a:cubicBezTo>
                  <a:pt x="262006" y="519589"/>
                  <a:pt x="260734" y="518149"/>
                  <a:pt x="260756" y="516450"/>
                </a:cubicBezTo>
                <a:cubicBezTo>
                  <a:pt x="256108" y="449957"/>
                  <a:pt x="246001" y="383960"/>
                  <a:pt x="230522" y="319129"/>
                </a:cubicBezTo>
                <a:cubicBezTo>
                  <a:pt x="230127" y="317344"/>
                  <a:pt x="231245" y="315575"/>
                  <a:pt x="233021" y="315174"/>
                </a:cubicBezTo>
                <a:cubicBezTo>
                  <a:pt x="233263" y="315123"/>
                  <a:pt x="233482" y="315097"/>
                  <a:pt x="233723" y="315095"/>
                </a:cubicBezTo>
                <a:cubicBezTo>
                  <a:pt x="235170" y="315095"/>
                  <a:pt x="236639" y="315270"/>
                  <a:pt x="238108" y="315270"/>
                </a:cubicBezTo>
                <a:cubicBezTo>
                  <a:pt x="248654" y="315443"/>
                  <a:pt x="258914" y="311896"/>
                  <a:pt x="267114" y="305250"/>
                </a:cubicBezTo>
                <a:cubicBezTo>
                  <a:pt x="268342" y="304255"/>
                  <a:pt x="270074" y="304255"/>
                  <a:pt x="271302" y="305250"/>
                </a:cubicBezTo>
                <a:cubicBezTo>
                  <a:pt x="284128" y="315555"/>
                  <a:pt x="301338" y="320773"/>
                  <a:pt x="322452" y="320773"/>
                </a:cubicBezTo>
                <a:cubicBezTo>
                  <a:pt x="326003" y="321321"/>
                  <a:pt x="334291" y="318164"/>
                  <a:pt x="334116" y="324171"/>
                </a:cubicBezTo>
                <a:close/>
                <a:moveTo>
                  <a:pt x="269811" y="253245"/>
                </a:moveTo>
                <a:cubicBezTo>
                  <a:pt x="271214" y="252283"/>
                  <a:pt x="273100" y="252539"/>
                  <a:pt x="274196" y="253837"/>
                </a:cubicBezTo>
                <a:cubicBezTo>
                  <a:pt x="276783" y="256863"/>
                  <a:pt x="276892" y="261292"/>
                  <a:pt x="274481" y="266992"/>
                </a:cubicBezTo>
                <a:cubicBezTo>
                  <a:pt x="273779" y="268665"/>
                  <a:pt x="271850" y="269452"/>
                  <a:pt x="270183" y="268746"/>
                </a:cubicBezTo>
                <a:cubicBezTo>
                  <a:pt x="269504" y="268468"/>
                  <a:pt x="268956" y="267983"/>
                  <a:pt x="268605" y="267365"/>
                </a:cubicBezTo>
                <a:cubicBezTo>
                  <a:pt x="263694" y="259033"/>
                  <a:pt x="267268" y="254934"/>
                  <a:pt x="269811" y="253245"/>
                </a:cubicBezTo>
                <a:close/>
                <a:moveTo>
                  <a:pt x="478971" y="317945"/>
                </a:moveTo>
                <a:cubicBezTo>
                  <a:pt x="470201" y="344035"/>
                  <a:pt x="451127" y="362759"/>
                  <a:pt x="435539" y="384157"/>
                </a:cubicBezTo>
                <a:cubicBezTo>
                  <a:pt x="407300" y="422707"/>
                  <a:pt x="392523" y="469481"/>
                  <a:pt x="393487" y="517261"/>
                </a:cubicBezTo>
                <a:cubicBezTo>
                  <a:pt x="393750" y="518936"/>
                  <a:pt x="392698" y="520536"/>
                  <a:pt x="391054" y="520966"/>
                </a:cubicBezTo>
                <a:cubicBezTo>
                  <a:pt x="377241" y="524161"/>
                  <a:pt x="363100" y="525634"/>
                  <a:pt x="348937" y="525351"/>
                </a:cubicBezTo>
                <a:cubicBezTo>
                  <a:pt x="345473" y="525351"/>
                  <a:pt x="339641" y="526338"/>
                  <a:pt x="340561" y="520966"/>
                </a:cubicBezTo>
                <a:cubicBezTo>
                  <a:pt x="340145" y="453831"/>
                  <a:pt x="344332" y="386744"/>
                  <a:pt x="353102" y="320181"/>
                </a:cubicBezTo>
                <a:cubicBezTo>
                  <a:pt x="353431" y="315796"/>
                  <a:pt x="359942" y="316695"/>
                  <a:pt x="363056" y="315423"/>
                </a:cubicBezTo>
                <a:cubicBezTo>
                  <a:pt x="374566" y="312310"/>
                  <a:pt x="368669" y="297182"/>
                  <a:pt x="359855" y="297643"/>
                </a:cubicBezTo>
                <a:cubicBezTo>
                  <a:pt x="341175" y="301567"/>
                  <a:pt x="314603" y="306675"/>
                  <a:pt x="295068" y="297029"/>
                </a:cubicBezTo>
                <a:cubicBezTo>
                  <a:pt x="291100" y="295229"/>
                  <a:pt x="287372" y="292953"/>
                  <a:pt x="283952" y="290254"/>
                </a:cubicBezTo>
                <a:cubicBezTo>
                  <a:pt x="282593" y="289206"/>
                  <a:pt x="282286" y="287294"/>
                  <a:pt x="283228" y="285869"/>
                </a:cubicBezTo>
                <a:cubicBezTo>
                  <a:pt x="293402" y="269864"/>
                  <a:pt x="297633" y="254144"/>
                  <a:pt x="294586" y="243818"/>
                </a:cubicBezTo>
                <a:cubicBezTo>
                  <a:pt x="292393" y="235662"/>
                  <a:pt x="283623" y="229698"/>
                  <a:pt x="275029" y="229720"/>
                </a:cubicBezTo>
                <a:cubicBezTo>
                  <a:pt x="265733" y="229720"/>
                  <a:pt x="256590" y="235991"/>
                  <a:pt x="252249" y="245331"/>
                </a:cubicBezTo>
                <a:cubicBezTo>
                  <a:pt x="245672" y="259560"/>
                  <a:pt x="249859" y="276288"/>
                  <a:pt x="256020" y="287206"/>
                </a:cubicBezTo>
                <a:cubicBezTo>
                  <a:pt x="256810" y="288616"/>
                  <a:pt x="256459" y="290392"/>
                  <a:pt x="255187" y="291394"/>
                </a:cubicBezTo>
                <a:cubicBezTo>
                  <a:pt x="250539" y="294950"/>
                  <a:pt x="244817" y="296785"/>
                  <a:pt x="238963" y="296590"/>
                </a:cubicBezTo>
                <a:cubicBezTo>
                  <a:pt x="226707" y="296912"/>
                  <a:pt x="215723" y="289024"/>
                  <a:pt x="212127" y="277297"/>
                </a:cubicBezTo>
                <a:cubicBezTo>
                  <a:pt x="211491" y="273854"/>
                  <a:pt x="208444" y="271397"/>
                  <a:pt x="204936" y="271509"/>
                </a:cubicBezTo>
                <a:cubicBezTo>
                  <a:pt x="201341" y="271592"/>
                  <a:pt x="197986" y="273302"/>
                  <a:pt x="195815" y="276157"/>
                </a:cubicBezTo>
                <a:cubicBezTo>
                  <a:pt x="189764" y="284093"/>
                  <a:pt x="200858" y="298914"/>
                  <a:pt x="207458" y="304351"/>
                </a:cubicBezTo>
                <a:cubicBezTo>
                  <a:pt x="209277" y="305689"/>
                  <a:pt x="208268" y="308364"/>
                  <a:pt x="208860" y="310096"/>
                </a:cubicBezTo>
                <a:cubicBezTo>
                  <a:pt x="224471" y="376768"/>
                  <a:pt x="239270" y="447015"/>
                  <a:pt x="240717" y="515573"/>
                </a:cubicBezTo>
                <a:cubicBezTo>
                  <a:pt x="239993" y="516254"/>
                  <a:pt x="238985" y="516561"/>
                  <a:pt x="237998" y="516406"/>
                </a:cubicBezTo>
                <a:cubicBezTo>
                  <a:pt x="221051" y="513950"/>
                  <a:pt x="203971" y="510881"/>
                  <a:pt x="187243" y="507263"/>
                </a:cubicBezTo>
                <a:cubicBezTo>
                  <a:pt x="185445" y="506853"/>
                  <a:pt x="184327" y="505064"/>
                  <a:pt x="184743" y="503271"/>
                </a:cubicBezTo>
                <a:cubicBezTo>
                  <a:pt x="184743" y="503264"/>
                  <a:pt x="184743" y="503258"/>
                  <a:pt x="184743" y="503251"/>
                </a:cubicBezTo>
                <a:cubicBezTo>
                  <a:pt x="189128" y="453088"/>
                  <a:pt x="172027" y="403538"/>
                  <a:pt x="138351" y="364491"/>
                </a:cubicBezTo>
                <a:cubicBezTo>
                  <a:pt x="121272" y="344758"/>
                  <a:pt x="101847" y="327526"/>
                  <a:pt x="88583" y="304373"/>
                </a:cubicBezTo>
                <a:cubicBezTo>
                  <a:pt x="76480" y="282423"/>
                  <a:pt x="70473" y="257630"/>
                  <a:pt x="71174" y="232571"/>
                </a:cubicBezTo>
                <a:cubicBezTo>
                  <a:pt x="72928" y="120448"/>
                  <a:pt x="178451" y="56078"/>
                  <a:pt x="275073" y="47045"/>
                </a:cubicBezTo>
                <a:cubicBezTo>
                  <a:pt x="428588" y="33145"/>
                  <a:pt x="520649" y="175808"/>
                  <a:pt x="478971" y="317967"/>
                </a:cubicBezTo>
                <a:close/>
              </a:path>
            </a:pathLst>
          </a:custGeom>
          <a:solidFill>
            <a:srgbClr val="2b3547"/>
          </a:solidFill>
          <a:ln w="0">
            <a:noFill/>
          </a:ln>
        </p:spPr>
        <p:style>
          <a:lnRef idx="0"/>
          <a:fillRef idx="0"/>
          <a:effectRef idx="0"/>
          <a:fontRef idx="minor"/>
        </p:style>
      </p:sp>
      <p:sp>
        <p:nvSpPr>
          <p:cNvPr id="9" name="Google Shape;20;p2"/>
          <p:cNvSpPr/>
          <p:nvPr/>
        </p:nvSpPr>
        <p:spPr>
          <a:xfrm rot="16200000">
            <a:off x="545400" y="3238200"/>
            <a:ext cx="539280" cy="263160"/>
          </a:xfrm>
          <a:custGeom>
            <a:avLst/>
            <a:gdLst/>
            <a:ahLst/>
            <a:rect l="l" t="t" r="r" b="b"/>
            <a:pathLst>
              <a:path w="256043" h="125260">
                <a:moveTo>
                  <a:pt x="122835" y="3891"/>
                </a:moveTo>
                <a:cubicBezTo>
                  <a:pt x="106677" y="35258"/>
                  <a:pt x="90541" y="66632"/>
                  <a:pt x="74404" y="98013"/>
                </a:cubicBezTo>
                <a:cubicBezTo>
                  <a:pt x="67103" y="82972"/>
                  <a:pt x="59737" y="67939"/>
                  <a:pt x="52348" y="52914"/>
                </a:cubicBezTo>
                <a:cubicBezTo>
                  <a:pt x="49783" y="47630"/>
                  <a:pt x="41583" y="45218"/>
                  <a:pt x="38602" y="51708"/>
                </a:cubicBezTo>
                <a:cubicBezTo>
                  <a:pt x="30007" y="70416"/>
                  <a:pt x="17598" y="87110"/>
                  <a:pt x="2141" y="100709"/>
                </a:cubicBezTo>
                <a:cubicBezTo>
                  <a:pt x="-4787" y="106848"/>
                  <a:pt x="6723" y="116802"/>
                  <a:pt x="13629" y="110685"/>
                </a:cubicBezTo>
                <a:cubicBezTo>
                  <a:pt x="26258" y="99453"/>
                  <a:pt x="36979" y="86235"/>
                  <a:pt x="45354" y="71550"/>
                </a:cubicBezTo>
                <a:lnTo>
                  <a:pt x="67432" y="116670"/>
                </a:lnTo>
                <a:cubicBezTo>
                  <a:pt x="70107" y="122174"/>
                  <a:pt x="77978" y="124147"/>
                  <a:pt x="81179" y="117876"/>
                </a:cubicBezTo>
                <a:lnTo>
                  <a:pt x="128580" y="25793"/>
                </a:lnTo>
                <a:cubicBezTo>
                  <a:pt x="139147" y="55900"/>
                  <a:pt x="147259" y="86822"/>
                  <a:pt x="152784" y="118249"/>
                </a:cubicBezTo>
                <a:cubicBezTo>
                  <a:pt x="153969" y="125024"/>
                  <a:pt x="163462" y="128422"/>
                  <a:pt x="166970" y="121318"/>
                </a:cubicBezTo>
                <a:cubicBezTo>
                  <a:pt x="177515" y="99979"/>
                  <a:pt x="188039" y="78638"/>
                  <a:pt x="198585" y="57299"/>
                </a:cubicBezTo>
                <a:cubicBezTo>
                  <a:pt x="214107" y="75321"/>
                  <a:pt x="228819" y="94022"/>
                  <a:pt x="242434" y="113469"/>
                </a:cubicBezTo>
                <a:cubicBezTo>
                  <a:pt x="247959" y="121297"/>
                  <a:pt x="260259" y="113711"/>
                  <a:pt x="254580" y="105686"/>
                </a:cubicBezTo>
                <a:cubicBezTo>
                  <a:pt x="238509" y="82896"/>
                  <a:pt x="221145" y="61039"/>
                  <a:pt x="202575" y="40220"/>
                </a:cubicBezTo>
                <a:cubicBezTo>
                  <a:pt x="199023" y="36229"/>
                  <a:pt x="192512" y="35089"/>
                  <a:pt x="189705" y="40746"/>
                </a:cubicBezTo>
                <a:lnTo>
                  <a:pt x="163001" y="94899"/>
                </a:lnTo>
                <a:cubicBezTo>
                  <a:pt x="156468" y="64295"/>
                  <a:pt x="147566" y="34241"/>
                  <a:pt x="136407" y="5009"/>
                </a:cubicBezTo>
                <a:cubicBezTo>
                  <a:pt x="134324" y="-823"/>
                  <a:pt x="125861" y="-2029"/>
                  <a:pt x="122835" y="3891"/>
                </a:cubicBezTo>
                <a:close/>
              </a:path>
            </a:pathLst>
          </a:custGeom>
          <a:solidFill>
            <a:srgbClr val="2b3547"/>
          </a:solidFill>
          <a:ln w="0">
            <a:noFill/>
          </a:ln>
        </p:spPr>
        <p:style>
          <a:lnRef idx="0"/>
          <a:fillRef idx="0"/>
          <a:effectRef idx="0"/>
          <a:fontRef idx="minor"/>
        </p:style>
      </p:sp>
      <p:sp>
        <p:nvSpPr>
          <p:cNvPr id="10" name="Google Shape;21;p2"/>
          <p:cNvSpPr/>
          <p:nvPr/>
        </p:nvSpPr>
        <p:spPr>
          <a:xfrm rot="1735200">
            <a:off x="7949520" y="3937320"/>
            <a:ext cx="210600" cy="267120"/>
          </a:xfrm>
          <a:custGeom>
            <a:avLst/>
            <a:gdLst/>
            <a:ahLst/>
            <a:rect l="l" t="t" r="r" b="b"/>
            <a:pathLst>
              <a:path w="100280" h="126996">
                <a:moveTo>
                  <a:pt x="96357" y="74864"/>
                </a:moveTo>
                <a:cubicBezTo>
                  <a:pt x="82786" y="68484"/>
                  <a:pt x="69679" y="61157"/>
                  <a:pt x="57134" y="52940"/>
                </a:cubicBezTo>
                <a:cubicBezTo>
                  <a:pt x="68090" y="38401"/>
                  <a:pt x="80061" y="24657"/>
                  <a:pt x="92959" y="11809"/>
                </a:cubicBezTo>
                <a:cubicBezTo>
                  <a:pt x="99865" y="4925"/>
                  <a:pt x="88969" y="-4459"/>
                  <a:pt x="81997" y="2382"/>
                </a:cubicBezTo>
                <a:cubicBezTo>
                  <a:pt x="68721" y="15624"/>
                  <a:pt x="56406" y="29794"/>
                  <a:pt x="45141" y="44784"/>
                </a:cubicBezTo>
                <a:cubicBezTo>
                  <a:pt x="33594" y="36487"/>
                  <a:pt x="22607" y="27435"/>
                  <a:pt x="12255" y="17685"/>
                </a:cubicBezTo>
                <a:cubicBezTo>
                  <a:pt x="5480" y="11305"/>
                  <a:pt x="-4518" y="22793"/>
                  <a:pt x="2257" y="29173"/>
                </a:cubicBezTo>
                <a:cubicBezTo>
                  <a:pt x="12947" y="39230"/>
                  <a:pt x="24293" y="48568"/>
                  <a:pt x="36218" y="57127"/>
                </a:cubicBezTo>
                <a:cubicBezTo>
                  <a:pt x="23171" y="75947"/>
                  <a:pt x="11779" y="95863"/>
                  <a:pt x="2169" y="116652"/>
                </a:cubicBezTo>
                <a:cubicBezTo>
                  <a:pt x="-1953" y="125554"/>
                  <a:pt x="11246" y="131429"/>
                  <a:pt x="15324" y="122703"/>
                </a:cubicBezTo>
                <a:cubicBezTo>
                  <a:pt x="24609" y="102651"/>
                  <a:pt x="35613" y="83439"/>
                  <a:pt x="48211" y="65283"/>
                </a:cubicBezTo>
                <a:cubicBezTo>
                  <a:pt x="61447" y="73978"/>
                  <a:pt x="75279" y="81731"/>
                  <a:pt x="89604" y="88479"/>
                </a:cubicBezTo>
                <a:cubicBezTo>
                  <a:pt x="97936" y="92360"/>
                  <a:pt x="104951" y="78898"/>
                  <a:pt x="96357" y="74864"/>
                </a:cubicBezTo>
                <a:close/>
              </a:path>
            </a:pathLst>
          </a:custGeom>
          <a:solidFill>
            <a:srgbClr val="2b3547"/>
          </a:solidFill>
          <a:ln w="0">
            <a:noFill/>
          </a:ln>
        </p:spPr>
        <p:style>
          <a:lnRef idx="0"/>
          <a:fillRef idx="0"/>
          <a:effectRef idx="0"/>
          <a:fontRef idx="minor"/>
        </p:style>
      </p:sp>
      <p:sp>
        <p:nvSpPr>
          <p:cNvPr id="11" name="PlaceHolder 1"/>
          <p:cNvSpPr>
            <a:spLocks noGrp="1"/>
          </p:cNvSpPr>
          <p:nvPr>
            <p:ph type="title"/>
          </p:nvPr>
        </p:nvSpPr>
        <p:spPr>
          <a:xfrm>
            <a:off x="883080" y="568440"/>
            <a:ext cx="6425280" cy="624960"/>
          </a:xfrm>
          <a:prstGeom prst="rect">
            <a:avLst/>
          </a:prstGeom>
          <a:noFill/>
          <a:ln w="0">
            <a:noFill/>
          </a:ln>
        </p:spPr>
        <p:txBody>
          <a:bodyPr lIns="0" rIns="0" tIns="0" bIns="0" anchor="ctr">
            <a:noAutofit/>
          </a:bodyPr>
          <a:p>
            <a:r>
              <a:rPr b="0" lang="en-US" sz="1800" spc="-1" strike="noStrike">
                <a:latin typeface="Arial"/>
              </a:rPr>
              <a:t>Click </a:t>
            </a:r>
            <a:r>
              <a:rPr b="0" lang="en-US" sz="1800" spc="-1" strike="noStrike">
                <a:latin typeface="Arial"/>
              </a:rPr>
              <a:t>to </a:t>
            </a:r>
            <a:r>
              <a:rPr b="0" lang="en-US" sz="1800" spc="-1" strike="noStrike">
                <a:latin typeface="Arial"/>
              </a:rPr>
              <a:t>edit </a:t>
            </a:r>
            <a:r>
              <a:rPr b="0" lang="en-US" sz="1800" spc="-1" strike="noStrike">
                <a:latin typeface="Arial"/>
              </a:rPr>
              <a:t>the </a:t>
            </a:r>
            <a:r>
              <a:rPr b="0" lang="en-US" sz="1800" spc="-1" strike="noStrike">
                <a:latin typeface="Arial"/>
              </a:rPr>
              <a:t>title </a:t>
            </a:r>
            <a:r>
              <a:rPr b="0" lang="en-US" sz="1800" spc="-1" strike="noStrike">
                <a:latin typeface="Arial"/>
              </a:rPr>
              <a:t>text </a:t>
            </a:r>
            <a:r>
              <a:rPr b="0" lang="en-US" sz="1800" spc="-1" strike="noStrike">
                <a:latin typeface="Arial"/>
              </a:rPr>
              <a:t>form</a:t>
            </a:r>
            <a:r>
              <a:rPr b="0" lang="en-US" sz="1800" spc="-1" strike="noStrike">
                <a:latin typeface="Arial"/>
              </a:rPr>
              <a:t>at</a:t>
            </a:r>
            <a:endParaRPr b="0" lang="en-US" sz="1800" spc="-1" strike="noStrike">
              <a:latin typeface="Arial"/>
            </a:endParaRPr>
          </a:p>
        </p:txBody>
      </p:sp>
      <p:sp>
        <p:nvSpPr>
          <p:cNvPr id="12" name="PlaceHolder 2"/>
          <p:cNvSpPr>
            <a:spLocks noGrp="1"/>
          </p:cNvSpPr>
          <p:nvPr>
            <p:ph type="body"/>
          </p:nvPr>
        </p:nvSpPr>
        <p:spPr>
          <a:xfrm>
            <a:off x="1187640" y="1505880"/>
            <a:ext cx="6425280" cy="28393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latin typeface="Arial"/>
              </a:rPr>
              <a:t>Click to edit the outline text format</a:t>
            </a:r>
            <a:endParaRPr b="0" lang="en-US" sz="1800" spc="-1" strike="noStrike">
              <a:latin typeface="Arial"/>
            </a:endParaRPr>
          </a:p>
          <a:p>
            <a:pPr lvl="1" marL="864000" indent="-324000">
              <a:spcBef>
                <a:spcPts val="1134"/>
              </a:spcBef>
              <a:buClr>
                <a:srgbClr val="000000"/>
              </a:buClr>
              <a:buSzPct val="75000"/>
              <a:buFont typeface="Symbol" charset="2"/>
              <a:buChar char=""/>
            </a:pPr>
            <a:r>
              <a:rPr b="0" lang="en-US" sz="1800" spc="-1" strike="noStrike">
                <a:latin typeface="Arial"/>
              </a:rPr>
              <a:t>Second Outline Level</a:t>
            </a:r>
            <a:endParaRPr b="0" lang="en-US" sz="1800" spc="-1" strike="noStrike">
              <a:latin typeface="Arial"/>
            </a:endParaRPr>
          </a:p>
          <a:p>
            <a:pPr lvl="2" marL="1296000" indent="-288000">
              <a:spcBef>
                <a:spcPts val="850"/>
              </a:spcBef>
              <a:buClr>
                <a:srgbClr val="000000"/>
              </a:buClr>
              <a:buSzPct val="45000"/>
              <a:buFont typeface="Wingdings" charset="2"/>
              <a:buChar char=""/>
            </a:pPr>
            <a:r>
              <a:rPr b="0" lang="en-US" sz="1800" spc="-1" strike="noStrike">
                <a:latin typeface="Arial"/>
              </a:rPr>
              <a:t>Third Outline Level</a:t>
            </a:r>
            <a:endParaRPr b="0" lang="en-US" sz="1800" spc="-1" strike="noStrike">
              <a:latin typeface="Arial"/>
            </a:endParaRPr>
          </a:p>
          <a:p>
            <a:pPr lvl="3" marL="1728000" indent="-216000">
              <a:spcBef>
                <a:spcPts val="567"/>
              </a:spcBef>
              <a:buClr>
                <a:srgbClr val="000000"/>
              </a:buClr>
              <a:buSzPct val="75000"/>
              <a:buFont typeface="Symbol" charset="2"/>
              <a:buChar char=""/>
            </a:pPr>
            <a:r>
              <a:rPr b="0" lang="en-US" sz="1800" spc="-1" strike="noStrike">
                <a:latin typeface="Arial"/>
              </a:rPr>
              <a:t>Fourth Outline Level</a:t>
            </a:r>
            <a:endParaRPr b="0" lang="en-US" sz="1800" spc="-1" strike="noStrike">
              <a:latin typeface="Arial"/>
            </a:endParaRPr>
          </a:p>
          <a:p>
            <a:pPr lvl="4" marL="2160000" indent="-216000">
              <a:spcBef>
                <a:spcPts val="283"/>
              </a:spcBef>
              <a:buClr>
                <a:srgbClr val="000000"/>
              </a:buClr>
              <a:buSzPct val="45000"/>
              <a:buFont typeface="Wingdings" charset="2"/>
              <a:buChar char=""/>
            </a:pPr>
            <a:r>
              <a:rPr b="0" lang="en-US" sz="1800" spc="-1" strike="noStrike">
                <a:latin typeface="Arial"/>
              </a:rPr>
              <a:t>Fifth Outline Level</a:t>
            </a:r>
            <a:endParaRPr b="0" lang="en-US" sz="1800" spc="-1" strike="noStrike">
              <a:latin typeface="Arial"/>
            </a:endParaRPr>
          </a:p>
          <a:p>
            <a:pPr lvl="5" marL="2592000" indent="-216000">
              <a:spcBef>
                <a:spcPts val="283"/>
              </a:spcBef>
              <a:buClr>
                <a:srgbClr val="000000"/>
              </a:buClr>
              <a:buSzPct val="45000"/>
              <a:buFont typeface="Wingdings" charset="2"/>
              <a:buChar char=""/>
            </a:pPr>
            <a:r>
              <a:rPr b="0" lang="en-US" sz="1800" spc="-1" strike="noStrike">
                <a:latin typeface="Arial"/>
              </a:rPr>
              <a:t>Sixth Outline Level</a:t>
            </a:r>
            <a:endParaRPr b="0" lang="en-US" sz="1800" spc="-1" strike="noStrike">
              <a:latin typeface="Arial"/>
            </a:endParaRPr>
          </a:p>
          <a:p>
            <a:pPr lvl="6" marL="3024000" indent="-216000">
              <a:spcBef>
                <a:spcPts val="283"/>
              </a:spcBef>
              <a:buClr>
                <a:srgbClr val="000000"/>
              </a:buClr>
              <a:buSzPct val="45000"/>
              <a:buFont typeface="Wingdings" charset="2"/>
              <a:buChar char=""/>
            </a:pPr>
            <a:r>
              <a:rPr b="0" lang="en-US" sz="1800" spc="-1" strike="noStrike">
                <a:latin typeface="Arial"/>
              </a:rPr>
              <a:t>Seventh Outline Level</a:t>
            </a:r>
            <a:endParaRPr b="0" lang="en-US" sz="18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9" name="Google Shape;55;p5"/>
          <p:cNvSpPr/>
          <p:nvPr/>
        </p:nvSpPr>
        <p:spPr>
          <a:xfrm rot="20715600">
            <a:off x="7996680" y="3565080"/>
            <a:ext cx="911520" cy="927360"/>
          </a:xfrm>
          <a:custGeom>
            <a:avLst/>
            <a:gdLst/>
            <a:ahLst/>
            <a:rect l="l" t="t" r="r" b="b"/>
            <a:pathLst>
              <a:path w="549996" h="559316">
                <a:moveTo>
                  <a:pt x="536665" y="198722"/>
                </a:moveTo>
                <a:cubicBezTo>
                  <a:pt x="507988" y="55467"/>
                  <a:pt x="324589" y="-49573"/>
                  <a:pt x="179295" y="24291"/>
                </a:cubicBezTo>
                <a:cubicBezTo>
                  <a:pt x="17974" y="106420"/>
                  <a:pt x="-81169" y="375917"/>
                  <a:pt x="88111" y="512244"/>
                </a:cubicBezTo>
                <a:cubicBezTo>
                  <a:pt x="141168" y="554536"/>
                  <a:pt x="210888" y="558504"/>
                  <a:pt x="276092" y="557584"/>
                </a:cubicBezTo>
                <a:cubicBezTo>
                  <a:pt x="484178" y="579947"/>
                  <a:pt x="588999" y="381814"/>
                  <a:pt x="536665" y="198722"/>
                </a:cubicBezTo>
                <a:close/>
              </a:path>
            </a:pathLst>
          </a:custGeom>
          <a:solidFill>
            <a:srgbClr val="aee25a"/>
          </a:solidFill>
          <a:ln w="0">
            <a:noFill/>
          </a:ln>
        </p:spPr>
        <p:style>
          <a:lnRef idx="0"/>
          <a:fillRef idx="0"/>
          <a:effectRef idx="0"/>
          <a:fontRef idx="minor"/>
        </p:style>
      </p:sp>
      <p:sp>
        <p:nvSpPr>
          <p:cNvPr id="50" name="Google Shape;56;p5"/>
          <p:cNvSpPr/>
          <p:nvPr/>
        </p:nvSpPr>
        <p:spPr>
          <a:xfrm>
            <a:off x="642240" y="331560"/>
            <a:ext cx="6942240" cy="926640"/>
          </a:xfrm>
          <a:custGeom>
            <a:avLst/>
            <a:gdLst/>
            <a:ahLst/>
            <a:rect l="l" t="t" r="r" b="b"/>
            <a:pathLst>
              <a:path w="3290684" h="399035">
                <a:moveTo>
                  <a:pt x="3288221" y="146895"/>
                </a:moveTo>
                <a:cubicBezTo>
                  <a:pt x="3288879" y="83708"/>
                  <a:pt x="3268160" y="25739"/>
                  <a:pt x="3196488" y="21201"/>
                </a:cubicBezTo>
                <a:cubicBezTo>
                  <a:pt x="2907830" y="16005"/>
                  <a:pt x="2618711" y="18197"/>
                  <a:pt x="2329921" y="14777"/>
                </a:cubicBezTo>
                <a:cubicBezTo>
                  <a:pt x="1580495" y="9866"/>
                  <a:pt x="931222" y="0"/>
                  <a:pt x="181841" y="0"/>
                </a:cubicBezTo>
                <a:cubicBezTo>
                  <a:pt x="-44245" y="0"/>
                  <a:pt x="4866" y="162044"/>
                  <a:pt x="3813" y="206244"/>
                </a:cubicBezTo>
                <a:cubicBezTo>
                  <a:pt x="-6272" y="347395"/>
                  <a:pt x="64456" y="394927"/>
                  <a:pt x="198174" y="383395"/>
                </a:cubicBezTo>
                <a:lnTo>
                  <a:pt x="1064019" y="387780"/>
                </a:lnTo>
                <a:lnTo>
                  <a:pt x="2795708" y="396549"/>
                </a:lnTo>
                <a:cubicBezTo>
                  <a:pt x="2909277" y="397119"/>
                  <a:pt x="3023284" y="400671"/>
                  <a:pt x="3136832" y="398128"/>
                </a:cubicBezTo>
                <a:cubicBezTo>
                  <a:pt x="3275790" y="400627"/>
                  <a:pt x="3299512" y="257767"/>
                  <a:pt x="3288221" y="146895"/>
                </a:cubicBezTo>
                <a:close/>
              </a:path>
            </a:pathLst>
          </a:custGeom>
          <a:solidFill>
            <a:srgbClr val="aee25a"/>
          </a:solidFill>
          <a:ln w="0">
            <a:noFill/>
          </a:ln>
        </p:spPr>
        <p:style>
          <a:lnRef idx="0"/>
          <a:fillRef idx="0"/>
          <a:effectRef idx="0"/>
          <a:fontRef idx="minor"/>
        </p:style>
      </p:sp>
      <p:sp>
        <p:nvSpPr>
          <p:cNvPr id="51" name="Google Shape;57;p5"/>
          <p:cNvSpPr/>
          <p:nvPr/>
        </p:nvSpPr>
        <p:spPr>
          <a:xfrm>
            <a:off x="367920" y="421920"/>
            <a:ext cx="8378640" cy="4301640"/>
          </a:xfrm>
          <a:custGeom>
            <a:avLst/>
            <a:gdLst/>
            <a:ahLst/>
            <a:rect l="l" t="t" r="r" b="b"/>
            <a:pathLst>
              <a:path w="3971497" h="2039137">
                <a:moveTo>
                  <a:pt x="3947725" y="299512"/>
                </a:moveTo>
                <a:cubicBezTo>
                  <a:pt x="3924134" y="113307"/>
                  <a:pt x="3885284" y="33501"/>
                  <a:pt x="3686450" y="8902"/>
                </a:cubicBezTo>
                <a:cubicBezTo>
                  <a:pt x="3601997" y="-3398"/>
                  <a:pt x="3538196" y="330"/>
                  <a:pt x="3453085" y="1250"/>
                </a:cubicBezTo>
                <a:cubicBezTo>
                  <a:pt x="2545650" y="21443"/>
                  <a:pt x="1638390" y="51765"/>
                  <a:pt x="731371" y="878"/>
                </a:cubicBezTo>
                <a:cubicBezTo>
                  <a:pt x="642467" y="-87"/>
                  <a:pt x="553519" y="1250"/>
                  <a:pt x="464769" y="6534"/>
                </a:cubicBezTo>
                <a:cubicBezTo>
                  <a:pt x="385183" y="11292"/>
                  <a:pt x="302374" y="15304"/>
                  <a:pt x="224563" y="33743"/>
                </a:cubicBezTo>
                <a:cubicBezTo>
                  <a:pt x="159908" y="49090"/>
                  <a:pt x="106653" y="83204"/>
                  <a:pt x="86570" y="149329"/>
                </a:cubicBezTo>
                <a:cubicBezTo>
                  <a:pt x="9067" y="671747"/>
                  <a:pt x="-7925" y="1209227"/>
                  <a:pt x="2994" y="1737127"/>
                </a:cubicBezTo>
                <a:cubicBezTo>
                  <a:pt x="7729" y="2035301"/>
                  <a:pt x="225024" y="2012784"/>
                  <a:pt x="454881" y="2012828"/>
                </a:cubicBezTo>
                <a:cubicBezTo>
                  <a:pt x="1452075" y="2021379"/>
                  <a:pt x="2463170" y="2030543"/>
                  <a:pt x="3459136" y="2039138"/>
                </a:cubicBezTo>
                <a:cubicBezTo>
                  <a:pt x="3468432" y="2039138"/>
                  <a:pt x="3468235" y="2024426"/>
                  <a:pt x="3458544" y="2024339"/>
                </a:cubicBezTo>
                <a:cubicBezTo>
                  <a:pt x="2395752" y="2013552"/>
                  <a:pt x="1331030" y="2008487"/>
                  <a:pt x="268237" y="1995157"/>
                </a:cubicBezTo>
                <a:cubicBezTo>
                  <a:pt x="201871" y="1991167"/>
                  <a:pt x="129981" y="1978933"/>
                  <a:pt x="80870" y="1929997"/>
                </a:cubicBezTo>
                <a:cubicBezTo>
                  <a:pt x="27856" y="1877181"/>
                  <a:pt x="19898" y="1797332"/>
                  <a:pt x="17289" y="1726406"/>
                </a:cubicBezTo>
                <a:cubicBezTo>
                  <a:pt x="11150" y="1553355"/>
                  <a:pt x="12904" y="1379647"/>
                  <a:pt x="17289" y="1206596"/>
                </a:cubicBezTo>
                <a:cubicBezTo>
                  <a:pt x="24962" y="897125"/>
                  <a:pt x="46317" y="588368"/>
                  <a:pt x="81352" y="280328"/>
                </a:cubicBezTo>
                <a:cubicBezTo>
                  <a:pt x="89990" y="206026"/>
                  <a:pt x="89333" y="112868"/>
                  <a:pt x="163591" y="71825"/>
                </a:cubicBezTo>
                <a:cubicBezTo>
                  <a:pt x="194285" y="54286"/>
                  <a:pt x="229825" y="46349"/>
                  <a:pt x="264444" y="40978"/>
                </a:cubicBezTo>
                <a:cubicBezTo>
                  <a:pt x="347341" y="28174"/>
                  <a:pt x="431728" y="22408"/>
                  <a:pt x="515502" y="18746"/>
                </a:cubicBezTo>
                <a:cubicBezTo>
                  <a:pt x="692894" y="11029"/>
                  <a:pt x="870483" y="17869"/>
                  <a:pt x="1047743" y="26113"/>
                </a:cubicBezTo>
                <a:cubicBezTo>
                  <a:pt x="1755029" y="63845"/>
                  <a:pt x="2462863" y="37711"/>
                  <a:pt x="3170346" y="20654"/>
                </a:cubicBezTo>
                <a:cubicBezTo>
                  <a:pt x="3346028" y="20478"/>
                  <a:pt x="3500947" y="3289"/>
                  <a:pt x="3675948" y="22605"/>
                </a:cubicBezTo>
                <a:cubicBezTo>
                  <a:pt x="3819576" y="42556"/>
                  <a:pt x="3893001" y="73821"/>
                  <a:pt x="3920034" y="229880"/>
                </a:cubicBezTo>
                <a:cubicBezTo>
                  <a:pt x="4003348" y="663591"/>
                  <a:pt x="3918609" y="1093707"/>
                  <a:pt x="3926392" y="1543489"/>
                </a:cubicBezTo>
                <a:cubicBezTo>
                  <a:pt x="3926568" y="1553092"/>
                  <a:pt x="3940665" y="1547436"/>
                  <a:pt x="3940490" y="1538337"/>
                </a:cubicBezTo>
                <a:cubicBezTo>
                  <a:pt x="3933321" y="1127383"/>
                  <a:pt x="4008215" y="711694"/>
                  <a:pt x="3947725" y="299512"/>
                </a:cubicBezTo>
                <a:close/>
              </a:path>
            </a:pathLst>
          </a:custGeom>
          <a:solidFill>
            <a:srgbClr val="2b3547"/>
          </a:solidFill>
          <a:ln w="0">
            <a:noFill/>
          </a:ln>
        </p:spPr>
        <p:style>
          <a:lnRef idx="0"/>
          <a:fillRef idx="0"/>
          <a:effectRef idx="0"/>
          <a:fontRef idx="minor"/>
        </p:style>
      </p:sp>
      <p:sp>
        <p:nvSpPr>
          <p:cNvPr id="52" name="Google Shape;61;p5"/>
          <p:cNvSpPr/>
          <p:nvPr/>
        </p:nvSpPr>
        <p:spPr>
          <a:xfrm>
            <a:off x="3215160" y="370800"/>
            <a:ext cx="1375920" cy="65880"/>
          </a:xfrm>
          <a:custGeom>
            <a:avLst/>
            <a:gdLst/>
            <a:ahLst/>
            <a:rect l="l" t="t" r="r" b="b"/>
            <a:pathLst>
              <a:path w="652626" h="31710">
                <a:moveTo>
                  <a:pt x="645179" y="13550"/>
                </a:moveTo>
                <a:cubicBezTo>
                  <a:pt x="432971" y="20774"/>
                  <a:pt x="220527" y="16258"/>
                  <a:pt x="8819" y="23"/>
                </a:cubicBezTo>
                <a:cubicBezTo>
                  <a:pt x="-280" y="-657"/>
                  <a:pt x="-3941" y="13989"/>
                  <a:pt x="5662" y="14712"/>
                </a:cubicBezTo>
                <a:cubicBezTo>
                  <a:pt x="218646" y="31045"/>
                  <a:pt x="432371" y="35612"/>
                  <a:pt x="645859" y="28393"/>
                </a:cubicBezTo>
                <a:cubicBezTo>
                  <a:pt x="655067" y="28043"/>
                  <a:pt x="654914" y="13178"/>
                  <a:pt x="645179" y="13550"/>
                </a:cubicBezTo>
                <a:close/>
              </a:path>
            </a:pathLst>
          </a:custGeom>
          <a:solidFill>
            <a:srgbClr val="2b3547"/>
          </a:solidFill>
          <a:ln w="0">
            <a:noFill/>
          </a:ln>
        </p:spPr>
        <p:style>
          <a:lnRef idx="0"/>
          <a:fillRef idx="0"/>
          <a:effectRef idx="0"/>
          <a:fontRef idx="minor"/>
        </p:style>
      </p:sp>
      <p:sp>
        <p:nvSpPr>
          <p:cNvPr id="53" name="Google Shape;62;p5"/>
          <p:cNvSpPr/>
          <p:nvPr/>
        </p:nvSpPr>
        <p:spPr>
          <a:xfrm>
            <a:off x="4695120" y="404640"/>
            <a:ext cx="262800" cy="30240"/>
          </a:xfrm>
          <a:custGeom>
            <a:avLst/>
            <a:gdLst/>
            <a:ahLst/>
            <a:rect l="l" t="t" r="r" b="b"/>
            <a:pathLst>
              <a:path w="125099" h="14799">
                <a:moveTo>
                  <a:pt x="117661" y="0"/>
                </a:moveTo>
                <a:lnTo>
                  <a:pt x="6833" y="0"/>
                </a:lnTo>
                <a:cubicBezTo>
                  <a:pt x="-2463" y="0"/>
                  <a:pt x="-2288" y="14799"/>
                  <a:pt x="7446" y="14799"/>
                </a:cubicBezTo>
                <a:lnTo>
                  <a:pt x="118275" y="14799"/>
                </a:lnTo>
                <a:cubicBezTo>
                  <a:pt x="127571" y="14887"/>
                  <a:pt x="127374" y="0"/>
                  <a:pt x="117661" y="0"/>
                </a:cubicBezTo>
                <a:close/>
              </a:path>
            </a:pathLst>
          </a:custGeom>
          <a:solidFill>
            <a:srgbClr val="2b3547"/>
          </a:solidFill>
          <a:ln w="0">
            <a:noFill/>
          </a:ln>
        </p:spPr>
        <p:style>
          <a:lnRef idx="0"/>
          <a:fillRef idx="0"/>
          <a:effectRef idx="0"/>
          <a:fontRef idx="minor"/>
        </p:style>
      </p:sp>
      <p:sp>
        <p:nvSpPr>
          <p:cNvPr id="54" name="Google Shape;63;p5"/>
          <p:cNvSpPr/>
          <p:nvPr/>
        </p:nvSpPr>
        <p:spPr>
          <a:xfrm>
            <a:off x="8371080" y="397080"/>
            <a:ext cx="289440" cy="230040"/>
          </a:xfrm>
          <a:custGeom>
            <a:avLst/>
            <a:gdLst/>
            <a:ahLst/>
            <a:rect l="l" t="t" r="r" b="b"/>
            <a:pathLst>
              <a:path w="137618" h="109585">
                <a:moveTo>
                  <a:pt x="136999" y="99882"/>
                </a:moveTo>
                <a:cubicBezTo>
                  <a:pt x="113869" y="47085"/>
                  <a:pt x="65635" y="9548"/>
                  <a:pt x="8785" y="104"/>
                </a:cubicBezTo>
                <a:cubicBezTo>
                  <a:pt x="-292" y="-1365"/>
                  <a:pt x="-3910" y="13258"/>
                  <a:pt x="5627" y="14771"/>
                </a:cubicBezTo>
                <a:cubicBezTo>
                  <a:pt x="57435" y="23274"/>
                  <a:pt x="101482" y="57237"/>
                  <a:pt x="122902" y="105166"/>
                </a:cubicBezTo>
                <a:cubicBezTo>
                  <a:pt x="126738" y="113936"/>
                  <a:pt x="140705" y="108323"/>
                  <a:pt x="136999" y="99882"/>
                </a:cubicBezTo>
                <a:close/>
              </a:path>
            </a:pathLst>
          </a:custGeom>
          <a:solidFill>
            <a:srgbClr val="2b3547"/>
          </a:solidFill>
          <a:ln w="0">
            <a:noFill/>
          </a:ln>
        </p:spPr>
        <p:style>
          <a:lnRef idx="0"/>
          <a:fillRef idx="0"/>
          <a:effectRef idx="0"/>
          <a:fontRef idx="minor"/>
        </p:style>
      </p:sp>
      <p:sp>
        <p:nvSpPr>
          <p:cNvPr id="55" name="Google Shape;64;p5"/>
          <p:cNvSpPr/>
          <p:nvPr/>
        </p:nvSpPr>
        <p:spPr>
          <a:xfrm>
            <a:off x="244440" y="4093920"/>
            <a:ext cx="745200" cy="774720"/>
          </a:xfrm>
          <a:custGeom>
            <a:avLst/>
            <a:gdLst/>
            <a:ahLst/>
            <a:rect l="l" t="t" r="r" b="b"/>
            <a:pathLst>
              <a:path w="353675" h="367635">
                <a:moveTo>
                  <a:pt x="349850" y="316408"/>
                </a:moveTo>
                <a:cubicBezTo>
                  <a:pt x="344216" y="307967"/>
                  <a:pt x="337265" y="300140"/>
                  <a:pt x="331061" y="292094"/>
                </a:cubicBezTo>
                <a:cubicBezTo>
                  <a:pt x="325295" y="284639"/>
                  <a:pt x="312907" y="293387"/>
                  <a:pt x="318542" y="300688"/>
                </a:cubicBezTo>
                <a:cubicBezTo>
                  <a:pt x="320142" y="302661"/>
                  <a:pt x="330951" y="317022"/>
                  <a:pt x="332574" y="318447"/>
                </a:cubicBezTo>
                <a:cubicBezTo>
                  <a:pt x="270198" y="313689"/>
                  <a:pt x="197781" y="305292"/>
                  <a:pt x="142554" y="274598"/>
                </a:cubicBezTo>
                <a:cubicBezTo>
                  <a:pt x="87348" y="239760"/>
                  <a:pt x="52202" y="175937"/>
                  <a:pt x="31747" y="115404"/>
                </a:cubicBezTo>
                <a:cubicBezTo>
                  <a:pt x="20542" y="80171"/>
                  <a:pt x="14804" y="43432"/>
                  <a:pt x="14733" y="6461"/>
                </a:cubicBezTo>
                <a:cubicBezTo>
                  <a:pt x="14733" y="-3318"/>
                  <a:pt x="-44" y="-1323"/>
                  <a:pt x="0" y="7930"/>
                </a:cubicBezTo>
                <a:cubicBezTo>
                  <a:pt x="1184" y="107971"/>
                  <a:pt x="41065" y="213209"/>
                  <a:pt x="119862" y="277470"/>
                </a:cubicBezTo>
                <a:cubicBezTo>
                  <a:pt x="177501" y="318403"/>
                  <a:pt x="263467" y="328116"/>
                  <a:pt x="332705" y="333158"/>
                </a:cubicBezTo>
                <a:cubicBezTo>
                  <a:pt x="322510" y="340196"/>
                  <a:pt x="316437" y="346182"/>
                  <a:pt x="307470" y="353702"/>
                </a:cubicBezTo>
                <a:cubicBezTo>
                  <a:pt x="300301" y="359863"/>
                  <a:pt x="307821" y="372250"/>
                  <a:pt x="315275" y="365848"/>
                </a:cubicBezTo>
                <a:lnTo>
                  <a:pt x="340028" y="344647"/>
                </a:lnTo>
                <a:cubicBezTo>
                  <a:pt x="350048" y="337171"/>
                  <a:pt x="359037" y="328927"/>
                  <a:pt x="349850" y="316408"/>
                </a:cubicBezTo>
                <a:close/>
              </a:path>
            </a:pathLst>
          </a:custGeom>
          <a:solidFill>
            <a:srgbClr val="2b3547"/>
          </a:solidFill>
          <a:ln w="0">
            <a:noFill/>
          </a:ln>
        </p:spPr>
        <p:style>
          <a:lnRef idx="0"/>
          <a:fillRef idx="0"/>
          <a:effectRef idx="0"/>
          <a:fontRef idx="minor"/>
        </p:style>
      </p:sp>
      <p:sp>
        <p:nvSpPr>
          <p:cNvPr id="56" name="Google Shape;65;p5"/>
          <p:cNvSpPr/>
          <p:nvPr/>
        </p:nvSpPr>
        <p:spPr>
          <a:xfrm>
            <a:off x="8578080" y="2957040"/>
            <a:ext cx="199800" cy="171720"/>
          </a:xfrm>
          <a:custGeom>
            <a:avLst/>
            <a:gdLst/>
            <a:ahLst/>
            <a:rect l="l" t="t" r="r" b="b"/>
            <a:pathLst>
              <a:path w="95214" h="81892">
                <a:moveTo>
                  <a:pt x="92489" y="65480"/>
                </a:moveTo>
                <a:lnTo>
                  <a:pt x="61028" y="43753"/>
                </a:lnTo>
                <a:cubicBezTo>
                  <a:pt x="70521" y="33157"/>
                  <a:pt x="80036" y="22580"/>
                  <a:pt x="89530" y="12028"/>
                </a:cubicBezTo>
                <a:cubicBezTo>
                  <a:pt x="96107" y="4771"/>
                  <a:pt x="85145" y="-4635"/>
                  <a:pt x="78567" y="2600"/>
                </a:cubicBezTo>
                <a:lnTo>
                  <a:pt x="48991" y="35487"/>
                </a:lnTo>
                <a:lnTo>
                  <a:pt x="12684" y="10383"/>
                </a:lnTo>
                <a:cubicBezTo>
                  <a:pt x="5098" y="5144"/>
                  <a:pt x="-4856" y="16610"/>
                  <a:pt x="2687" y="21872"/>
                </a:cubicBezTo>
                <a:lnTo>
                  <a:pt x="38796" y="46844"/>
                </a:lnTo>
                <a:lnTo>
                  <a:pt x="18275" y="69865"/>
                </a:lnTo>
                <a:cubicBezTo>
                  <a:pt x="11697" y="77122"/>
                  <a:pt x="22660" y="86527"/>
                  <a:pt x="29237" y="79292"/>
                </a:cubicBezTo>
                <a:lnTo>
                  <a:pt x="50942" y="55175"/>
                </a:lnTo>
                <a:lnTo>
                  <a:pt x="82601" y="77100"/>
                </a:lnTo>
                <a:cubicBezTo>
                  <a:pt x="90078" y="82296"/>
                  <a:pt x="100119" y="70829"/>
                  <a:pt x="92489" y="65480"/>
                </a:cubicBezTo>
                <a:close/>
              </a:path>
            </a:pathLst>
          </a:custGeom>
          <a:solidFill>
            <a:srgbClr val="2b3547"/>
          </a:solidFill>
          <a:ln w="0">
            <a:noFill/>
          </a:ln>
        </p:spPr>
        <p:style>
          <a:lnRef idx="0"/>
          <a:fillRef idx="0"/>
          <a:effectRef idx="0"/>
          <a:fontRef idx="minor"/>
        </p:style>
      </p:sp>
      <p:sp>
        <p:nvSpPr>
          <p:cNvPr id="57" name="Google Shape;66;p5"/>
          <p:cNvSpPr/>
          <p:nvPr/>
        </p:nvSpPr>
        <p:spPr>
          <a:xfrm>
            <a:off x="4853520" y="4606920"/>
            <a:ext cx="850680" cy="154080"/>
          </a:xfrm>
          <a:custGeom>
            <a:avLst/>
            <a:gdLst/>
            <a:ahLst/>
            <a:rect l="l" t="t" r="r" b="b"/>
            <a:pathLst>
              <a:path w="403625" h="73536">
                <a:moveTo>
                  <a:pt x="402034" y="57995"/>
                </a:moveTo>
                <a:cubicBezTo>
                  <a:pt x="349920" y="-4643"/>
                  <a:pt x="347223" y="-12273"/>
                  <a:pt x="293815" y="54948"/>
                </a:cubicBezTo>
                <a:cubicBezTo>
                  <a:pt x="244682" y="-17404"/>
                  <a:pt x="251829" y="2986"/>
                  <a:pt x="191361" y="49225"/>
                </a:cubicBezTo>
                <a:cubicBezTo>
                  <a:pt x="145320" y="-15189"/>
                  <a:pt x="150911" y="-15343"/>
                  <a:pt x="96669" y="42648"/>
                </a:cubicBezTo>
                <a:cubicBezTo>
                  <a:pt x="86321" y="25893"/>
                  <a:pt x="71785" y="12113"/>
                  <a:pt x="54508" y="2657"/>
                </a:cubicBezTo>
                <a:cubicBezTo>
                  <a:pt x="43897" y="-1442"/>
                  <a:pt x="13290" y="41442"/>
                  <a:pt x="2152" y="49554"/>
                </a:cubicBezTo>
                <a:cubicBezTo>
                  <a:pt x="-4644" y="56548"/>
                  <a:pt x="6230" y="65932"/>
                  <a:pt x="12983" y="58982"/>
                </a:cubicBezTo>
                <a:lnTo>
                  <a:pt x="52009" y="18838"/>
                </a:lnTo>
                <a:cubicBezTo>
                  <a:pt x="82462" y="34426"/>
                  <a:pt x="86825" y="72531"/>
                  <a:pt x="100243" y="59552"/>
                </a:cubicBezTo>
                <a:lnTo>
                  <a:pt x="120852" y="38307"/>
                </a:lnTo>
                <a:cubicBezTo>
                  <a:pt x="130455" y="27871"/>
                  <a:pt x="145298" y="3447"/>
                  <a:pt x="155800" y="26621"/>
                </a:cubicBezTo>
                <a:cubicBezTo>
                  <a:pt x="197105" y="84085"/>
                  <a:pt x="181473" y="72663"/>
                  <a:pt x="233785" y="33330"/>
                </a:cubicBezTo>
                <a:cubicBezTo>
                  <a:pt x="249659" y="14036"/>
                  <a:pt x="257223" y="29405"/>
                  <a:pt x="267264" y="44731"/>
                </a:cubicBezTo>
                <a:lnTo>
                  <a:pt x="286843" y="71040"/>
                </a:lnTo>
                <a:cubicBezTo>
                  <a:pt x="300195" y="86058"/>
                  <a:pt x="326855" y="28594"/>
                  <a:pt x="341106" y="23990"/>
                </a:cubicBezTo>
                <a:cubicBezTo>
                  <a:pt x="357462" y="17522"/>
                  <a:pt x="377238" y="56614"/>
                  <a:pt x="389493" y="66611"/>
                </a:cubicBezTo>
                <a:cubicBezTo>
                  <a:pt x="395632" y="73671"/>
                  <a:pt x="408020" y="64945"/>
                  <a:pt x="402034" y="57995"/>
                </a:cubicBezTo>
                <a:close/>
              </a:path>
            </a:pathLst>
          </a:custGeom>
          <a:solidFill>
            <a:srgbClr val="2b3547"/>
          </a:solidFill>
          <a:ln w="0">
            <a:noFill/>
          </a:ln>
        </p:spPr>
        <p:style>
          <a:lnRef idx="0"/>
          <a:fillRef idx="0"/>
          <a:effectRef idx="0"/>
          <a:fontRef idx="minor"/>
        </p:style>
      </p:sp>
      <p:sp>
        <p:nvSpPr>
          <p:cNvPr id="58" name="Google Shape;67;p5"/>
          <p:cNvSpPr/>
          <p:nvPr/>
        </p:nvSpPr>
        <p:spPr>
          <a:xfrm>
            <a:off x="8525880" y="347040"/>
            <a:ext cx="131400" cy="90000"/>
          </a:xfrm>
          <a:custGeom>
            <a:avLst/>
            <a:gdLst/>
            <a:ahLst/>
            <a:rect l="l" t="t" r="r" b="b"/>
            <a:pathLst>
              <a:path w="62762" h="43243">
                <a:moveTo>
                  <a:pt x="60351" y="30032"/>
                </a:moveTo>
                <a:cubicBezTo>
                  <a:pt x="45705" y="17367"/>
                  <a:pt x="28955" y="7372"/>
                  <a:pt x="10845" y="500"/>
                </a:cubicBezTo>
                <a:cubicBezTo>
                  <a:pt x="2273" y="-2745"/>
                  <a:pt x="-4765" y="10739"/>
                  <a:pt x="4092" y="14093"/>
                </a:cubicBezTo>
                <a:cubicBezTo>
                  <a:pt x="20996" y="20446"/>
                  <a:pt x="36672" y="29731"/>
                  <a:pt x="50353" y="41521"/>
                </a:cubicBezTo>
                <a:cubicBezTo>
                  <a:pt x="57413" y="47594"/>
                  <a:pt x="67410" y="36127"/>
                  <a:pt x="60351" y="30032"/>
                </a:cubicBezTo>
                <a:close/>
              </a:path>
            </a:pathLst>
          </a:custGeom>
          <a:solidFill>
            <a:srgbClr val="2b3547"/>
          </a:solidFill>
          <a:ln w="0">
            <a:noFill/>
          </a:ln>
        </p:spPr>
        <p:style>
          <a:lnRef idx="0"/>
          <a:fillRef idx="0"/>
          <a:effectRef idx="0"/>
          <a:fontRef idx="minor"/>
        </p:style>
      </p:sp>
      <p:sp>
        <p:nvSpPr>
          <p:cNvPr id="59" name="PlaceHolder 1"/>
          <p:cNvSpPr>
            <a:spLocks noGrp="1"/>
          </p:cNvSpPr>
          <p:nvPr>
            <p:ph type="sldNum" idx="1"/>
          </p:nvPr>
        </p:nvSpPr>
        <p:spPr>
          <a:xfrm>
            <a:off x="8403840" y="4692960"/>
            <a:ext cx="547560" cy="299160"/>
          </a:xfrm>
          <a:prstGeom prst="rect">
            <a:avLst/>
          </a:prstGeom>
          <a:noFill/>
          <a:ln w="0">
            <a:noFill/>
          </a:ln>
        </p:spPr>
        <p:txBody>
          <a:bodyPr lIns="0" rIns="0" tIns="0" bIns="0" anchor="ctr">
            <a:noAutofit/>
          </a:bodyPr>
          <a:lstStyle>
            <a:lvl1pPr algn="r">
              <a:lnSpc>
                <a:spcPct val="100000"/>
              </a:lnSpc>
              <a:buNone/>
              <a:tabLst>
                <a:tab algn="l" pos="0"/>
              </a:tabLst>
              <a:defRPr b="1" lang="en" sz="1500" spc="-1" strike="noStrike">
                <a:solidFill>
                  <a:srgbClr val="7f8b91"/>
                </a:solidFill>
                <a:latin typeface="Amatic SC"/>
                <a:ea typeface="Amatic SC"/>
              </a:defRPr>
            </a:lvl1pPr>
          </a:lstStyle>
          <a:p>
            <a:pPr algn="r">
              <a:lnSpc>
                <a:spcPct val="100000"/>
              </a:lnSpc>
              <a:buNone/>
              <a:tabLst>
                <a:tab algn="l" pos="0"/>
              </a:tabLst>
            </a:pPr>
            <a:fld id="{E39F4049-4E8C-40B5-85B4-1567A03C3AB5}" type="slidenum">
              <a:rPr b="1" lang="en" sz="1500" spc="-1" strike="noStrike">
                <a:solidFill>
                  <a:srgbClr val="7f8b91"/>
                </a:solidFill>
                <a:latin typeface="Amatic SC"/>
                <a:ea typeface="Amatic SC"/>
              </a:rPr>
              <a:t>&lt;number&gt;</a:t>
            </a:fld>
            <a:endParaRPr b="0" lang="en-US" sz="1500" spc="-1" strike="noStrike">
              <a:latin typeface="Times New Roman"/>
            </a:endParaRPr>
          </a:p>
        </p:txBody>
      </p:sp>
      <p:sp>
        <p:nvSpPr>
          <p:cNvPr id="60" name="PlaceHolder 2"/>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r>
              <a:rPr b="0" lang="en-US" sz="4400" spc="-1" strike="noStrike">
                <a:latin typeface="Arial"/>
              </a:rPr>
              <a:t>Click to edit the title text format</a:t>
            </a:r>
            <a:endParaRPr b="0" lang="en-US" sz="4400" spc="-1" strike="noStrike">
              <a:latin typeface="Arial"/>
            </a:endParaRPr>
          </a:p>
        </p:txBody>
      </p:sp>
      <p:sp>
        <p:nvSpPr>
          <p:cNvPr id="61"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PlaceHolder 1"/>
          <p:cNvSpPr>
            <a:spLocks noGrp="1"/>
          </p:cNvSpPr>
          <p:nvPr>
            <p:ph type="title"/>
          </p:nvPr>
        </p:nvSpPr>
        <p:spPr>
          <a:xfrm>
            <a:off x="1263960" y="1760040"/>
            <a:ext cx="6614280" cy="2054520"/>
          </a:xfrm>
          <a:prstGeom prst="rect">
            <a:avLst/>
          </a:prstGeom>
          <a:noFill/>
          <a:ln w="0">
            <a:noFill/>
          </a:ln>
        </p:spPr>
        <p:txBody>
          <a:bodyPr lIns="0" rIns="0" tIns="0" bIns="0" anchor="ctr">
            <a:noAutofit/>
          </a:bodyPr>
          <a:p>
            <a:pPr algn="ctr">
              <a:lnSpc>
                <a:spcPct val="90000"/>
              </a:lnSpc>
              <a:buNone/>
              <a:tabLst>
                <a:tab algn="l" pos="0"/>
              </a:tabLst>
            </a:pPr>
            <a:r>
              <a:rPr b="1" lang="en" sz="6800" spc="-1" strike="noStrike">
                <a:solidFill>
                  <a:srgbClr val="2b3547"/>
                </a:solidFill>
                <a:latin typeface="Amatic SC"/>
                <a:ea typeface="Amatic SC"/>
              </a:rPr>
              <a:t>NATS</a:t>
            </a:r>
            <a:endParaRPr b="0" lang="en-US" sz="680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 name="PlaceHolder 1"/>
          <p:cNvSpPr>
            <a:spLocks noGrp="1"/>
          </p:cNvSpPr>
          <p:nvPr>
            <p:ph type="title"/>
          </p:nvPr>
        </p:nvSpPr>
        <p:spPr>
          <a:xfrm>
            <a:off x="883080" y="682920"/>
            <a:ext cx="6425280" cy="395280"/>
          </a:xfrm>
          <a:prstGeom prst="rect">
            <a:avLst/>
          </a:prstGeom>
          <a:noFill/>
          <a:ln w="0">
            <a:noFill/>
          </a:ln>
        </p:spPr>
        <p:txBody>
          <a:bodyPr lIns="0" rIns="0" tIns="0" bIns="0" anchor="ctr">
            <a:noAutofit/>
          </a:bodyPr>
          <a:p>
            <a:pPr>
              <a:lnSpc>
                <a:spcPct val="90000"/>
              </a:lnSpc>
              <a:buNone/>
              <a:tabLst>
                <a:tab algn="l" pos="0"/>
              </a:tabLst>
            </a:pPr>
            <a:r>
              <a:rPr b="1" lang="en" sz="3400" spc="-1" strike="noStrike">
                <a:solidFill>
                  <a:srgbClr val="2b3547"/>
                </a:solidFill>
                <a:latin typeface="Amatic SC"/>
                <a:ea typeface="Amatic SC"/>
              </a:rPr>
              <a:t>Introduction</a:t>
            </a:r>
            <a:endParaRPr b="0" lang="en-US" sz="3400" spc="-1" strike="noStrike">
              <a:latin typeface="Arial"/>
            </a:endParaRPr>
          </a:p>
        </p:txBody>
      </p:sp>
      <p:sp>
        <p:nvSpPr>
          <p:cNvPr id="100" name="PlaceHolder 2"/>
          <p:cNvSpPr>
            <a:spLocks noGrp="1"/>
          </p:cNvSpPr>
          <p:nvPr>
            <p:ph/>
          </p:nvPr>
        </p:nvSpPr>
        <p:spPr>
          <a:xfrm>
            <a:off x="1187640" y="1600200"/>
            <a:ext cx="6127200" cy="2742840"/>
          </a:xfrm>
          <a:prstGeom prst="rect">
            <a:avLst/>
          </a:prstGeom>
          <a:noFill/>
          <a:ln w="0">
            <a:noFill/>
          </a:ln>
        </p:spPr>
        <p:txBody>
          <a:bodyPr lIns="0" rIns="0" tIns="0" bIns="0" anchor="t">
            <a:noAutofit/>
          </a:bodyPr>
          <a:p>
            <a:pPr marL="216000" indent="-216000">
              <a:lnSpc>
                <a:spcPct val="100000"/>
              </a:lnSpc>
              <a:buClr>
                <a:srgbClr val="000000"/>
              </a:buClr>
              <a:buSzPct val="45000"/>
              <a:buFont typeface="Wingdings" charset="2"/>
              <a:buChar char=""/>
            </a:pPr>
            <a:r>
              <a:rPr b="0" lang="en-US" sz="2600" spc="-1" strike="noStrike">
                <a:solidFill>
                  <a:srgbClr val="2b3547"/>
                </a:solidFill>
                <a:latin typeface="Nunito"/>
                <a:ea typeface="Nunito"/>
              </a:rPr>
              <a:t>Simple</a:t>
            </a:r>
            <a:endParaRPr b="0" lang="en-US" sz="2600" spc="-1" strike="noStrike">
              <a:latin typeface="Arial"/>
            </a:endParaRPr>
          </a:p>
          <a:p>
            <a:pPr marL="216000" indent="-216000">
              <a:lnSpc>
                <a:spcPct val="100000"/>
              </a:lnSpc>
              <a:buClr>
                <a:srgbClr val="000000"/>
              </a:buClr>
              <a:buSzPct val="45000"/>
              <a:buFont typeface="Wingdings" charset="2"/>
              <a:buChar char=""/>
            </a:pPr>
            <a:r>
              <a:rPr b="0" lang="en-US" sz="2600" spc="-1" strike="noStrike">
                <a:solidFill>
                  <a:srgbClr val="2b3547"/>
                </a:solidFill>
                <a:latin typeface="Nunito"/>
                <a:ea typeface="Nunito"/>
              </a:rPr>
              <a:t>Secure</a:t>
            </a:r>
            <a:endParaRPr b="0" lang="en-US" sz="2600" spc="-1" strike="noStrike">
              <a:latin typeface="Arial"/>
            </a:endParaRPr>
          </a:p>
          <a:p>
            <a:pPr marL="216000" indent="-216000">
              <a:lnSpc>
                <a:spcPct val="100000"/>
              </a:lnSpc>
              <a:buClr>
                <a:srgbClr val="000000"/>
              </a:buClr>
              <a:buSzPct val="45000"/>
              <a:buFont typeface="Wingdings" charset="2"/>
              <a:buChar char=""/>
            </a:pPr>
            <a:r>
              <a:rPr b="0" lang="en-US" sz="2600" spc="-1" strike="noStrike">
                <a:solidFill>
                  <a:srgbClr val="2b3547"/>
                </a:solidFill>
                <a:latin typeface="Nunito"/>
                <a:ea typeface="Nunito"/>
              </a:rPr>
              <a:t>High performance</a:t>
            </a:r>
            <a:endParaRPr b="0" lang="en-US" sz="2600" spc="-1" strike="noStrike">
              <a:latin typeface="Arial"/>
            </a:endParaRPr>
          </a:p>
          <a:p>
            <a:pPr marL="216000" indent="-216000">
              <a:lnSpc>
                <a:spcPct val="100000"/>
              </a:lnSpc>
              <a:buClr>
                <a:srgbClr val="000000"/>
              </a:buClr>
              <a:buSzPct val="45000"/>
              <a:buFont typeface="Wingdings" charset="2"/>
              <a:buChar char=""/>
            </a:pPr>
            <a:r>
              <a:rPr b="0" lang="en-US" sz="2600" spc="-1" strike="noStrike">
                <a:solidFill>
                  <a:srgbClr val="2b3547"/>
                </a:solidFill>
                <a:latin typeface="Nunito"/>
                <a:ea typeface="Nunito"/>
              </a:rPr>
              <a:t>Open source</a:t>
            </a:r>
            <a:endParaRPr b="0" lang="en-US" sz="2600" spc="-1" strike="noStrike">
              <a:latin typeface="Arial"/>
            </a:endParaRPr>
          </a:p>
        </p:txBody>
      </p:sp>
      <p:sp>
        <p:nvSpPr>
          <p:cNvPr id="101" name="PlaceHolder 3"/>
          <p:cNvSpPr>
            <a:spLocks noGrp="1"/>
          </p:cNvSpPr>
          <p:nvPr>
            <p:ph type="sldNum" idx="2"/>
          </p:nvPr>
        </p:nvSpPr>
        <p:spPr>
          <a:xfrm>
            <a:off x="8403840" y="4692960"/>
            <a:ext cx="547560" cy="299160"/>
          </a:xfrm>
          <a:prstGeom prst="rect">
            <a:avLst/>
          </a:prstGeom>
          <a:noFill/>
          <a:ln w="0">
            <a:noFill/>
          </a:ln>
        </p:spPr>
        <p:txBody>
          <a:bodyPr lIns="0" rIns="0" tIns="0" bIns="0" anchor="ctr">
            <a:noAutofit/>
          </a:bodyPr>
          <a:lstStyle>
            <a:lvl1pPr algn="r">
              <a:lnSpc>
                <a:spcPct val="100000"/>
              </a:lnSpc>
              <a:buNone/>
              <a:tabLst>
                <a:tab algn="l" pos="0"/>
              </a:tabLst>
              <a:defRPr b="1" lang="en" sz="1500" spc="-1" strike="noStrike">
                <a:solidFill>
                  <a:srgbClr val="7f8b91"/>
                </a:solidFill>
                <a:latin typeface="Amatic SC"/>
                <a:ea typeface="Amatic SC"/>
              </a:defRPr>
            </a:lvl1pPr>
          </a:lstStyle>
          <a:p>
            <a:pPr algn="r">
              <a:lnSpc>
                <a:spcPct val="100000"/>
              </a:lnSpc>
              <a:buNone/>
              <a:tabLst>
                <a:tab algn="l" pos="0"/>
              </a:tabLst>
            </a:pPr>
            <a:fld id="{2D758820-71AE-4E64-9FB2-9611848DDFA1}" type="slidenum">
              <a:rPr b="1" lang="en" sz="1500" spc="-1" strike="noStrike">
                <a:solidFill>
                  <a:srgbClr val="7f8b91"/>
                </a:solidFill>
                <a:latin typeface="Amatic SC"/>
                <a:ea typeface="Amatic SC"/>
              </a:rPr>
              <a:t>&lt;number&gt;</a:t>
            </a:fld>
            <a:endParaRPr b="0" lang="en-US" sz="1500" spc="-1" strike="noStrike">
              <a:latin typeface="Times New Roman"/>
            </a:endParaRPr>
          </a:p>
        </p:txBody>
      </p:sp>
      <p:sp>
        <p:nvSpPr>
          <p:cNvPr id="102" name="Google Shape;228;p 1"/>
          <p:cNvSpPr/>
          <p:nvPr/>
        </p:nvSpPr>
        <p:spPr>
          <a:xfrm>
            <a:off x="7648200" y="3814560"/>
            <a:ext cx="936720" cy="834120"/>
          </a:xfrm>
          <a:custGeom>
            <a:avLst/>
            <a:gdLst/>
            <a:ahLst/>
            <a:rect l="l" t="t" r="r" b="b"/>
            <a:pathLst>
              <a:path w="444359" h="395938">
                <a:moveTo>
                  <a:pt x="135136" y="205311"/>
                </a:moveTo>
                <a:lnTo>
                  <a:pt x="101482" y="200356"/>
                </a:lnTo>
                <a:cubicBezTo>
                  <a:pt x="92405" y="199041"/>
                  <a:pt x="88788" y="213642"/>
                  <a:pt x="98347" y="215046"/>
                </a:cubicBezTo>
                <a:lnTo>
                  <a:pt x="132067" y="220001"/>
                </a:lnTo>
                <a:cubicBezTo>
                  <a:pt x="141056" y="221316"/>
                  <a:pt x="144673" y="206714"/>
                  <a:pt x="135136" y="205311"/>
                </a:cubicBezTo>
                <a:close/>
                <a:moveTo>
                  <a:pt x="293388" y="291650"/>
                </a:moveTo>
                <a:cubicBezTo>
                  <a:pt x="292554" y="295482"/>
                  <a:pt x="294966" y="299271"/>
                  <a:pt x="298803" y="300115"/>
                </a:cubicBezTo>
                <a:cubicBezTo>
                  <a:pt x="298869" y="300130"/>
                  <a:pt x="298935" y="300144"/>
                  <a:pt x="299001" y="300157"/>
                </a:cubicBezTo>
                <a:cubicBezTo>
                  <a:pt x="299373" y="300157"/>
                  <a:pt x="300711" y="300157"/>
                  <a:pt x="300930" y="300551"/>
                </a:cubicBezTo>
                <a:cubicBezTo>
                  <a:pt x="299921" y="300222"/>
                  <a:pt x="299790" y="300201"/>
                  <a:pt x="300535" y="300551"/>
                </a:cubicBezTo>
                <a:cubicBezTo>
                  <a:pt x="301280" y="300902"/>
                  <a:pt x="301456" y="300924"/>
                  <a:pt x="302267" y="301297"/>
                </a:cubicBezTo>
                <a:lnTo>
                  <a:pt x="302377" y="301297"/>
                </a:lnTo>
                <a:cubicBezTo>
                  <a:pt x="309919" y="308335"/>
                  <a:pt x="320267" y="297416"/>
                  <a:pt x="313142" y="290335"/>
                </a:cubicBezTo>
                <a:cubicBezTo>
                  <a:pt x="307573" y="285621"/>
                  <a:pt x="295756" y="281894"/>
                  <a:pt x="293388" y="291650"/>
                </a:cubicBezTo>
                <a:close/>
                <a:moveTo>
                  <a:pt x="285999" y="274110"/>
                </a:moveTo>
                <a:cubicBezTo>
                  <a:pt x="269973" y="263589"/>
                  <a:pt x="253310" y="254069"/>
                  <a:pt x="236099" y="245608"/>
                </a:cubicBezTo>
                <a:cubicBezTo>
                  <a:pt x="227833" y="241530"/>
                  <a:pt x="220752" y="255014"/>
                  <a:pt x="229346" y="259180"/>
                </a:cubicBezTo>
                <a:cubicBezTo>
                  <a:pt x="245439" y="267053"/>
                  <a:pt x="261027" y="275919"/>
                  <a:pt x="276002" y="285730"/>
                </a:cubicBezTo>
                <a:cubicBezTo>
                  <a:pt x="283697" y="290576"/>
                  <a:pt x="293738" y="279109"/>
                  <a:pt x="285999" y="274023"/>
                </a:cubicBezTo>
                <a:close/>
                <a:moveTo>
                  <a:pt x="433354" y="1544"/>
                </a:moveTo>
                <a:cubicBezTo>
                  <a:pt x="431162" y="3057"/>
                  <a:pt x="428970" y="4482"/>
                  <a:pt x="426908" y="5929"/>
                </a:cubicBezTo>
                <a:cubicBezTo>
                  <a:pt x="425220" y="5833"/>
                  <a:pt x="423554" y="6381"/>
                  <a:pt x="422239" y="7464"/>
                </a:cubicBezTo>
                <a:cubicBezTo>
                  <a:pt x="417854" y="10840"/>
                  <a:pt x="413469" y="14261"/>
                  <a:pt x="408952" y="17659"/>
                </a:cubicBezTo>
                <a:cubicBezTo>
                  <a:pt x="315904" y="75803"/>
                  <a:pt x="209197" y="106563"/>
                  <a:pt x="111195" y="154928"/>
                </a:cubicBezTo>
                <a:cubicBezTo>
                  <a:pt x="93853" y="163501"/>
                  <a:pt x="76773" y="172622"/>
                  <a:pt x="60089" y="182400"/>
                </a:cubicBezTo>
                <a:cubicBezTo>
                  <a:pt x="42549" y="192748"/>
                  <a:pt x="25141" y="203184"/>
                  <a:pt x="5146" y="208249"/>
                </a:cubicBezTo>
                <a:cubicBezTo>
                  <a:pt x="-1804" y="210003"/>
                  <a:pt x="-1147" y="218532"/>
                  <a:pt x="3743" y="221404"/>
                </a:cubicBezTo>
                <a:cubicBezTo>
                  <a:pt x="4707" y="222430"/>
                  <a:pt x="5979" y="223140"/>
                  <a:pt x="7360" y="223443"/>
                </a:cubicBezTo>
                <a:cubicBezTo>
                  <a:pt x="52371" y="234230"/>
                  <a:pt x="97777" y="242999"/>
                  <a:pt x="143621" y="249752"/>
                </a:cubicBezTo>
                <a:lnTo>
                  <a:pt x="143117" y="384961"/>
                </a:lnTo>
                <a:cubicBezTo>
                  <a:pt x="142854" y="387829"/>
                  <a:pt x="144717" y="390464"/>
                  <a:pt x="147502" y="391166"/>
                </a:cubicBezTo>
                <a:cubicBezTo>
                  <a:pt x="148620" y="393251"/>
                  <a:pt x="150615" y="394717"/>
                  <a:pt x="152939" y="395156"/>
                </a:cubicBezTo>
                <a:cubicBezTo>
                  <a:pt x="155855" y="396721"/>
                  <a:pt x="159473" y="395875"/>
                  <a:pt x="161402" y="393183"/>
                </a:cubicBezTo>
                <a:cubicBezTo>
                  <a:pt x="187777" y="361278"/>
                  <a:pt x="215797" y="330777"/>
                  <a:pt x="245351" y="301801"/>
                </a:cubicBezTo>
                <a:cubicBezTo>
                  <a:pt x="266464" y="313914"/>
                  <a:pt x="286394" y="328001"/>
                  <a:pt x="304854" y="343874"/>
                </a:cubicBezTo>
                <a:cubicBezTo>
                  <a:pt x="316496" y="353850"/>
                  <a:pt x="331712" y="356854"/>
                  <a:pt x="343266" y="366413"/>
                </a:cubicBezTo>
                <a:cubicBezTo>
                  <a:pt x="346533" y="371170"/>
                  <a:pt x="355500" y="370798"/>
                  <a:pt x="356553" y="363519"/>
                </a:cubicBezTo>
                <a:cubicBezTo>
                  <a:pt x="373083" y="243175"/>
                  <a:pt x="405510" y="125528"/>
                  <a:pt x="443593" y="10753"/>
                </a:cubicBezTo>
                <a:cubicBezTo>
                  <a:pt x="446618" y="4679"/>
                  <a:pt x="440173" y="-3323"/>
                  <a:pt x="433354" y="1457"/>
                </a:cubicBezTo>
                <a:close/>
                <a:moveTo>
                  <a:pt x="144959" y="232695"/>
                </a:moveTo>
                <a:cubicBezTo>
                  <a:pt x="144345" y="233234"/>
                  <a:pt x="143819" y="233863"/>
                  <a:pt x="143380" y="234558"/>
                </a:cubicBezTo>
                <a:cubicBezTo>
                  <a:pt x="106218" y="229033"/>
                  <a:pt x="69319" y="222164"/>
                  <a:pt x="32639" y="213949"/>
                </a:cubicBezTo>
                <a:cubicBezTo>
                  <a:pt x="52744" y="204895"/>
                  <a:pt x="71358" y="192134"/>
                  <a:pt x="90652" y="181720"/>
                </a:cubicBezTo>
                <a:cubicBezTo>
                  <a:pt x="170610" y="138682"/>
                  <a:pt x="257497" y="110816"/>
                  <a:pt x="339320" y="71856"/>
                </a:cubicBezTo>
                <a:cubicBezTo>
                  <a:pt x="273370" y="123978"/>
                  <a:pt x="208584" y="177592"/>
                  <a:pt x="144959" y="232695"/>
                </a:cubicBezTo>
                <a:close/>
                <a:moveTo>
                  <a:pt x="157938" y="358827"/>
                </a:moveTo>
                <a:lnTo>
                  <a:pt x="158376" y="242429"/>
                </a:lnTo>
                <a:cubicBezTo>
                  <a:pt x="158376" y="241688"/>
                  <a:pt x="158267" y="240949"/>
                  <a:pt x="158070" y="240237"/>
                </a:cubicBezTo>
                <a:cubicBezTo>
                  <a:pt x="232788" y="175691"/>
                  <a:pt x="309152" y="113147"/>
                  <a:pt x="387181" y="52607"/>
                </a:cubicBezTo>
                <a:lnTo>
                  <a:pt x="297159" y="137213"/>
                </a:lnTo>
                <a:cubicBezTo>
                  <a:pt x="259098" y="172972"/>
                  <a:pt x="217024" y="207372"/>
                  <a:pt x="189531" y="252405"/>
                </a:cubicBezTo>
                <a:cubicBezTo>
                  <a:pt x="188216" y="254240"/>
                  <a:pt x="188018" y="256658"/>
                  <a:pt x="189049" y="258675"/>
                </a:cubicBezTo>
                <a:cubicBezTo>
                  <a:pt x="189356" y="259691"/>
                  <a:pt x="189882" y="260620"/>
                  <a:pt x="190605" y="261394"/>
                </a:cubicBezTo>
                <a:cubicBezTo>
                  <a:pt x="181222" y="294369"/>
                  <a:pt x="170325" y="326817"/>
                  <a:pt x="157938" y="358739"/>
                </a:cubicBezTo>
                <a:close/>
                <a:moveTo>
                  <a:pt x="174535" y="355801"/>
                </a:moveTo>
                <a:cubicBezTo>
                  <a:pt x="184927" y="328323"/>
                  <a:pt x="194267" y="300479"/>
                  <a:pt x="202533" y="272269"/>
                </a:cubicBezTo>
                <a:cubicBezTo>
                  <a:pt x="212223" y="280124"/>
                  <a:pt x="222396" y="287379"/>
                  <a:pt x="232964" y="293996"/>
                </a:cubicBezTo>
                <a:cubicBezTo>
                  <a:pt x="212749" y="313844"/>
                  <a:pt x="193281" y="334418"/>
                  <a:pt x="174535" y="355713"/>
                </a:cubicBezTo>
                <a:close/>
                <a:moveTo>
                  <a:pt x="344143" y="348807"/>
                </a:moveTo>
                <a:cubicBezTo>
                  <a:pt x="334847" y="343743"/>
                  <a:pt x="324608" y="340432"/>
                  <a:pt x="316255" y="333460"/>
                </a:cubicBezTo>
                <a:cubicBezTo>
                  <a:pt x="304394" y="323193"/>
                  <a:pt x="291962" y="313631"/>
                  <a:pt x="278983" y="304827"/>
                </a:cubicBezTo>
                <a:cubicBezTo>
                  <a:pt x="253946" y="288581"/>
                  <a:pt x="227351" y="274637"/>
                  <a:pt x="205273" y="254400"/>
                </a:cubicBezTo>
                <a:cubicBezTo>
                  <a:pt x="232701" y="211538"/>
                  <a:pt x="274533" y="178125"/>
                  <a:pt x="311212" y="143637"/>
                </a:cubicBezTo>
                <a:cubicBezTo>
                  <a:pt x="346993" y="110020"/>
                  <a:pt x="382796" y="76401"/>
                  <a:pt x="418643" y="42784"/>
                </a:cubicBezTo>
                <a:cubicBezTo>
                  <a:pt x="385098" y="142442"/>
                  <a:pt x="360170" y="244797"/>
                  <a:pt x="344143" y="348720"/>
                </a:cubicBezTo>
                <a:close/>
                <a:moveTo>
                  <a:pt x="55923" y="163172"/>
                </a:moveTo>
                <a:cubicBezTo>
                  <a:pt x="76620" y="147430"/>
                  <a:pt x="101087" y="137608"/>
                  <a:pt x="124481" y="126668"/>
                </a:cubicBezTo>
                <a:lnTo>
                  <a:pt x="197797" y="92378"/>
                </a:lnTo>
                <a:cubicBezTo>
                  <a:pt x="206238" y="88431"/>
                  <a:pt x="202379" y="74268"/>
                  <a:pt x="193412" y="78434"/>
                </a:cubicBezTo>
                <a:lnTo>
                  <a:pt x="116237" y="114478"/>
                </a:lnTo>
                <a:cubicBezTo>
                  <a:pt x="92954" y="125440"/>
                  <a:pt x="68661" y="135306"/>
                  <a:pt x="48052" y="150960"/>
                </a:cubicBezTo>
                <a:cubicBezTo>
                  <a:pt x="40532" y="156704"/>
                  <a:pt x="48096" y="169114"/>
                  <a:pt x="55923" y="163084"/>
                </a:cubicBezTo>
                <a:close/>
                <a:moveTo>
                  <a:pt x="41760" y="133684"/>
                </a:moveTo>
                <a:cubicBezTo>
                  <a:pt x="60198" y="122794"/>
                  <a:pt x="79119" y="112805"/>
                  <a:pt x="98479" y="103713"/>
                </a:cubicBezTo>
                <a:cubicBezTo>
                  <a:pt x="106919" y="99766"/>
                  <a:pt x="103061" y="85603"/>
                  <a:pt x="94094" y="89791"/>
                </a:cubicBezTo>
                <a:cubicBezTo>
                  <a:pt x="73528" y="99409"/>
                  <a:pt x="53467" y="109990"/>
                  <a:pt x="33889" y="121537"/>
                </a:cubicBezTo>
                <a:cubicBezTo>
                  <a:pt x="25689" y="126339"/>
                  <a:pt x="33341" y="138573"/>
                  <a:pt x="41760" y="133596"/>
                </a:cubicBezTo>
                <a:close/>
              </a:path>
            </a:pathLst>
          </a:custGeom>
          <a:solidFill>
            <a:srgbClr val="2b3547"/>
          </a:solidFill>
          <a:ln w="0">
            <a:no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 name="PlaceHolder 1"/>
          <p:cNvSpPr>
            <a:spLocks noGrp="1"/>
          </p:cNvSpPr>
          <p:nvPr>
            <p:ph type="title"/>
          </p:nvPr>
        </p:nvSpPr>
        <p:spPr>
          <a:xfrm>
            <a:off x="883080" y="682920"/>
            <a:ext cx="6425280" cy="395280"/>
          </a:xfrm>
          <a:prstGeom prst="rect">
            <a:avLst/>
          </a:prstGeom>
          <a:noFill/>
          <a:ln w="0">
            <a:noFill/>
          </a:ln>
        </p:spPr>
        <p:txBody>
          <a:bodyPr lIns="0" rIns="0" tIns="0" bIns="0" anchor="ctr">
            <a:noAutofit/>
          </a:bodyPr>
          <a:p>
            <a:pPr>
              <a:lnSpc>
                <a:spcPct val="90000"/>
              </a:lnSpc>
              <a:buNone/>
              <a:tabLst>
                <a:tab algn="l" pos="0"/>
              </a:tabLst>
            </a:pPr>
            <a:r>
              <a:rPr b="1" lang="en" sz="3400" spc="-1" strike="noStrike">
                <a:solidFill>
                  <a:srgbClr val="2b3547"/>
                </a:solidFill>
                <a:latin typeface="Amatic SC"/>
                <a:ea typeface="Amatic SC"/>
              </a:rPr>
              <a:t>Introduction</a:t>
            </a:r>
            <a:endParaRPr b="0" lang="en-US" sz="3400" spc="-1" strike="noStrike">
              <a:latin typeface="Arial"/>
            </a:endParaRPr>
          </a:p>
        </p:txBody>
      </p:sp>
      <p:sp>
        <p:nvSpPr>
          <p:cNvPr id="104" name="PlaceHolder 2"/>
          <p:cNvSpPr>
            <a:spLocks noGrp="1"/>
          </p:cNvSpPr>
          <p:nvPr>
            <p:ph/>
          </p:nvPr>
        </p:nvSpPr>
        <p:spPr>
          <a:xfrm>
            <a:off x="1187640" y="1505880"/>
            <a:ext cx="6425280" cy="2839320"/>
          </a:xfrm>
          <a:prstGeom prst="rect">
            <a:avLst/>
          </a:prstGeom>
          <a:noFill/>
          <a:ln w="0">
            <a:noFill/>
          </a:ln>
        </p:spPr>
        <p:txBody>
          <a:bodyPr lIns="0" rIns="0" tIns="0" bIns="0" anchor="t">
            <a:noAutofit/>
          </a:bodyPr>
          <a:p>
            <a:pPr marL="432000" indent="-324000">
              <a:lnSpc>
                <a:spcPct val="100000"/>
              </a:lnSpc>
              <a:spcBef>
                <a:spcPts val="1417"/>
              </a:spcBef>
              <a:buClr>
                <a:srgbClr val="000000"/>
              </a:buClr>
              <a:buSzPct val="45000"/>
              <a:buFont typeface="Wingdings" charset="2"/>
              <a:buChar char=""/>
            </a:pPr>
            <a:r>
              <a:rPr b="0" lang="en-US" sz="2600" spc="-1" strike="noStrike">
                <a:latin typeface="Arial"/>
              </a:rPr>
              <a:t>Data layer for cloud native applications, IoT messaging, and microservices architectures.</a:t>
            </a:r>
            <a:endParaRPr b="0" lang="en-US" sz="2600" spc="-1" strike="noStrike">
              <a:latin typeface="Arial"/>
            </a:endParaRPr>
          </a:p>
          <a:p>
            <a:pPr marL="432000" indent="-324000">
              <a:lnSpc>
                <a:spcPct val="100000"/>
              </a:lnSpc>
              <a:spcBef>
                <a:spcPts val="1417"/>
              </a:spcBef>
              <a:buClr>
                <a:srgbClr val="000000"/>
              </a:buClr>
              <a:buSzPct val="45000"/>
              <a:buFont typeface="Wingdings" charset="2"/>
              <a:buChar char=""/>
            </a:pPr>
            <a:r>
              <a:rPr b="0" lang="en-US" sz="2600" spc="-1" strike="noStrike">
                <a:latin typeface="Arial"/>
              </a:rPr>
              <a:t>It doesn't matter what language, protocol, or platform you are using; NATS is the best way to connect your services.</a:t>
            </a:r>
            <a:endParaRPr b="0" lang="en-US" sz="2600" spc="-1" strike="noStrike">
              <a:latin typeface="Arial"/>
            </a:endParaRPr>
          </a:p>
        </p:txBody>
      </p:sp>
      <p:sp>
        <p:nvSpPr>
          <p:cNvPr id="105" name="PlaceHolder 3"/>
          <p:cNvSpPr>
            <a:spLocks noGrp="1"/>
          </p:cNvSpPr>
          <p:nvPr>
            <p:ph type="sldNum" idx="3"/>
          </p:nvPr>
        </p:nvSpPr>
        <p:spPr>
          <a:xfrm>
            <a:off x="8403840" y="4692960"/>
            <a:ext cx="547560" cy="299160"/>
          </a:xfrm>
          <a:prstGeom prst="rect">
            <a:avLst/>
          </a:prstGeom>
          <a:noFill/>
          <a:ln w="0">
            <a:noFill/>
          </a:ln>
        </p:spPr>
        <p:txBody>
          <a:bodyPr lIns="0" rIns="0" tIns="0" bIns="0" anchor="ctr">
            <a:noAutofit/>
          </a:bodyPr>
          <a:lstStyle>
            <a:lvl1pPr algn="r">
              <a:lnSpc>
                <a:spcPct val="100000"/>
              </a:lnSpc>
              <a:buNone/>
              <a:tabLst>
                <a:tab algn="l" pos="0"/>
              </a:tabLst>
              <a:defRPr b="1" lang="en" sz="1500" spc="-1" strike="noStrike">
                <a:solidFill>
                  <a:srgbClr val="7f8b91"/>
                </a:solidFill>
                <a:latin typeface="Amatic SC"/>
                <a:ea typeface="Amatic SC"/>
              </a:defRPr>
            </a:lvl1pPr>
          </a:lstStyle>
          <a:p>
            <a:pPr algn="r">
              <a:lnSpc>
                <a:spcPct val="100000"/>
              </a:lnSpc>
              <a:buNone/>
              <a:tabLst>
                <a:tab algn="l" pos="0"/>
              </a:tabLst>
            </a:pPr>
            <a:fld id="{0B8E3012-FAAD-4012-8C13-DC8D5D59F1AE}" type="slidenum">
              <a:rPr b="1" lang="en" sz="1500" spc="-1" strike="noStrike">
                <a:solidFill>
                  <a:srgbClr val="7f8b91"/>
                </a:solidFill>
                <a:latin typeface="Amatic SC"/>
                <a:ea typeface="Amatic SC"/>
              </a:rPr>
              <a:t>&lt;number&gt;</a:t>
            </a:fld>
            <a:endParaRPr b="0" lang="en-US" sz="1500" spc="-1" strike="noStrike">
              <a:latin typeface="Times New Roman"/>
            </a:endParaRPr>
          </a:p>
        </p:txBody>
      </p:sp>
      <p:sp>
        <p:nvSpPr>
          <p:cNvPr id="106" name="Google Shape;228;p 23"/>
          <p:cNvSpPr/>
          <p:nvPr/>
        </p:nvSpPr>
        <p:spPr>
          <a:xfrm>
            <a:off x="7648200" y="3814560"/>
            <a:ext cx="936720" cy="834120"/>
          </a:xfrm>
          <a:custGeom>
            <a:avLst/>
            <a:gdLst/>
            <a:ahLst/>
            <a:rect l="l" t="t" r="r" b="b"/>
            <a:pathLst>
              <a:path w="444359" h="395938">
                <a:moveTo>
                  <a:pt x="135136" y="205311"/>
                </a:moveTo>
                <a:lnTo>
                  <a:pt x="101482" y="200356"/>
                </a:lnTo>
                <a:cubicBezTo>
                  <a:pt x="92405" y="199041"/>
                  <a:pt x="88788" y="213642"/>
                  <a:pt x="98347" y="215046"/>
                </a:cubicBezTo>
                <a:lnTo>
                  <a:pt x="132067" y="220001"/>
                </a:lnTo>
                <a:cubicBezTo>
                  <a:pt x="141056" y="221316"/>
                  <a:pt x="144673" y="206714"/>
                  <a:pt x="135136" y="205311"/>
                </a:cubicBezTo>
                <a:close/>
                <a:moveTo>
                  <a:pt x="293388" y="291650"/>
                </a:moveTo>
                <a:cubicBezTo>
                  <a:pt x="292554" y="295482"/>
                  <a:pt x="294966" y="299271"/>
                  <a:pt x="298803" y="300115"/>
                </a:cubicBezTo>
                <a:cubicBezTo>
                  <a:pt x="298869" y="300130"/>
                  <a:pt x="298935" y="300144"/>
                  <a:pt x="299001" y="300157"/>
                </a:cubicBezTo>
                <a:cubicBezTo>
                  <a:pt x="299373" y="300157"/>
                  <a:pt x="300711" y="300157"/>
                  <a:pt x="300930" y="300551"/>
                </a:cubicBezTo>
                <a:cubicBezTo>
                  <a:pt x="299921" y="300222"/>
                  <a:pt x="299790" y="300201"/>
                  <a:pt x="300535" y="300551"/>
                </a:cubicBezTo>
                <a:cubicBezTo>
                  <a:pt x="301280" y="300902"/>
                  <a:pt x="301456" y="300924"/>
                  <a:pt x="302267" y="301297"/>
                </a:cubicBezTo>
                <a:lnTo>
                  <a:pt x="302377" y="301297"/>
                </a:lnTo>
                <a:cubicBezTo>
                  <a:pt x="309919" y="308335"/>
                  <a:pt x="320267" y="297416"/>
                  <a:pt x="313142" y="290335"/>
                </a:cubicBezTo>
                <a:cubicBezTo>
                  <a:pt x="307573" y="285621"/>
                  <a:pt x="295756" y="281894"/>
                  <a:pt x="293388" y="291650"/>
                </a:cubicBezTo>
                <a:close/>
                <a:moveTo>
                  <a:pt x="285999" y="274110"/>
                </a:moveTo>
                <a:cubicBezTo>
                  <a:pt x="269973" y="263589"/>
                  <a:pt x="253310" y="254069"/>
                  <a:pt x="236099" y="245608"/>
                </a:cubicBezTo>
                <a:cubicBezTo>
                  <a:pt x="227833" y="241530"/>
                  <a:pt x="220752" y="255014"/>
                  <a:pt x="229346" y="259180"/>
                </a:cubicBezTo>
                <a:cubicBezTo>
                  <a:pt x="245439" y="267053"/>
                  <a:pt x="261027" y="275919"/>
                  <a:pt x="276002" y="285730"/>
                </a:cubicBezTo>
                <a:cubicBezTo>
                  <a:pt x="283697" y="290576"/>
                  <a:pt x="293738" y="279109"/>
                  <a:pt x="285999" y="274023"/>
                </a:cubicBezTo>
                <a:close/>
                <a:moveTo>
                  <a:pt x="433354" y="1544"/>
                </a:moveTo>
                <a:cubicBezTo>
                  <a:pt x="431162" y="3057"/>
                  <a:pt x="428970" y="4482"/>
                  <a:pt x="426908" y="5929"/>
                </a:cubicBezTo>
                <a:cubicBezTo>
                  <a:pt x="425220" y="5833"/>
                  <a:pt x="423554" y="6381"/>
                  <a:pt x="422239" y="7464"/>
                </a:cubicBezTo>
                <a:cubicBezTo>
                  <a:pt x="417854" y="10840"/>
                  <a:pt x="413469" y="14261"/>
                  <a:pt x="408952" y="17659"/>
                </a:cubicBezTo>
                <a:cubicBezTo>
                  <a:pt x="315904" y="75803"/>
                  <a:pt x="209197" y="106563"/>
                  <a:pt x="111195" y="154928"/>
                </a:cubicBezTo>
                <a:cubicBezTo>
                  <a:pt x="93853" y="163501"/>
                  <a:pt x="76773" y="172622"/>
                  <a:pt x="60089" y="182400"/>
                </a:cubicBezTo>
                <a:cubicBezTo>
                  <a:pt x="42549" y="192748"/>
                  <a:pt x="25141" y="203184"/>
                  <a:pt x="5146" y="208249"/>
                </a:cubicBezTo>
                <a:cubicBezTo>
                  <a:pt x="-1804" y="210003"/>
                  <a:pt x="-1147" y="218532"/>
                  <a:pt x="3743" y="221404"/>
                </a:cubicBezTo>
                <a:cubicBezTo>
                  <a:pt x="4707" y="222430"/>
                  <a:pt x="5979" y="223140"/>
                  <a:pt x="7360" y="223443"/>
                </a:cubicBezTo>
                <a:cubicBezTo>
                  <a:pt x="52371" y="234230"/>
                  <a:pt x="97777" y="242999"/>
                  <a:pt x="143621" y="249752"/>
                </a:cubicBezTo>
                <a:lnTo>
                  <a:pt x="143117" y="384961"/>
                </a:lnTo>
                <a:cubicBezTo>
                  <a:pt x="142854" y="387829"/>
                  <a:pt x="144717" y="390464"/>
                  <a:pt x="147502" y="391166"/>
                </a:cubicBezTo>
                <a:cubicBezTo>
                  <a:pt x="148620" y="393251"/>
                  <a:pt x="150615" y="394717"/>
                  <a:pt x="152939" y="395156"/>
                </a:cubicBezTo>
                <a:cubicBezTo>
                  <a:pt x="155855" y="396721"/>
                  <a:pt x="159473" y="395875"/>
                  <a:pt x="161402" y="393183"/>
                </a:cubicBezTo>
                <a:cubicBezTo>
                  <a:pt x="187777" y="361278"/>
                  <a:pt x="215797" y="330777"/>
                  <a:pt x="245351" y="301801"/>
                </a:cubicBezTo>
                <a:cubicBezTo>
                  <a:pt x="266464" y="313914"/>
                  <a:pt x="286394" y="328001"/>
                  <a:pt x="304854" y="343874"/>
                </a:cubicBezTo>
                <a:cubicBezTo>
                  <a:pt x="316496" y="353850"/>
                  <a:pt x="331712" y="356854"/>
                  <a:pt x="343266" y="366413"/>
                </a:cubicBezTo>
                <a:cubicBezTo>
                  <a:pt x="346533" y="371170"/>
                  <a:pt x="355500" y="370798"/>
                  <a:pt x="356553" y="363519"/>
                </a:cubicBezTo>
                <a:cubicBezTo>
                  <a:pt x="373083" y="243175"/>
                  <a:pt x="405510" y="125528"/>
                  <a:pt x="443593" y="10753"/>
                </a:cubicBezTo>
                <a:cubicBezTo>
                  <a:pt x="446618" y="4679"/>
                  <a:pt x="440173" y="-3323"/>
                  <a:pt x="433354" y="1457"/>
                </a:cubicBezTo>
                <a:close/>
                <a:moveTo>
                  <a:pt x="144959" y="232695"/>
                </a:moveTo>
                <a:cubicBezTo>
                  <a:pt x="144345" y="233234"/>
                  <a:pt x="143819" y="233863"/>
                  <a:pt x="143380" y="234558"/>
                </a:cubicBezTo>
                <a:cubicBezTo>
                  <a:pt x="106218" y="229033"/>
                  <a:pt x="69319" y="222164"/>
                  <a:pt x="32639" y="213949"/>
                </a:cubicBezTo>
                <a:cubicBezTo>
                  <a:pt x="52744" y="204895"/>
                  <a:pt x="71358" y="192134"/>
                  <a:pt x="90652" y="181720"/>
                </a:cubicBezTo>
                <a:cubicBezTo>
                  <a:pt x="170610" y="138682"/>
                  <a:pt x="257497" y="110816"/>
                  <a:pt x="339320" y="71856"/>
                </a:cubicBezTo>
                <a:cubicBezTo>
                  <a:pt x="273370" y="123978"/>
                  <a:pt x="208584" y="177592"/>
                  <a:pt x="144959" y="232695"/>
                </a:cubicBezTo>
                <a:close/>
                <a:moveTo>
                  <a:pt x="157938" y="358827"/>
                </a:moveTo>
                <a:lnTo>
                  <a:pt x="158376" y="242429"/>
                </a:lnTo>
                <a:cubicBezTo>
                  <a:pt x="158376" y="241688"/>
                  <a:pt x="158267" y="240949"/>
                  <a:pt x="158070" y="240237"/>
                </a:cubicBezTo>
                <a:cubicBezTo>
                  <a:pt x="232788" y="175691"/>
                  <a:pt x="309152" y="113147"/>
                  <a:pt x="387181" y="52607"/>
                </a:cubicBezTo>
                <a:lnTo>
                  <a:pt x="297159" y="137213"/>
                </a:lnTo>
                <a:cubicBezTo>
                  <a:pt x="259098" y="172972"/>
                  <a:pt x="217024" y="207372"/>
                  <a:pt x="189531" y="252405"/>
                </a:cubicBezTo>
                <a:cubicBezTo>
                  <a:pt x="188216" y="254240"/>
                  <a:pt x="188018" y="256658"/>
                  <a:pt x="189049" y="258675"/>
                </a:cubicBezTo>
                <a:cubicBezTo>
                  <a:pt x="189356" y="259691"/>
                  <a:pt x="189882" y="260620"/>
                  <a:pt x="190605" y="261394"/>
                </a:cubicBezTo>
                <a:cubicBezTo>
                  <a:pt x="181222" y="294369"/>
                  <a:pt x="170325" y="326817"/>
                  <a:pt x="157938" y="358739"/>
                </a:cubicBezTo>
                <a:close/>
                <a:moveTo>
                  <a:pt x="174535" y="355801"/>
                </a:moveTo>
                <a:cubicBezTo>
                  <a:pt x="184927" y="328323"/>
                  <a:pt x="194267" y="300479"/>
                  <a:pt x="202533" y="272269"/>
                </a:cubicBezTo>
                <a:cubicBezTo>
                  <a:pt x="212223" y="280124"/>
                  <a:pt x="222396" y="287379"/>
                  <a:pt x="232964" y="293996"/>
                </a:cubicBezTo>
                <a:cubicBezTo>
                  <a:pt x="212749" y="313844"/>
                  <a:pt x="193281" y="334418"/>
                  <a:pt x="174535" y="355713"/>
                </a:cubicBezTo>
                <a:close/>
                <a:moveTo>
                  <a:pt x="344143" y="348807"/>
                </a:moveTo>
                <a:cubicBezTo>
                  <a:pt x="334847" y="343743"/>
                  <a:pt x="324608" y="340432"/>
                  <a:pt x="316255" y="333460"/>
                </a:cubicBezTo>
                <a:cubicBezTo>
                  <a:pt x="304394" y="323193"/>
                  <a:pt x="291962" y="313631"/>
                  <a:pt x="278983" y="304827"/>
                </a:cubicBezTo>
                <a:cubicBezTo>
                  <a:pt x="253946" y="288581"/>
                  <a:pt x="227351" y="274637"/>
                  <a:pt x="205273" y="254400"/>
                </a:cubicBezTo>
                <a:cubicBezTo>
                  <a:pt x="232701" y="211538"/>
                  <a:pt x="274533" y="178125"/>
                  <a:pt x="311212" y="143637"/>
                </a:cubicBezTo>
                <a:cubicBezTo>
                  <a:pt x="346993" y="110020"/>
                  <a:pt x="382796" y="76401"/>
                  <a:pt x="418643" y="42784"/>
                </a:cubicBezTo>
                <a:cubicBezTo>
                  <a:pt x="385098" y="142442"/>
                  <a:pt x="360170" y="244797"/>
                  <a:pt x="344143" y="348720"/>
                </a:cubicBezTo>
                <a:close/>
                <a:moveTo>
                  <a:pt x="55923" y="163172"/>
                </a:moveTo>
                <a:cubicBezTo>
                  <a:pt x="76620" y="147430"/>
                  <a:pt x="101087" y="137608"/>
                  <a:pt x="124481" y="126668"/>
                </a:cubicBezTo>
                <a:lnTo>
                  <a:pt x="197797" y="92378"/>
                </a:lnTo>
                <a:cubicBezTo>
                  <a:pt x="206238" y="88431"/>
                  <a:pt x="202379" y="74268"/>
                  <a:pt x="193412" y="78434"/>
                </a:cubicBezTo>
                <a:lnTo>
                  <a:pt x="116237" y="114478"/>
                </a:lnTo>
                <a:cubicBezTo>
                  <a:pt x="92954" y="125440"/>
                  <a:pt x="68661" y="135306"/>
                  <a:pt x="48052" y="150960"/>
                </a:cubicBezTo>
                <a:cubicBezTo>
                  <a:pt x="40532" y="156704"/>
                  <a:pt x="48096" y="169114"/>
                  <a:pt x="55923" y="163084"/>
                </a:cubicBezTo>
                <a:close/>
                <a:moveTo>
                  <a:pt x="41760" y="133684"/>
                </a:moveTo>
                <a:cubicBezTo>
                  <a:pt x="60198" y="122794"/>
                  <a:pt x="79119" y="112805"/>
                  <a:pt x="98479" y="103713"/>
                </a:cubicBezTo>
                <a:cubicBezTo>
                  <a:pt x="106919" y="99766"/>
                  <a:pt x="103061" y="85603"/>
                  <a:pt x="94094" y="89791"/>
                </a:cubicBezTo>
                <a:cubicBezTo>
                  <a:pt x="73528" y="99409"/>
                  <a:pt x="53467" y="109990"/>
                  <a:pt x="33889" y="121537"/>
                </a:cubicBezTo>
                <a:cubicBezTo>
                  <a:pt x="25689" y="126339"/>
                  <a:pt x="33341" y="138573"/>
                  <a:pt x="41760" y="133596"/>
                </a:cubicBezTo>
                <a:close/>
              </a:path>
            </a:pathLst>
          </a:custGeom>
          <a:solidFill>
            <a:srgbClr val="2b3547"/>
          </a:solidFill>
          <a:ln w="0">
            <a:no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PlaceHolder 1"/>
          <p:cNvSpPr>
            <a:spLocks noGrp="1"/>
          </p:cNvSpPr>
          <p:nvPr>
            <p:ph type="title"/>
          </p:nvPr>
        </p:nvSpPr>
        <p:spPr>
          <a:xfrm>
            <a:off x="883080" y="682920"/>
            <a:ext cx="6425280" cy="395280"/>
          </a:xfrm>
          <a:prstGeom prst="rect">
            <a:avLst/>
          </a:prstGeom>
          <a:noFill/>
          <a:ln w="0">
            <a:noFill/>
          </a:ln>
        </p:spPr>
        <p:txBody>
          <a:bodyPr lIns="0" rIns="0" tIns="0" bIns="0" anchor="ctr">
            <a:noAutofit/>
          </a:bodyPr>
          <a:p>
            <a:pPr>
              <a:lnSpc>
                <a:spcPct val="90000"/>
              </a:lnSpc>
              <a:buNone/>
              <a:tabLst>
                <a:tab algn="l" pos="0"/>
              </a:tabLst>
            </a:pPr>
            <a:r>
              <a:rPr b="1" lang="en" sz="3400" spc="-1" strike="noStrike">
                <a:solidFill>
                  <a:srgbClr val="2b3547"/>
                </a:solidFill>
                <a:latin typeface="Amatic SC"/>
                <a:ea typeface="Amatic SC"/>
              </a:rPr>
              <a:t>Introduction</a:t>
            </a:r>
            <a:endParaRPr b="0" lang="en-US" sz="3400" spc="-1" strike="noStrike">
              <a:latin typeface="Arial"/>
            </a:endParaRPr>
          </a:p>
        </p:txBody>
      </p:sp>
      <p:sp>
        <p:nvSpPr>
          <p:cNvPr id="108" name="PlaceHolder 2"/>
          <p:cNvSpPr>
            <a:spLocks noGrp="1"/>
          </p:cNvSpPr>
          <p:nvPr>
            <p:ph/>
          </p:nvPr>
        </p:nvSpPr>
        <p:spPr>
          <a:xfrm>
            <a:off x="1187640" y="1505880"/>
            <a:ext cx="6425280" cy="2839320"/>
          </a:xfrm>
          <a:prstGeom prst="rect">
            <a:avLst/>
          </a:prstGeom>
          <a:noFill/>
          <a:ln w="0">
            <a:noFill/>
          </a:ln>
        </p:spPr>
        <p:txBody>
          <a:bodyPr lIns="0" rIns="0" tIns="0" bIns="0" anchor="t">
            <a:noAutofit/>
          </a:bodyPr>
          <a:p>
            <a:pPr algn="just">
              <a:lnSpc>
                <a:spcPct val="100000"/>
              </a:lnSpc>
              <a:buNone/>
            </a:pPr>
            <a:r>
              <a:rPr b="0" lang="en-US" sz="2200" spc="-1" strike="noStrike">
                <a:solidFill>
                  <a:srgbClr val="2b3547"/>
                </a:solidFill>
                <a:latin typeface="Nunito"/>
                <a:ea typeface="Nunito"/>
              </a:rPr>
              <a:t>For:</a:t>
            </a:r>
            <a:endParaRPr b="0" lang="en-US" sz="2200" spc="-1" strike="noStrike">
              <a:latin typeface="Arial"/>
            </a:endParaRPr>
          </a:p>
          <a:p>
            <a:pPr marL="216000" indent="-216000" algn="just">
              <a:lnSpc>
                <a:spcPct val="100000"/>
              </a:lnSpc>
              <a:buClr>
                <a:srgbClr val="000000"/>
              </a:buClr>
              <a:buSzPct val="45000"/>
              <a:buFont typeface="Wingdings" charset="2"/>
              <a:buChar char=""/>
            </a:pPr>
            <a:r>
              <a:rPr b="0" lang="en-US" sz="2200" spc="-1" strike="noStrike">
                <a:solidFill>
                  <a:srgbClr val="2b3547"/>
                </a:solidFill>
                <a:latin typeface="Nunito"/>
                <a:ea typeface="Nunito"/>
              </a:rPr>
              <a:t>Cloud native applications</a:t>
            </a:r>
            <a:endParaRPr b="0" lang="en-US" sz="2200" spc="-1" strike="noStrike">
              <a:latin typeface="Arial"/>
            </a:endParaRPr>
          </a:p>
          <a:p>
            <a:pPr marL="216000" indent="-216000" algn="just">
              <a:lnSpc>
                <a:spcPct val="100000"/>
              </a:lnSpc>
              <a:buClr>
                <a:srgbClr val="000000"/>
              </a:buClr>
              <a:buSzPct val="45000"/>
              <a:buFont typeface="Wingdings" charset="2"/>
              <a:buChar char=""/>
            </a:pPr>
            <a:r>
              <a:rPr b="0" lang="en-US" sz="2200" spc="-1" strike="noStrike">
                <a:solidFill>
                  <a:srgbClr val="2b3547"/>
                </a:solidFill>
                <a:latin typeface="Nunito"/>
                <a:ea typeface="Nunito"/>
              </a:rPr>
              <a:t>IoT messaging</a:t>
            </a:r>
            <a:endParaRPr b="0" lang="en-US" sz="2200" spc="-1" strike="noStrike">
              <a:latin typeface="Arial"/>
            </a:endParaRPr>
          </a:p>
          <a:p>
            <a:pPr marL="216000" indent="-216000" algn="just">
              <a:lnSpc>
                <a:spcPct val="100000"/>
              </a:lnSpc>
              <a:buClr>
                <a:srgbClr val="000000"/>
              </a:buClr>
              <a:buSzPct val="45000"/>
              <a:buFont typeface="Wingdings" charset="2"/>
              <a:buChar char=""/>
            </a:pPr>
            <a:r>
              <a:rPr b="0" lang="en-US" sz="2200" spc="-1" strike="noStrike">
                <a:solidFill>
                  <a:srgbClr val="2b3547"/>
                </a:solidFill>
                <a:latin typeface="Nunito"/>
                <a:ea typeface="Nunito"/>
              </a:rPr>
              <a:t>Microservices architectures</a:t>
            </a:r>
            <a:endParaRPr b="0" lang="en-US" sz="2200" spc="-1" strike="noStrike">
              <a:latin typeface="Arial"/>
            </a:endParaRPr>
          </a:p>
        </p:txBody>
      </p:sp>
      <p:sp>
        <p:nvSpPr>
          <p:cNvPr id="109" name="PlaceHolder 3"/>
          <p:cNvSpPr>
            <a:spLocks noGrp="1"/>
          </p:cNvSpPr>
          <p:nvPr>
            <p:ph type="sldNum" idx="4"/>
          </p:nvPr>
        </p:nvSpPr>
        <p:spPr>
          <a:xfrm>
            <a:off x="8403840" y="4692960"/>
            <a:ext cx="547560" cy="299160"/>
          </a:xfrm>
          <a:prstGeom prst="rect">
            <a:avLst/>
          </a:prstGeom>
          <a:noFill/>
          <a:ln w="0">
            <a:noFill/>
          </a:ln>
        </p:spPr>
        <p:txBody>
          <a:bodyPr lIns="0" rIns="0" tIns="0" bIns="0" anchor="ctr">
            <a:noAutofit/>
          </a:bodyPr>
          <a:lstStyle>
            <a:lvl1pPr algn="r">
              <a:lnSpc>
                <a:spcPct val="100000"/>
              </a:lnSpc>
              <a:buNone/>
              <a:tabLst>
                <a:tab algn="l" pos="0"/>
              </a:tabLst>
              <a:defRPr b="1" lang="en" sz="1500" spc="-1" strike="noStrike">
                <a:solidFill>
                  <a:srgbClr val="7f8b91"/>
                </a:solidFill>
                <a:latin typeface="Amatic SC"/>
                <a:ea typeface="Amatic SC"/>
              </a:defRPr>
            </a:lvl1pPr>
          </a:lstStyle>
          <a:p>
            <a:pPr algn="r">
              <a:lnSpc>
                <a:spcPct val="100000"/>
              </a:lnSpc>
              <a:buNone/>
              <a:tabLst>
                <a:tab algn="l" pos="0"/>
              </a:tabLst>
            </a:pPr>
            <a:fld id="{F8B7B1BA-2550-419D-A477-360A7ED44277}" type="slidenum">
              <a:rPr b="1" lang="en" sz="1500" spc="-1" strike="noStrike">
                <a:solidFill>
                  <a:srgbClr val="7f8b91"/>
                </a:solidFill>
                <a:latin typeface="Amatic SC"/>
                <a:ea typeface="Amatic SC"/>
              </a:rPr>
              <a:t>&lt;number&gt;</a:t>
            </a:fld>
            <a:endParaRPr b="0" lang="en-US" sz="1500" spc="-1" strike="noStrike">
              <a:latin typeface="Times New Roman"/>
            </a:endParaRPr>
          </a:p>
        </p:txBody>
      </p:sp>
      <p:sp>
        <p:nvSpPr>
          <p:cNvPr id="110" name="Google Shape;228;p 3"/>
          <p:cNvSpPr/>
          <p:nvPr/>
        </p:nvSpPr>
        <p:spPr>
          <a:xfrm>
            <a:off x="7648200" y="3814560"/>
            <a:ext cx="936720" cy="834120"/>
          </a:xfrm>
          <a:custGeom>
            <a:avLst/>
            <a:gdLst/>
            <a:ahLst/>
            <a:rect l="l" t="t" r="r" b="b"/>
            <a:pathLst>
              <a:path w="444359" h="395938">
                <a:moveTo>
                  <a:pt x="135136" y="205311"/>
                </a:moveTo>
                <a:lnTo>
                  <a:pt x="101482" y="200356"/>
                </a:lnTo>
                <a:cubicBezTo>
                  <a:pt x="92405" y="199041"/>
                  <a:pt x="88788" y="213642"/>
                  <a:pt x="98347" y="215046"/>
                </a:cubicBezTo>
                <a:lnTo>
                  <a:pt x="132067" y="220001"/>
                </a:lnTo>
                <a:cubicBezTo>
                  <a:pt x="141056" y="221316"/>
                  <a:pt x="144673" y="206714"/>
                  <a:pt x="135136" y="205311"/>
                </a:cubicBezTo>
                <a:close/>
                <a:moveTo>
                  <a:pt x="293388" y="291650"/>
                </a:moveTo>
                <a:cubicBezTo>
                  <a:pt x="292554" y="295482"/>
                  <a:pt x="294966" y="299271"/>
                  <a:pt x="298803" y="300115"/>
                </a:cubicBezTo>
                <a:cubicBezTo>
                  <a:pt x="298869" y="300130"/>
                  <a:pt x="298935" y="300144"/>
                  <a:pt x="299001" y="300157"/>
                </a:cubicBezTo>
                <a:cubicBezTo>
                  <a:pt x="299373" y="300157"/>
                  <a:pt x="300711" y="300157"/>
                  <a:pt x="300930" y="300551"/>
                </a:cubicBezTo>
                <a:cubicBezTo>
                  <a:pt x="299921" y="300222"/>
                  <a:pt x="299790" y="300201"/>
                  <a:pt x="300535" y="300551"/>
                </a:cubicBezTo>
                <a:cubicBezTo>
                  <a:pt x="301280" y="300902"/>
                  <a:pt x="301456" y="300924"/>
                  <a:pt x="302267" y="301297"/>
                </a:cubicBezTo>
                <a:lnTo>
                  <a:pt x="302377" y="301297"/>
                </a:lnTo>
                <a:cubicBezTo>
                  <a:pt x="309919" y="308335"/>
                  <a:pt x="320267" y="297416"/>
                  <a:pt x="313142" y="290335"/>
                </a:cubicBezTo>
                <a:cubicBezTo>
                  <a:pt x="307573" y="285621"/>
                  <a:pt x="295756" y="281894"/>
                  <a:pt x="293388" y="291650"/>
                </a:cubicBezTo>
                <a:close/>
                <a:moveTo>
                  <a:pt x="285999" y="274110"/>
                </a:moveTo>
                <a:cubicBezTo>
                  <a:pt x="269973" y="263589"/>
                  <a:pt x="253310" y="254069"/>
                  <a:pt x="236099" y="245608"/>
                </a:cubicBezTo>
                <a:cubicBezTo>
                  <a:pt x="227833" y="241530"/>
                  <a:pt x="220752" y="255014"/>
                  <a:pt x="229346" y="259180"/>
                </a:cubicBezTo>
                <a:cubicBezTo>
                  <a:pt x="245439" y="267053"/>
                  <a:pt x="261027" y="275919"/>
                  <a:pt x="276002" y="285730"/>
                </a:cubicBezTo>
                <a:cubicBezTo>
                  <a:pt x="283697" y="290576"/>
                  <a:pt x="293738" y="279109"/>
                  <a:pt x="285999" y="274023"/>
                </a:cubicBezTo>
                <a:close/>
                <a:moveTo>
                  <a:pt x="433354" y="1544"/>
                </a:moveTo>
                <a:cubicBezTo>
                  <a:pt x="431162" y="3057"/>
                  <a:pt x="428970" y="4482"/>
                  <a:pt x="426908" y="5929"/>
                </a:cubicBezTo>
                <a:cubicBezTo>
                  <a:pt x="425220" y="5833"/>
                  <a:pt x="423554" y="6381"/>
                  <a:pt x="422239" y="7464"/>
                </a:cubicBezTo>
                <a:cubicBezTo>
                  <a:pt x="417854" y="10840"/>
                  <a:pt x="413469" y="14261"/>
                  <a:pt x="408952" y="17659"/>
                </a:cubicBezTo>
                <a:cubicBezTo>
                  <a:pt x="315904" y="75803"/>
                  <a:pt x="209197" y="106563"/>
                  <a:pt x="111195" y="154928"/>
                </a:cubicBezTo>
                <a:cubicBezTo>
                  <a:pt x="93853" y="163501"/>
                  <a:pt x="76773" y="172622"/>
                  <a:pt x="60089" y="182400"/>
                </a:cubicBezTo>
                <a:cubicBezTo>
                  <a:pt x="42549" y="192748"/>
                  <a:pt x="25141" y="203184"/>
                  <a:pt x="5146" y="208249"/>
                </a:cubicBezTo>
                <a:cubicBezTo>
                  <a:pt x="-1804" y="210003"/>
                  <a:pt x="-1147" y="218532"/>
                  <a:pt x="3743" y="221404"/>
                </a:cubicBezTo>
                <a:cubicBezTo>
                  <a:pt x="4707" y="222430"/>
                  <a:pt x="5979" y="223140"/>
                  <a:pt x="7360" y="223443"/>
                </a:cubicBezTo>
                <a:cubicBezTo>
                  <a:pt x="52371" y="234230"/>
                  <a:pt x="97777" y="242999"/>
                  <a:pt x="143621" y="249752"/>
                </a:cubicBezTo>
                <a:lnTo>
                  <a:pt x="143117" y="384961"/>
                </a:lnTo>
                <a:cubicBezTo>
                  <a:pt x="142854" y="387829"/>
                  <a:pt x="144717" y="390464"/>
                  <a:pt x="147502" y="391166"/>
                </a:cubicBezTo>
                <a:cubicBezTo>
                  <a:pt x="148620" y="393251"/>
                  <a:pt x="150615" y="394717"/>
                  <a:pt x="152939" y="395156"/>
                </a:cubicBezTo>
                <a:cubicBezTo>
                  <a:pt x="155855" y="396721"/>
                  <a:pt x="159473" y="395875"/>
                  <a:pt x="161402" y="393183"/>
                </a:cubicBezTo>
                <a:cubicBezTo>
                  <a:pt x="187777" y="361278"/>
                  <a:pt x="215797" y="330777"/>
                  <a:pt x="245351" y="301801"/>
                </a:cubicBezTo>
                <a:cubicBezTo>
                  <a:pt x="266464" y="313914"/>
                  <a:pt x="286394" y="328001"/>
                  <a:pt x="304854" y="343874"/>
                </a:cubicBezTo>
                <a:cubicBezTo>
                  <a:pt x="316496" y="353850"/>
                  <a:pt x="331712" y="356854"/>
                  <a:pt x="343266" y="366413"/>
                </a:cubicBezTo>
                <a:cubicBezTo>
                  <a:pt x="346533" y="371170"/>
                  <a:pt x="355500" y="370798"/>
                  <a:pt x="356553" y="363519"/>
                </a:cubicBezTo>
                <a:cubicBezTo>
                  <a:pt x="373083" y="243175"/>
                  <a:pt x="405510" y="125528"/>
                  <a:pt x="443593" y="10753"/>
                </a:cubicBezTo>
                <a:cubicBezTo>
                  <a:pt x="446618" y="4679"/>
                  <a:pt x="440173" y="-3323"/>
                  <a:pt x="433354" y="1457"/>
                </a:cubicBezTo>
                <a:close/>
                <a:moveTo>
                  <a:pt x="144959" y="232695"/>
                </a:moveTo>
                <a:cubicBezTo>
                  <a:pt x="144345" y="233234"/>
                  <a:pt x="143819" y="233863"/>
                  <a:pt x="143380" y="234558"/>
                </a:cubicBezTo>
                <a:cubicBezTo>
                  <a:pt x="106218" y="229033"/>
                  <a:pt x="69319" y="222164"/>
                  <a:pt x="32639" y="213949"/>
                </a:cubicBezTo>
                <a:cubicBezTo>
                  <a:pt x="52744" y="204895"/>
                  <a:pt x="71358" y="192134"/>
                  <a:pt x="90652" y="181720"/>
                </a:cubicBezTo>
                <a:cubicBezTo>
                  <a:pt x="170610" y="138682"/>
                  <a:pt x="257497" y="110816"/>
                  <a:pt x="339320" y="71856"/>
                </a:cubicBezTo>
                <a:cubicBezTo>
                  <a:pt x="273370" y="123978"/>
                  <a:pt x="208584" y="177592"/>
                  <a:pt x="144959" y="232695"/>
                </a:cubicBezTo>
                <a:close/>
                <a:moveTo>
                  <a:pt x="157938" y="358827"/>
                </a:moveTo>
                <a:lnTo>
                  <a:pt x="158376" y="242429"/>
                </a:lnTo>
                <a:cubicBezTo>
                  <a:pt x="158376" y="241688"/>
                  <a:pt x="158267" y="240949"/>
                  <a:pt x="158070" y="240237"/>
                </a:cubicBezTo>
                <a:cubicBezTo>
                  <a:pt x="232788" y="175691"/>
                  <a:pt x="309152" y="113147"/>
                  <a:pt x="387181" y="52607"/>
                </a:cubicBezTo>
                <a:lnTo>
                  <a:pt x="297159" y="137213"/>
                </a:lnTo>
                <a:cubicBezTo>
                  <a:pt x="259098" y="172972"/>
                  <a:pt x="217024" y="207372"/>
                  <a:pt x="189531" y="252405"/>
                </a:cubicBezTo>
                <a:cubicBezTo>
                  <a:pt x="188216" y="254240"/>
                  <a:pt x="188018" y="256658"/>
                  <a:pt x="189049" y="258675"/>
                </a:cubicBezTo>
                <a:cubicBezTo>
                  <a:pt x="189356" y="259691"/>
                  <a:pt x="189882" y="260620"/>
                  <a:pt x="190605" y="261394"/>
                </a:cubicBezTo>
                <a:cubicBezTo>
                  <a:pt x="181222" y="294369"/>
                  <a:pt x="170325" y="326817"/>
                  <a:pt x="157938" y="358739"/>
                </a:cubicBezTo>
                <a:close/>
                <a:moveTo>
                  <a:pt x="174535" y="355801"/>
                </a:moveTo>
                <a:cubicBezTo>
                  <a:pt x="184927" y="328323"/>
                  <a:pt x="194267" y="300479"/>
                  <a:pt x="202533" y="272269"/>
                </a:cubicBezTo>
                <a:cubicBezTo>
                  <a:pt x="212223" y="280124"/>
                  <a:pt x="222396" y="287379"/>
                  <a:pt x="232964" y="293996"/>
                </a:cubicBezTo>
                <a:cubicBezTo>
                  <a:pt x="212749" y="313844"/>
                  <a:pt x="193281" y="334418"/>
                  <a:pt x="174535" y="355713"/>
                </a:cubicBezTo>
                <a:close/>
                <a:moveTo>
                  <a:pt x="344143" y="348807"/>
                </a:moveTo>
                <a:cubicBezTo>
                  <a:pt x="334847" y="343743"/>
                  <a:pt x="324608" y="340432"/>
                  <a:pt x="316255" y="333460"/>
                </a:cubicBezTo>
                <a:cubicBezTo>
                  <a:pt x="304394" y="323193"/>
                  <a:pt x="291962" y="313631"/>
                  <a:pt x="278983" y="304827"/>
                </a:cubicBezTo>
                <a:cubicBezTo>
                  <a:pt x="253946" y="288581"/>
                  <a:pt x="227351" y="274637"/>
                  <a:pt x="205273" y="254400"/>
                </a:cubicBezTo>
                <a:cubicBezTo>
                  <a:pt x="232701" y="211538"/>
                  <a:pt x="274533" y="178125"/>
                  <a:pt x="311212" y="143637"/>
                </a:cubicBezTo>
                <a:cubicBezTo>
                  <a:pt x="346993" y="110020"/>
                  <a:pt x="382796" y="76401"/>
                  <a:pt x="418643" y="42784"/>
                </a:cubicBezTo>
                <a:cubicBezTo>
                  <a:pt x="385098" y="142442"/>
                  <a:pt x="360170" y="244797"/>
                  <a:pt x="344143" y="348720"/>
                </a:cubicBezTo>
                <a:close/>
                <a:moveTo>
                  <a:pt x="55923" y="163172"/>
                </a:moveTo>
                <a:cubicBezTo>
                  <a:pt x="76620" y="147430"/>
                  <a:pt x="101087" y="137608"/>
                  <a:pt x="124481" y="126668"/>
                </a:cubicBezTo>
                <a:lnTo>
                  <a:pt x="197797" y="92378"/>
                </a:lnTo>
                <a:cubicBezTo>
                  <a:pt x="206238" y="88431"/>
                  <a:pt x="202379" y="74268"/>
                  <a:pt x="193412" y="78434"/>
                </a:cubicBezTo>
                <a:lnTo>
                  <a:pt x="116237" y="114478"/>
                </a:lnTo>
                <a:cubicBezTo>
                  <a:pt x="92954" y="125440"/>
                  <a:pt x="68661" y="135306"/>
                  <a:pt x="48052" y="150960"/>
                </a:cubicBezTo>
                <a:cubicBezTo>
                  <a:pt x="40532" y="156704"/>
                  <a:pt x="48096" y="169114"/>
                  <a:pt x="55923" y="163084"/>
                </a:cubicBezTo>
                <a:close/>
                <a:moveTo>
                  <a:pt x="41760" y="133684"/>
                </a:moveTo>
                <a:cubicBezTo>
                  <a:pt x="60198" y="122794"/>
                  <a:pt x="79119" y="112805"/>
                  <a:pt x="98479" y="103713"/>
                </a:cubicBezTo>
                <a:cubicBezTo>
                  <a:pt x="106919" y="99766"/>
                  <a:pt x="103061" y="85603"/>
                  <a:pt x="94094" y="89791"/>
                </a:cubicBezTo>
                <a:cubicBezTo>
                  <a:pt x="73528" y="99409"/>
                  <a:pt x="53467" y="109990"/>
                  <a:pt x="33889" y="121537"/>
                </a:cubicBezTo>
                <a:cubicBezTo>
                  <a:pt x="25689" y="126339"/>
                  <a:pt x="33341" y="138573"/>
                  <a:pt x="41760" y="133596"/>
                </a:cubicBezTo>
                <a:close/>
              </a:path>
            </a:pathLst>
          </a:custGeom>
          <a:solidFill>
            <a:srgbClr val="2b3547"/>
          </a:solidFill>
          <a:ln w="0">
            <a:no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PlaceHolder 1"/>
          <p:cNvSpPr>
            <a:spLocks noGrp="1"/>
          </p:cNvSpPr>
          <p:nvPr>
            <p:ph type="title"/>
          </p:nvPr>
        </p:nvSpPr>
        <p:spPr>
          <a:xfrm>
            <a:off x="883080" y="682920"/>
            <a:ext cx="6425280" cy="395280"/>
          </a:xfrm>
          <a:prstGeom prst="rect">
            <a:avLst/>
          </a:prstGeom>
          <a:noFill/>
          <a:ln w="0">
            <a:noFill/>
          </a:ln>
        </p:spPr>
        <p:txBody>
          <a:bodyPr lIns="0" rIns="0" tIns="0" bIns="0" anchor="ctr">
            <a:noAutofit/>
          </a:bodyPr>
          <a:p>
            <a:pPr>
              <a:lnSpc>
                <a:spcPct val="90000"/>
              </a:lnSpc>
              <a:buNone/>
              <a:tabLst>
                <a:tab algn="l" pos="0"/>
              </a:tabLst>
            </a:pPr>
            <a:r>
              <a:rPr b="1" lang="en" sz="3400" spc="-1" strike="noStrike">
                <a:solidFill>
                  <a:srgbClr val="2b3547"/>
                </a:solidFill>
                <a:latin typeface="Amatic SC"/>
                <a:ea typeface="Amatic SC"/>
              </a:rPr>
              <a:t>Introduction</a:t>
            </a:r>
            <a:endParaRPr b="0" lang="en-US" sz="3400" spc="-1" strike="noStrike">
              <a:latin typeface="Arial"/>
            </a:endParaRPr>
          </a:p>
        </p:txBody>
      </p:sp>
      <p:sp>
        <p:nvSpPr>
          <p:cNvPr id="112" name="PlaceHolder 2"/>
          <p:cNvSpPr>
            <a:spLocks noGrp="1"/>
          </p:cNvSpPr>
          <p:nvPr>
            <p:ph/>
          </p:nvPr>
        </p:nvSpPr>
        <p:spPr>
          <a:xfrm>
            <a:off x="1187640" y="1505880"/>
            <a:ext cx="6425280" cy="2839320"/>
          </a:xfrm>
          <a:prstGeom prst="rect">
            <a:avLst/>
          </a:prstGeom>
          <a:noFill/>
          <a:ln w="0">
            <a:noFill/>
          </a:ln>
        </p:spPr>
        <p:txBody>
          <a:bodyPr lIns="0" rIns="0" tIns="0" bIns="0" anchor="t">
            <a:noAutofit/>
          </a:bodyPr>
          <a:p>
            <a:pPr lvl="1" marL="864000" indent="-324000" algn="just">
              <a:lnSpc>
                <a:spcPct val="100000"/>
              </a:lnSpc>
              <a:spcBef>
                <a:spcPts val="1128"/>
              </a:spcBef>
              <a:buClr>
                <a:srgbClr val="000000"/>
              </a:buClr>
              <a:buSzPct val="75000"/>
              <a:buFont typeface="Symbol"/>
              <a:buChar char=""/>
            </a:pPr>
            <a:r>
              <a:rPr b="0" lang="en-US" sz="2200" spc="-1" strike="noStrike">
                <a:solidFill>
                  <a:srgbClr val="2b3547"/>
                </a:solidFill>
                <a:latin typeface="Nunito"/>
                <a:ea typeface="Nunito"/>
              </a:rPr>
              <a:t>Publish and subscribe to messages at millions of messages per second. At most once delivery.</a:t>
            </a:r>
            <a:endParaRPr b="0" lang="en-US" sz="2200" spc="-1" strike="noStrike">
              <a:latin typeface="Arial"/>
            </a:endParaRPr>
          </a:p>
          <a:p>
            <a:pPr lvl="1" marL="864000" indent="-324000" algn="just">
              <a:lnSpc>
                <a:spcPct val="100000"/>
              </a:lnSpc>
              <a:spcBef>
                <a:spcPts val="1128"/>
              </a:spcBef>
              <a:buClr>
                <a:srgbClr val="000000"/>
              </a:buClr>
              <a:buSzPct val="75000"/>
              <a:buFont typeface="Symbol"/>
              <a:buChar char=""/>
            </a:pPr>
            <a:r>
              <a:rPr b="0" lang="en-US" sz="2200" spc="-1" strike="noStrike">
                <a:solidFill>
                  <a:srgbClr val="2b3547"/>
                </a:solidFill>
                <a:latin typeface="Nunito"/>
                <a:ea typeface="Nunito"/>
              </a:rPr>
              <a:t>Supports fan-in/out delivery patterns</a:t>
            </a:r>
            <a:endParaRPr b="0" lang="en-US" sz="2200" spc="-1" strike="noStrike">
              <a:latin typeface="Arial"/>
            </a:endParaRPr>
          </a:p>
          <a:p>
            <a:pPr lvl="1" marL="864000" indent="-324000" algn="just">
              <a:lnSpc>
                <a:spcPct val="100000"/>
              </a:lnSpc>
              <a:spcBef>
                <a:spcPts val="1128"/>
              </a:spcBef>
              <a:buClr>
                <a:srgbClr val="000000"/>
              </a:buClr>
              <a:buSzPct val="75000"/>
              <a:buFont typeface="Symbol"/>
              <a:buChar char=""/>
            </a:pPr>
            <a:r>
              <a:rPr b="0" lang="en-US" sz="2200" spc="-1" strike="noStrike">
                <a:solidFill>
                  <a:srgbClr val="2b3547"/>
                </a:solidFill>
                <a:latin typeface="Nunito"/>
                <a:ea typeface="Nunito"/>
              </a:rPr>
              <a:t>Request/reply</a:t>
            </a:r>
            <a:endParaRPr b="0" lang="en-US" sz="2200" spc="-1" strike="noStrike">
              <a:latin typeface="Arial"/>
            </a:endParaRPr>
          </a:p>
          <a:p>
            <a:pPr lvl="1" marL="864000" indent="-324000" algn="just">
              <a:lnSpc>
                <a:spcPct val="100000"/>
              </a:lnSpc>
              <a:spcBef>
                <a:spcPts val="1128"/>
              </a:spcBef>
              <a:buClr>
                <a:srgbClr val="000000"/>
              </a:buClr>
              <a:buSzPct val="75000"/>
              <a:buFont typeface="Symbol"/>
              <a:buChar char=""/>
            </a:pPr>
            <a:r>
              <a:rPr b="0" lang="en-US" sz="2200" spc="-1" strike="noStrike">
                <a:solidFill>
                  <a:srgbClr val="2b3547"/>
                </a:solidFill>
                <a:latin typeface="Nunito"/>
                <a:ea typeface="Nunito"/>
              </a:rPr>
              <a:t>Every major language is supported</a:t>
            </a:r>
            <a:endParaRPr b="0" lang="en-US" sz="2200" spc="-1" strike="noStrike">
              <a:latin typeface="Arial"/>
            </a:endParaRPr>
          </a:p>
        </p:txBody>
      </p:sp>
      <p:sp>
        <p:nvSpPr>
          <p:cNvPr id="113" name="PlaceHolder 3"/>
          <p:cNvSpPr>
            <a:spLocks noGrp="1"/>
          </p:cNvSpPr>
          <p:nvPr>
            <p:ph type="sldNum" idx="5"/>
          </p:nvPr>
        </p:nvSpPr>
        <p:spPr>
          <a:xfrm>
            <a:off x="8403840" y="4692960"/>
            <a:ext cx="547560" cy="299160"/>
          </a:xfrm>
          <a:prstGeom prst="rect">
            <a:avLst/>
          </a:prstGeom>
          <a:noFill/>
          <a:ln w="0">
            <a:noFill/>
          </a:ln>
        </p:spPr>
        <p:txBody>
          <a:bodyPr lIns="0" rIns="0" tIns="0" bIns="0" anchor="ctr">
            <a:noAutofit/>
          </a:bodyPr>
          <a:lstStyle>
            <a:lvl1pPr algn="r">
              <a:lnSpc>
                <a:spcPct val="100000"/>
              </a:lnSpc>
              <a:buNone/>
              <a:tabLst>
                <a:tab algn="l" pos="0"/>
              </a:tabLst>
              <a:defRPr b="1" lang="en" sz="1500" spc="-1" strike="noStrike">
                <a:solidFill>
                  <a:srgbClr val="7f8b91"/>
                </a:solidFill>
                <a:latin typeface="Amatic SC"/>
                <a:ea typeface="Amatic SC"/>
              </a:defRPr>
            </a:lvl1pPr>
          </a:lstStyle>
          <a:p>
            <a:pPr algn="r">
              <a:lnSpc>
                <a:spcPct val="100000"/>
              </a:lnSpc>
              <a:buNone/>
              <a:tabLst>
                <a:tab algn="l" pos="0"/>
              </a:tabLst>
            </a:pPr>
            <a:fld id="{F570D5DA-17B1-4839-A5C2-3BD984E86F2C}" type="slidenum">
              <a:rPr b="1" lang="en" sz="1500" spc="-1" strike="noStrike">
                <a:solidFill>
                  <a:srgbClr val="7f8b91"/>
                </a:solidFill>
                <a:latin typeface="Amatic SC"/>
                <a:ea typeface="Amatic SC"/>
              </a:rPr>
              <a:t>&lt;number&gt;</a:t>
            </a:fld>
            <a:endParaRPr b="0" lang="en-US" sz="1500" spc="-1" strike="noStrike">
              <a:latin typeface="Times New Roman"/>
            </a:endParaRPr>
          </a:p>
        </p:txBody>
      </p:sp>
      <p:sp>
        <p:nvSpPr>
          <p:cNvPr id="114" name="Google Shape;228;p 2"/>
          <p:cNvSpPr/>
          <p:nvPr/>
        </p:nvSpPr>
        <p:spPr>
          <a:xfrm>
            <a:off x="7648200" y="3814560"/>
            <a:ext cx="936720" cy="834120"/>
          </a:xfrm>
          <a:custGeom>
            <a:avLst/>
            <a:gdLst/>
            <a:ahLst/>
            <a:rect l="l" t="t" r="r" b="b"/>
            <a:pathLst>
              <a:path w="444359" h="395938">
                <a:moveTo>
                  <a:pt x="135136" y="205311"/>
                </a:moveTo>
                <a:lnTo>
                  <a:pt x="101482" y="200356"/>
                </a:lnTo>
                <a:cubicBezTo>
                  <a:pt x="92405" y="199041"/>
                  <a:pt x="88788" y="213642"/>
                  <a:pt x="98347" y="215046"/>
                </a:cubicBezTo>
                <a:lnTo>
                  <a:pt x="132067" y="220001"/>
                </a:lnTo>
                <a:cubicBezTo>
                  <a:pt x="141056" y="221316"/>
                  <a:pt x="144673" y="206714"/>
                  <a:pt x="135136" y="205311"/>
                </a:cubicBezTo>
                <a:close/>
                <a:moveTo>
                  <a:pt x="293388" y="291650"/>
                </a:moveTo>
                <a:cubicBezTo>
                  <a:pt x="292554" y="295482"/>
                  <a:pt x="294966" y="299271"/>
                  <a:pt x="298803" y="300115"/>
                </a:cubicBezTo>
                <a:cubicBezTo>
                  <a:pt x="298869" y="300130"/>
                  <a:pt x="298935" y="300144"/>
                  <a:pt x="299001" y="300157"/>
                </a:cubicBezTo>
                <a:cubicBezTo>
                  <a:pt x="299373" y="300157"/>
                  <a:pt x="300711" y="300157"/>
                  <a:pt x="300930" y="300551"/>
                </a:cubicBezTo>
                <a:cubicBezTo>
                  <a:pt x="299921" y="300222"/>
                  <a:pt x="299790" y="300201"/>
                  <a:pt x="300535" y="300551"/>
                </a:cubicBezTo>
                <a:cubicBezTo>
                  <a:pt x="301280" y="300902"/>
                  <a:pt x="301456" y="300924"/>
                  <a:pt x="302267" y="301297"/>
                </a:cubicBezTo>
                <a:lnTo>
                  <a:pt x="302377" y="301297"/>
                </a:lnTo>
                <a:cubicBezTo>
                  <a:pt x="309919" y="308335"/>
                  <a:pt x="320267" y="297416"/>
                  <a:pt x="313142" y="290335"/>
                </a:cubicBezTo>
                <a:cubicBezTo>
                  <a:pt x="307573" y="285621"/>
                  <a:pt x="295756" y="281894"/>
                  <a:pt x="293388" y="291650"/>
                </a:cubicBezTo>
                <a:close/>
                <a:moveTo>
                  <a:pt x="285999" y="274110"/>
                </a:moveTo>
                <a:cubicBezTo>
                  <a:pt x="269973" y="263589"/>
                  <a:pt x="253310" y="254069"/>
                  <a:pt x="236099" y="245608"/>
                </a:cubicBezTo>
                <a:cubicBezTo>
                  <a:pt x="227833" y="241530"/>
                  <a:pt x="220752" y="255014"/>
                  <a:pt x="229346" y="259180"/>
                </a:cubicBezTo>
                <a:cubicBezTo>
                  <a:pt x="245439" y="267053"/>
                  <a:pt x="261027" y="275919"/>
                  <a:pt x="276002" y="285730"/>
                </a:cubicBezTo>
                <a:cubicBezTo>
                  <a:pt x="283697" y="290576"/>
                  <a:pt x="293738" y="279109"/>
                  <a:pt x="285999" y="274023"/>
                </a:cubicBezTo>
                <a:close/>
                <a:moveTo>
                  <a:pt x="433354" y="1544"/>
                </a:moveTo>
                <a:cubicBezTo>
                  <a:pt x="431162" y="3057"/>
                  <a:pt x="428970" y="4482"/>
                  <a:pt x="426908" y="5929"/>
                </a:cubicBezTo>
                <a:cubicBezTo>
                  <a:pt x="425220" y="5833"/>
                  <a:pt x="423554" y="6381"/>
                  <a:pt x="422239" y="7464"/>
                </a:cubicBezTo>
                <a:cubicBezTo>
                  <a:pt x="417854" y="10840"/>
                  <a:pt x="413469" y="14261"/>
                  <a:pt x="408952" y="17659"/>
                </a:cubicBezTo>
                <a:cubicBezTo>
                  <a:pt x="315904" y="75803"/>
                  <a:pt x="209197" y="106563"/>
                  <a:pt x="111195" y="154928"/>
                </a:cubicBezTo>
                <a:cubicBezTo>
                  <a:pt x="93853" y="163501"/>
                  <a:pt x="76773" y="172622"/>
                  <a:pt x="60089" y="182400"/>
                </a:cubicBezTo>
                <a:cubicBezTo>
                  <a:pt x="42549" y="192748"/>
                  <a:pt x="25141" y="203184"/>
                  <a:pt x="5146" y="208249"/>
                </a:cubicBezTo>
                <a:cubicBezTo>
                  <a:pt x="-1804" y="210003"/>
                  <a:pt x="-1147" y="218532"/>
                  <a:pt x="3743" y="221404"/>
                </a:cubicBezTo>
                <a:cubicBezTo>
                  <a:pt x="4707" y="222430"/>
                  <a:pt x="5979" y="223140"/>
                  <a:pt x="7360" y="223443"/>
                </a:cubicBezTo>
                <a:cubicBezTo>
                  <a:pt x="52371" y="234230"/>
                  <a:pt x="97777" y="242999"/>
                  <a:pt x="143621" y="249752"/>
                </a:cubicBezTo>
                <a:lnTo>
                  <a:pt x="143117" y="384961"/>
                </a:lnTo>
                <a:cubicBezTo>
                  <a:pt x="142854" y="387829"/>
                  <a:pt x="144717" y="390464"/>
                  <a:pt x="147502" y="391166"/>
                </a:cubicBezTo>
                <a:cubicBezTo>
                  <a:pt x="148620" y="393251"/>
                  <a:pt x="150615" y="394717"/>
                  <a:pt x="152939" y="395156"/>
                </a:cubicBezTo>
                <a:cubicBezTo>
                  <a:pt x="155855" y="396721"/>
                  <a:pt x="159473" y="395875"/>
                  <a:pt x="161402" y="393183"/>
                </a:cubicBezTo>
                <a:cubicBezTo>
                  <a:pt x="187777" y="361278"/>
                  <a:pt x="215797" y="330777"/>
                  <a:pt x="245351" y="301801"/>
                </a:cubicBezTo>
                <a:cubicBezTo>
                  <a:pt x="266464" y="313914"/>
                  <a:pt x="286394" y="328001"/>
                  <a:pt x="304854" y="343874"/>
                </a:cubicBezTo>
                <a:cubicBezTo>
                  <a:pt x="316496" y="353850"/>
                  <a:pt x="331712" y="356854"/>
                  <a:pt x="343266" y="366413"/>
                </a:cubicBezTo>
                <a:cubicBezTo>
                  <a:pt x="346533" y="371170"/>
                  <a:pt x="355500" y="370798"/>
                  <a:pt x="356553" y="363519"/>
                </a:cubicBezTo>
                <a:cubicBezTo>
                  <a:pt x="373083" y="243175"/>
                  <a:pt x="405510" y="125528"/>
                  <a:pt x="443593" y="10753"/>
                </a:cubicBezTo>
                <a:cubicBezTo>
                  <a:pt x="446618" y="4679"/>
                  <a:pt x="440173" y="-3323"/>
                  <a:pt x="433354" y="1457"/>
                </a:cubicBezTo>
                <a:close/>
                <a:moveTo>
                  <a:pt x="144959" y="232695"/>
                </a:moveTo>
                <a:cubicBezTo>
                  <a:pt x="144345" y="233234"/>
                  <a:pt x="143819" y="233863"/>
                  <a:pt x="143380" y="234558"/>
                </a:cubicBezTo>
                <a:cubicBezTo>
                  <a:pt x="106218" y="229033"/>
                  <a:pt x="69319" y="222164"/>
                  <a:pt x="32639" y="213949"/>
                </a:cubicBezTo>
                <a:cubicBezTo>
                  <a:pt x="52744" y="204895"/>
                  <a:pt x="71358" y="192134"/>
                  <a:pt x="90652" y="181720"/>
                </a:cubicBezTo>
                <a:cubicBezTo>
                  <a:pt x="170610" y="138682"/>
                  <a:pt x="257497" y="110816"/>
                  <a:pt x="339320" y="71856"/>
                </a:cubicBezTo>
                <a:cubicBezTo>
                  <a:pt x="273370" y="123978"/>
                  <a:pt x="208584" y="177592"/>
                  <a:pt x="144959" y="232695"/>
                </a:cubicBezTo>
                <a:close/>
                <a:moveTo>
                  <a:pt x="157938" y="358827"/>
                </a:moveTo>
                <a:lnTo>
                  <a:pt x="158376" y="242429"/>
                </a:lnTo>
                <a:cubicBezTo>
                  <a:pt x="158376" y="241688"/>
                  <a:pt x="158267" y="240949"/>
                  <a:pt x="158070" y="240237"/>
                </a:cubicBezTo>
                <a:cubicBezTo>
                  <a:pt x="232788" y="175691"/>
                  <a:pt x="309152" y="113147"/>
                  <a:pt x="387181" y="52607"/>
                </a:cubicBezTo>
                <a:lnTo>
                  <a:pt x="297159" y="137213"/>
                </a:lnTo>
                <a:cubicBezTo>
                  <a:pt x="259098" y="172972"/>
                  <a:pt x="217024" y="207372"/>
                  <a:pt x="189531" y="252405"/>
                </a:cubicBezTo>
                <a:cubicBezTo>
                  <a:pt x="188216" y="254240"/>
                  <a:pt x="188018" y="256658"/>
                  <a:pt x="189049" y="258675"/>
                </a:cubicBezTo>
                <a:cubicBezTo>
                  <a:pt x="189356" y="259691"/>
                  <a:pt x="189882" y="260620"/>
                  <a:pt x="190605" y="261394"/>
                </a:cubicBezTo>
                <a:cubicBezTo>
                  <a:pt x="181222" y="294369"/>
                  <a:pt x="170325" y="326817"/>
                  <a:pt x="157938" y="358739"/>
                </a:cubicBezTo>
                <a:close/>
                <a:moveTo>
                  <a:pt x="174535" y="355801"/>
                </a:moveTo>
                <a:cubicBezTo>
                  <a:pt x="184927" y="328323"/>
                  <a:pt x="194267" y="300479"/>
                  <a:pt x="202533" y="272269"/>
                </a:cubicBezTo>
                <a:cubicBezTo>
                  <a:pt x="212223" y="280124"/>
                  <a:pt x="222396" y="287379"/>
                  <a:pt x="232964" y="293996"/>
                </a:cubicBezTo>
                <a:cubicBezTo>
                  <a:pt x="212749" y="313844"/>
                  <a:pt x="193281" y="334418"/>
                  <a:pt x="174535" y="355713"/>
                </a:cubicBezTo>
                <a:close/>
                <a:moveTo>
                  <a:pt x="344143" y="348807"/>
                </a:moveTo>
                <a:cubicBezTo>
                  <a:pt x="334847" y="343743"/>
                  <a:pt x="324608" y="340432"/>
                  <a:pt x="316255" y="333460"/>
                </a:cubicBezTo>
                <a:cubicBezTo>
                  <a:pt x="304394" y="323193"/>
                  <a:pt x="291962" y="313631"/>
                  <a:pt x="278983" y="304827"/>
                </a:cubicBezTo>
                <a:cubicBezTo>
                  <a:pt x="253946" y="288581"/>
                  <a:pt x="227351" y="274637"/>
                  <a:pt x="205273" y="254400"/>
                </a:cubicBezTo>
                <a:cubicBezTo>
                  <a:pt x="232701" y="211538"/>
                  <a:pt x="274533" y="178125"/>
                  <a:pt x="311212" y="143637"/>
                </a:cubicBezTo>
                <a:cubicBezTo>
                  <a:pt x="346993" y="110020"/>
                  <a:pt x="382796" y="76401"/>
                  <a:pt x="418643" y="42784"/>
                </a:cubicBezTo>
                <a:cubicBezTo>
                  <a:pt x="385098" y="142442"/>
                  <a:pt x="360170" y="244797"/>
                  <a:pt x="344143" y="348720"/>
                </a:cubicBezTo>
                <a:close/>
                <a:moveTo>
                  <a:pt x="55923" y="163172"/>
                </a:moveTo>
                <a:cubicBezTo>
                  <a:pt x="76620" y="147430"/>
                  <a:pt x="101087" y="137608"/>
                  <a:pt x="124481" y="126668"/>
                </a:cubicBezTo>
                <a:lnTo>
                  <a:pt x="197797" y="92378"/>
                </a:lnTo>
                <a:cubicBezTo>
                  <a:pt x="206238" y="88431"/>
                  <a:pt x="202379" y="74268"/>
                  <a:pt x="193412" y="78434"/>
                </a:cubicBezTo>
                <a:lnTo>
                  <a:pt x="116237" y="114478"/>
                </a:lnTo>
                <a:cubicBezTo>
                  <a:pt x="92954" y="125440"/>
                  <a:pt x="68661" y="135306"/>
                  <a:pt x="48052" y="150960"/>
                </a:cubicBezTo>
                <a:cubicBezTo>
                  <a:pt x="40532" y="156704"/>
                  <a:pt x="48096" y="169114"/>
                  <a:pt x="55923" y="163084"/>
                </a:cubicBezTo>
                <a:close/>
                <a:moveTo>
                  <a:pt x="41760" y="133684"/>
                </a:moveTo>
                <a:cubicBezTo>
                  <a:pt x="60198" y="122794"/>
                  <a:pt x="79119" y="112805"/>
                  <a:pt x="98479" y="103713"/>
                </a:cubicBezTo>
                <a:cubicBezTo>
                  <a:pt x="106919" y="99766"/>
                  <a:pt x="103061" y="85603"/>
                  <a:pt x="94094" y="89791"/>
                </a:cubicBezTo>
                <a:cubicBezTo>
                  <a:pt x="73528" y="99409"/>
                  <a:pt x="53467" y="109990"/>
                  <a:pt x="33889" y="121537"/>
                </a:cubicBezTo>
                <a:cubicBezTo>
                  <a:pt x="25689" y="126339"/>
                  <a:pt x="33341" y="138573"/>
                  <a:pt x="41760" y="133596"/>
                </a:cubicBezTo>
                <a:close/>
              </a:path>
            </a:pathLst>
          </a:custGeom>
          <a:solidFill>
            <a:srgbClr val="2b3547"/>
          </a:solidFill>
          <a:ln w="0">
            <a:no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PlaceHolder 1"/>
          <p:cNvSpPr>
            <a:spLocks noGrp="1"/>
          </p:cNvSpPr>
          <p:nvPr>
            <p:ph type="title"/>
          </p:nvPr>
        </p:nvSpPr>
        <p:spPr>
          <a:xfrm>
            <a:off x="883080" y="682920"/>
            <a:ext cx="6425280" cy="395280"/>
          </a:xfrm>
          <a:prstGeom prst="rect">
            <a:avLst/>
          </a:prstGeom>
          <a:noFill/>
          <a:ln w="0">
            <a:noFill/>
          </a:ln>
        </p:spPr>
        <p:txBody>
          <a:bodyPr lIns="0" rIns="0" tIns="0" bIns="0" anchor="ctr">
            <a:noAutofit/>
          </a:bodyPr>
          <a:p>
            <a:pPr>
              <a:lnSpc>
                <a:spcPct val="90000"/>
              </a:lnSpc>
              <a:buNone/>
              <a:tabLst>
                <a:tab algn="l" pos="0"/>
              </a:tabLst>
            </a:pPr>
            <a:r>
              <a:rPr b="1" lang="en" sz="3400" spc="-1" strike="noStrike">
                <a:solidFill>
                  <a:srgbClr val="2b3547"/>
                </a:solidFill>
                <a:latin typeface="Amatic SC"/>
                <a:ea typeface="Amatic SC"/>
              </a:rPr>
              <a:t>Introduction</a:t>
            </a:r>
            <a:endParaRPr b="0" lang="en-US" sz="3400" spc="-1" strike="noStrike">
              <a:latin typeface="Arial"/>
            </a:endParaRPr>
          </a:p>
        </p:txBody>
      </p:sp>
      <p:sp>
        <p:nvSpPr>
          <p:cNvPr id="116" name="PlaceHolder 2"/>
          <p:cNvSpPr>
            <a:spLocks noGrp="1"/>
          </p:cNvSpPr>
          <p:nvPr>
            <p:ph/>
          </p:nvPr>
        </p:nvSpPr>
        <p:spPr>
          <a:xfrm>
            <a:off x="1187640" y="1505880"/>
            <a:ext cx="6425280" cy="2839320"/>
          </a:xfrm>
          <a:prstGeom prst="rect">
            <a:avLst/>
          </a:prstGeom>
          <a:noFill/>
          <a:ln w="0">
            <a:noFill/>
          </a:ln>
        </p:spPr>
        <p:txBody>
          <a:bodyPr lIns="0" rIns="0" tIns="0" bIns="0" anchor="t">
            <a:noAutofit/>
          </a:bodyPr>
          <a:p>
            <a:pPr marL="432000" indent="-324000">
              <a:lnSpc>
                <a:spcPct val="100000"/>
              </a:lnSpc>
              <a:spcBef>
                <a:spcPts val="1412"/>
              </a:spcBef>
              <a:buClr>
                <a:srgbClr val="000000"/>
              </a:buClr>
              <a:buSzPct val="45000"/>
              <a:buFont typeface="Wingdings" charset="2"/>
              <a:buChar char=""/>
            </a:pPr>
            <a:r>
              <a:rPr b="0" lang="en-US" sz="1800" spc="-1" strike="noStrike">
                <a:solidFill>
                  <a:srgbClr val="2b3547"/>
                </a:solidFill>
                <a:latin typeface="Nunito"/>
                <a:ea typeface="Nunito"/>
              </a:rPr>
              <a:t>Persistence via JetStream</a:t>
            </a:r>
            <a:endParaRPr b="0" lang="en-US" sz="1800" spc="-1" strike="noStrike">
              <a:latin typeface="Arial"/>
            </a:endParaRPr>
          </a:p>
          <a:p>
            <a:pPr lvl="1" marL="864000" indent="-324000">
              <a:lnSpc>
                <a:spcPct val="100000"/>
              </a:lnSpc>
              <a:spcBef>
                <a:spcPts val="1134"/>
              </a:spcBef>
              <a:buClr>
                <a:srgbClr val="000000"/>
              </a:buClr>
              <a:buSzPct val="75000"/>
              <a:buFont typeface="Symbol"/>
              <a:buChar char=""/>
            </a:pPr>
            <a:r>
              <a:rPr b="0" lang="en-US" sz="1800" spc="-1" strike="noStrike" u="sng">
                <a:solidFill>
                  <a:srgbClr val="2b3547"/>
                </a:solidFill>
                <a:uFillTx/>
                <a:latin typeface="Nunito"/>
                <a:ea typeface="Nunito"/>
              </a:rPr>
              <a:t>at least once</a:t>
            </a:r>
            <a:r>
              <a:rPr b="0" lang="en-US" sz="1800" spc="-1" strike="noStrike">
                <a:solidFill>
                  <a:srgbClr val="2b3547"/>
                </a:solidFill>
                <a:latin typeface="Nunito"/>
                <a:ea typeface="Nunito"/>
              </a:rPr>
              <a:t> delivery or </a:t>
            </a:r>
            <a:r>
              <a:rPr b="0" lang="en-US" sz="1800" spc="-1" strike="noStrike" u="sng">
                <a:solidFill>
                  <a:srgbClr val="2b3547"/>
                </a:solidFill>
                <a:uFillTx/>
                <a:latin typeface="Nunito"/>
                <a:ea typeface="Nunito"/>
              </a:rPr>
              <a:t>exactly once</a:t>
            </a:r>
            <a:r>
              <a:rPr b="0" lang="en-US" sz="1800" spc="-1" strike="noStrike">
                <a:solidFill>
                  <a:srgbClr val="2b3547"/>
                </a:solidFill>
                <a:latin typeface="Nunito"/>
                <a:ea typeface="Nunito"/>
              </a:rPr>
              <a:t> delivery</a:t>
            </a:r>
            <a:endParaRPr b="0" lang="en-US" sz="1800" spc="-1" strike="noStrike">
              <a:latin typeface="Arial"/>
            </a:endParaRPr>
          </a:p>
          <a:p>
            <a:pPr lvl="1" marL="864000" indent="-324000">
              <a:lnSpc>
                <a:spcPct val="100000"/>
              </a:lnSpc>
              <a:spcBef>
                <a:spcPts val="1134"/>
              </a:spcBef>
              <a:buClr>
                <a:srgbClr val="000000"/>
              </a:buClr>
              <a:buSzPct val="75000"/>
              <a:buFont typeface="Symbol"/>
              <a:buChar char=""/>
            </a:pPr>
            <a:r>
              <a:rPr b="0" lang="en-US" sz="1800" spc="-1" strike="noStrike">
                <a:solidFill>
                  <a:srgbClr val="2b3547"/>
                </a:solidFill>
                <a:latin typeface="Nunito"/>
                <a:ea typeface="Nunito"/>
              </a:rPr>
              <a:t>work queues</a:t>
            </a:r>
            <a:endParaRPr b="0" lang="en-US" sz="1800" spc="-1" strike="noStrike">
              <a:latin typeface="Arial"/>
            </a:endParaRPr>
          </a:p>
          <a:p>
            <a:pPr lvl="1" marL="864000" indent="-324000">
              <a:lnSpc>
                <a:spcPct val="100000"/>
              </a:lnSpc>
              <a:spcBef>
                <a:spcPts val="1134"/>
              </a:spcBef>
              <a:buClr>
                <a:srgbClr val="000000"/>
              </a:buClr>
              <a:buSzPct val="75000"/>
              <a:buFont typeface="Symbol"/>
              <a:buChar char=""/>
            </a:pPr>
            <a:r>
              <a:rPr b="0" lang="en-US" sz="1800" spc="-1" strike="noStrike">
                <a:solidFill>
                  <a:srgbClr val="2b3547"/>
                </a:solidFill>
                <a:latin typeface="Nunito"/>
                <a:ea typeface="Nunito"/>
              </a:rPr>
              <a:t>stream processing</a:t>
            </a:r>
            <a:endParaRPr b="0" lang="en-US" sz="1800" spc="-1" strike="noStrike">
              <a:latin typeface="Arial"/>
            </a:endParaRPr>
          </a:p>
          <a:p>
            <a:pPr lvl="1" marL="864000" indent="-324000">
              <a:lnSpc>
                <a:spcPct val="100000"/>
              </a:lnSpc>
              <a:spcBef>
                <a:spcPts val="1134"/>
              </a:spcBef>
              <a:buClr>
                <a:srgbClr val="000000"/>
              </a:buClr>
              <a:buSzPct val="75000"/>
              <a:buFont typeface="Symbol"/>
              <a:buChar char=""/>
            </a:pPr>
            <a:r>
              <a:rPr b="0" lang="en-US" sz="1800" spc="-1" strike="noStrike">
                <a:solidFill>
                  <a:srgbClr val="2b3547"/>
                </a:solidFill>
                <a:latin typeface="Nunito"/>
                <a:ea typeface="Nunito"/>
              </a:rPr>
              <a:t>data replication</a:t>
            </a:r>
            <a:endParaRPr b="0" lang="en-US" sz="1800" spc="-1" strike="noStrike">
              <a:latin typeface="Arial"/>
            </a:endParaRPr>
          </a:p>
          <a:p>
            <a:pPr lvl="1" marL="864000" indent="-324000">
              <a:lnSpc>
                <a:spcPct val="100000"/>
              </a:lnSpc>
              <a:spcBef>
                <a:spcPts val="1134"/>
              </a:spcBef>
              <a:buClr>
                <a:srgbClr val="000000"/>
              </a:buClr>
              <a:buSzPct val="75000"/>
              <a:buFont typeface="Symbol"/>
              <a:buChar char=""/>
            </a:pPr>
            <a:r>
              <a:rPr b="0" lang="en-US" sz="1800" spc="-1" strike="noStrike">
                <a:solidFill>
                  <a:srgbClr val="2b3547"/>
                </a:solidFill>
                <a:latin typeface="Nunito"/>
                <a:ea typeface="Nunito"/>
              </a:rPr>
              <a:t>data retention</a:t>
            </a:r>
            <a:endParaRPr b="0" lang="en-US" sz="1800" spc="-1" strike="noStrike">
              <a:latin typeface="Arial"/>
            </a:endParaRPr>
          </a:p>
          <a:p>
            <a:pPr lvl="1" marL="864000" indent="-324000">
              <a:lnSpc>
                <a:spcPct val="100000"/>
              </a:lnSpc>
              <a:spcBef>
                <a:spcPts val="1134"/>
              </a:spcBef>
              <a:buClr>
                <a:srgbClr val="000000"/>
              </a:buClr>
              <a:buSzPct val="75000"/>
              <a:buFont typeface="Symbol"/>
              <a:buChar char=""/>
            </a:pPr>
            <a:r>
              <a:rPr b="0" lang="en-US" sz="1800" spc="-1" strike="noStrike">
                <a:solidFill>
                  <a:srgbClr val="2b3547"/>
                </a:solidFill>
                <a:latin typeface="Nunito"/>
                <a:ea typeface="Nunito"/>
              </a:rPr>
              <a:t>data deduplication</a:t>
            </a:r>
            <a:endParaRPr b="0" lang="en-US" sz="1800" spc="-1" strike="noStrike">
              <a:latin typeface="Arial"/>
            </a:endParaRPr>
          </a:p>
        </p:txBody>
      </p:sp>
      <p:sp>
        <p:nvSpPr>
          <p:cNvPr id="117" name="PlaceHolder 3"/>
          <p:cNvSpPr>
            <a:spLocks noGrp="1"/>
          </p:cNvSpPr>
          <p:nvPr>
            <p:ph type="sldNum" idx="6"/>
          </p:nvPr>
        </p:nvSpPr>
        <p:spPr>
          <a:xfrm>
            <a:off x="8403840" y="4692960"/>
            <a:ext cx="547560" cy="299160"/>
          </a:xfrm>
          <a:prstGeom prst="rect">
            <a:avLst/>
          </a:prstGeom>
          <a:noFill/>
          <a:ln w="0">
            <a:noFill/>
          </a:ln>
        </p:spPr>
        <p:txBody>
          <a:bodyPr lIns="0" rIns="0" tIns="0" bIns="0" anchor="ctr">
            <a:noAutofit/>
          </a:bodyPr>
          <a:lstStyle>
            <a:lvl1pPr algn="r">
              <a:lnSpc>
                <a:spcPct val="100000"/>
              </a:lnSpc>
              <a:buNone/>
              <a:tabLst>
                <a:tab algn="l" pos="0"/>
              </a:tabLst>
              <a:defRPr b="1" lang="en" sz="1500" spc="-1" strike="noStrike">
                <a:solidFill>
                  <a:srgbClr val="7f8b91"/>
                </a:solidFill>
                <a:latin typeface="Amatic SC"/>
                <a:ea typeface="Amatic SC"/>
              </a:defRPr>
            </a:lvl1pPr>
          </a:lstStyle>
          <a:p>
            <a:pPr algn="r">
              <a:lnSpc>
                <a:spcPct val="100000"/>
              </a:lnSpc>
              <a:buNone/>
              <a:tabLst>
                <a:tab algn="l" pos="0"/>
              </a:tabLst>
            </a:pPr>
            <a:fld id="{95B8E323-E3DE-41B6-ACD9-C6AC21F0182B}" type="slidenum">
              <a:rPr b="1" lang="en" sz="1500" spc="-1" strike="noStrike">
                <a:solidFill>
                  <a:srgbClr val="7f8b91"/>
                </a:solidFill>
                <a:latin typeface="Amatic SC"/>
                <a:ea typeface="Amatic SC"/>
              </a:rPr>
              <a:t>&lt;number&gt;</a:t>
            </a:fld>
            <a:endParaRPr b="0" lang="en-US" sz="1500" spc="-1" strike="noStrike">
              <a:latin typeface="Times New Roman"/>
            </a:endParaRPr>
          </a:p>
        </p:txBody>
      </p:sp>
      <p:sp>
        <p:nvSpPr>
          <p:cNvPr id="118" name="Google Shape;228;p 4"/>
          <p:cNvSpPr/>
          <p:nvPr/>
        </p:nvSpPr>
        <p:spPr>
          <a:xfrm>
            <a:off x="7648200" y="3814560"/>
            <a:ext cx="936720" cy="834120"/>
          </a:xfrm>
          <a:custGeom>
            <a:avLst/>
            <a:gdLst/>
            <a:ahLst/>
            <a:rect l="l" t="t" r="r" b="b"/>
            <a:pathLst>
              <a:path w="444359" h="395938">
                <a:moveTo>
                  <a:pt x="135136" y="205311"/>
                </a:moveTo>
                <a:lnTo>
                  <a:pt x="101482" y="200356"/>
                </a:lnTo>
                <a:cubicBezTo>
                  <a:pt x="92405" y="199041"/>
                  <a:pt x="88788" y="213642"/>
                  <a:pt x="98347" y="215046"/>
                </a:cubicBezTo>
                <a:lnTo>
                  <a:pt x="132067" y="220001"/>
                </a:lnTo>
                <a:cubicBezTo>
                  <a:pt x="141056" y="221316"/>
                  <a:pt x="144673" y="206714"/>
                  <a:pt x="135136" y="205311"/>
                </a:cubicBezTo>
                <a:close/>
                <a:moveTo>
                  <a:pt x="293388" y="291650"/>
                </a:moveTo>
                <a:cubicBezTo>
                  <a:pt x="292554" y="295482"/>
                  <a:pt x="294966" y="299271"/>
                  <a:pt x="298803" y="300115"/>
                </a:cubicBezTo>
                <a:cubicBezTo>
                  <a:pt x="298869" y="300130"/>
                  <a:pt x="298935" y="300144"/>
                  <a:pt x="299001" y="300157"/>
                </a:cubicBezTo>
                <a:cubicBezTo>
                  <a:pt x="299373" y="300157"/>
                  <a:pt x="300711" y="300157"/>
                  <a:pt x="300930" y="300551"/>
                </a:cubicBezTo>
                <a:cubicBezTo>
                  <a:pt x="299921" y="300222"/>
                  <a:pt x="299790" y="300201"/>
                  <a:pt x="300535" y="300551"/>
                </a:cubicBezTo>
                <a:cubicBezTo>
                  <a:pt x="301280" y="300902"/>
                  <a:pt x="301456" y="300924"/>
                  <a:pt x="302267" y="301297"/>
                </a:cubicBezTo>
                <a:lnTo>
                  <a:pt x="302377" y="301297"/>
                </a:lnTo>
                <a:cubicBezTo>
                  <a:pt x="309919" y="308335"/>
                  <a:pt x="320267" y="297416"/>
                  <a:pt x="313142" y="290335"/>
                </a:cubicBezTo>
                <a:cubicBezTo>
                  <a:pt x="307573" y="285621"/>
                  <a:pt x="295756" y="281894"/>
                  <a:pt x="293388" y="291650"/>
                </a:cubicBezTo>
                <a:close/>
                <a:moveTo>
                  <a:pt x="285999" y="274110"/>
                </a:moveTo>
                <a:cubicBezTo>
                  <a:pt x="269973" y="263589"/>
                  <a:pt x="253310" y="254069"/>
                  <a:pt x="236099" y="245608"/>
                </a:cubicBezTo>
                <a:cubicBezTo>
                  <a:pt x="227833" y="241530"/>
                  <a:pt x="220752" y="255014"/>
                  <a:pt x="229346" y="259180"/>
                </a:cubicBezTo>
                <a:cubicBezTo>
                  <a:pt x="245439" y="267053"/>
                  <a:pt x="261027" y="275919"/>
                  <a:pt x="276002" y="285730"/>
                </a:cubicBezTo>
                <a:cubicBezTo>
                  <a:pt x="283697" y="290576"/>
                  <a:pt x="293738" y="279109"/>
                  <a:pt x="285999" y="274023"/>
                </a:cubicBezTo>
                <a:close/>
                <a:moveTo>
                  <a:pt x="433354" y="1544"/>
                </a:moveTo>
                <a:cubicBezTo>
                  <a:pt x="431162" y="3057"/>
                  <a:pt x="428970" y="4482"/>
                  <a:pt x="426908" y="5929"/>
                </a:cubicBezTo>
                <a:cubicBezTo>
                  <a:pt x="425220" y="5833"/>
                  <a:pt x="423554" y="6381"/>
                  <a:pt x="422239" y="7464"/>
                </a:cubicBezTo>
                <a:cubicBezTo>
                  <a:pt x="417854" y="10840"/>
                  <a:pt x="413469" y="14261"/>
                  <a:pt x="408952" y="17659"/>
                </a:cubicBezTo>
                <a:cubicBezTo>
                  <a:pt x="315904" y="75803"/>
                  <a:pt x="209197" y="106563"/>
                  <a:pt x="111195" y="154928"/>
                </a:cubicBezTo>
                <a:cubicBezTo>
                  <a:pt x="93853" y="163501"/>
                  <a:pt x="76773" y="172622"/>
                  <a:pt x="60089" y="182400"/>
                </a:cubicBezTo>
                <a:cubicBezTo>
                  <a:pt x="42549" y="192748"/>
                  <a:pt x="25141" y="203184"/>
                  <a:pt x="5146" y="208249"/>
                </a:cubicBezTo>
                <a:cubicBezTo>
                  <a:pt x="-1804" y="210003"/>
                  <a:pt x="-1147" y="218532"/>
                  <a:pt x="3743" y="221404"/>
                </a:cubicBezTo>
                <a:cubicBezTo>
                  <a:pt x="4707" y="222430"/>
                  <a:pt x="5979" y="223140"/>
                  <a:pt x="7360" y="223443"/>
                </a:cubicBezTo>
                <a:cubicBezTo>
                  <a:pt x="52371" y="234230"/>
                  <a:pt x="97777" y="242999"/>
                  <a:pt x="143621" y="249752"/>
                </a:cubicBezTo>
                <a:lnTo>
                  <a:pt x="143117" y="384961"/>
                </a:lnTo>
                <a:cubicBezTo>
                  <a:pt x="142854" y="387829"/>
                  <a:pt x="144717" y="390464"/>
                  <a:pt x="147502" y="391166"/>
                </a:cubicBezTo>
                <a:cubicBezTo>
                  <a:pt x="148620" y="393251"/>
                  <a:pt x="150615" y="394717"/>
                  <a:pt x="152939" y="395156"/>
                </a:cubicBezTo>
                <a:cubicBezTo>
                  <a:pt x="155855" y="396721"/>
                  <a:pt x="159473" y="395875"/>
                  <a:pt x="161402" y="393183"/>
                </a:cubicBezTo>
                <a:cubicBezTo>
                  <a:pt x="187777" y="361278"/>
                  <a:pt x="215797" y="330777"/>
                  <a:pt x="245351" y="301801"/>
                </a:cubicBezTo>
                <a:cubicBezTo>
                  <a:pt x="266464" y="313914"/>
                  <a:pt x="286394" y="328001"/>
                  <a:pt x="304854" y="343874"/>
                </a:cubicBezTo>
                <a:cubicBezTo>
                  <a:pt x="316496" y="353850"/>
                  <a:pt x="331712" y="356854"/>
                  <a:pt x="343266" y="366413"/>
                </a:cubicBezTo>
                <a:cubicBezTo>
                  <a:pt x="346533" y="371170"/>
                  <a:pt x="355500" y="370798"/>
                  <a:pt x="356553" y="363519"/>
                </a:cubicBezTo>
                <a:cubicBezTo>
                  <a:pt x="373083" y="243175"/>
                  <a:pt x="405510" y="125528"/>
                  <a:pt x="443593" y="10753"/>
                </a:cubicBezTo>
                <a:cubicBezTo>
                  <a:pt x="446618" y="4679"/>
                  <a:pt x="440173" y="-3323"/>
                  <a:pt x="433354" y="1457"/>
                </a:cubicBezTo>
                <a:close/>
                <a:moveTo>
                  <a:pt x="144959" y="232695"/>
                </a:moveTo>
                <a:cubicBezTo>
                  <a:pt x="144345" y="233234"/>
                  <a:pt x="143819" y="233863"/>
                  <a:pt x="143380" y="234558"/>
                </a:cubicBezTo>
                <a:cubicBezTo>
                  <a:pt x="106218" y="229033"/>
                  <a:pt x="69319" y="222164"/>
                  <a:pt x="32639" y="213949"/>
                </a:cubicBezTo>
                <a:cubicBezTo>
                  <a:pt x="52744" y="204895"/>
                  <a:pt x="71358" y="192134"/>
                  <a:pt x="90652" y="181720"/>
                </a:cubicBezTo>
                <a:cubicBezTo>
                  <a:pt x="170610" y="138682"/>
                  <a:pt x="257497" y="110816"/>
                  <a:pt x="339320" y="71856"/>
                </a:cubicBezTo>
                <a:cubicBezTo>
                  <a:pt x="273370" y="123978"/>
                  <a:pt x="208584" y="177592"/>
                  <a:pt x="144959" y="232695"/>
                </a:cubicBezTo>
                <a:close/>
                <a:moveTo>
                  <a:pt x="157938" y="358827"/>
                </a:moveTo>
                <a:lnTo>
                  <a:pt x="158376" y="242429"/>
                </a:lnTo>
                <a:cubicBezTo>
                  <a:pt x="158376" y="241688"/>
                  <a:pt x="158267" y="240949"/>
                  <a:pt x="158070" y="240237"/>
                </a:cubicBezTo>
                <a:cubicBezTo>
                  <a:pt x="232788" y="175691"/>
                  <a:pt x="309152" y="113147"/>
                  <a:pt x="387181" y="52607"/>
                </a:cubicBezTo>
                <a:lnTo>
                  <a:pt x="297159" y="137213"/>
                </a:lnTo>
                <a:cubicBezTo>
                  <a:pt x="259098" y="172972"/>
                  <a:pt x="217024" y="207372"/>
                  <a:pt x="189531" y="252405"/>
                </a:cubicBezTo>
                <a:cubicBezTo>
                  <a:pt x="188216" y="254240"/>
                  <a:pt x="188018" y="256658"/>
                  <a:pt x="189049" y="258675"/>
                </a:cubicBezTo>
                <a:cubicBezTo>
                  <a:pt x="189356" y="259691"/>
                  <a:pt x="189882" y="260620"/>
                  <a:pt x="190605" y="261394"/>
                </a:cubicBezTo>
                <a:cubicBezTo>
                  <a:pt x="181222" y="294369"/>
                  <a:pt x="170325" y="326817"/>
                  <a:pt x="157938" y="358739"/>
                </a:cubicBezTo>
                <a:close/>
                <a:moveTo>
                  <a:pt x="174535" y="355801"/>
                </a:moveTo>
                <a:cubicBezTo>
                  <a:pt x="184927" y="328323"/>
                  <a:pt x="194267" y="300479"/>
                  <a:pt x="202533" y="272269"/>
                </a:cubicBezTo>
                <a:cubicBezTo>
                  <a:pt x="212223" y="280124"/>
                  <a:pt x="222396" y="287379"/>
                  <a:pt x="232964" y="293996"/>
                </a:cubicBezTo>
                <a:cubicBezTo>
                  <a:pt x="212749" y="313844"/>
                  <a:pt x="193281" y="334418"/>
                  <a:pt x="174535" y="355713"/>
                </a:cubicBezTo>
                <a:close/>
                <a:moveTo>
                  <a:pt x="344143" y="348807"/>
                </a:moveTo>
                <a:cubicBezTo>
                  <a:pt x="334847" y="343743"/>
                  <a:pt x="324608" y="340432"/>
                  <a:pt x="316255" y="333460"/>
                </a:cubicBezTo>
                <a:cubicBezTo>
                  <a:pt x="304394" y="323193"/>
                  <a:pt x="291962" y="313631"/>
                  <a:pt x="278983" y="304827"/>
                </a:cubicBezTo>
                <a:cubicBezTo>
                  <a:pt x="253946" y="288581"/>
                  <a:pt x="227351" y="274637"/>
                  <a:pt x="205273" y="254400"/>
                </a:cubicBezTo>
                <a:cubicBezTo>
                  <a:pt x="232701" y="211538"/>
                  <a:pt x="274533" y="178125"/>
                  <a:pt x="311212" y="143637"/>
                </a:cubicBezTo>
                <a:cubicBezTo>
                  <a:pt x="346993" y="110020"/>
                  <a:pt x="382796" y="76401"/>
                  <a:pt x="418643" y="42784"/>
                </a:cubicBezTo>
                <a:cubicBezTo>
                  <a:pt x="385098" y="142442"/>
                  <a:pt x="360170" y="244797"/>
                  <a:pt x="344143" y="348720"/>
                </a:cubicBezTo>
                <a:close/>
                <a:moveTo>
                  <a:pt x="55923" y="163172"/>
                </a:moveTo>
                <a:cubicBezTo>
                  <a:pt x="76620" y="147430"/>
                  <a:pt x="101087" y="137608"/>
                  <a:pt x="124481" y="126668"/>
                </a:cubicBezTo>
                <a:lnTo>
                  <a:pt x="197797" y="92378"/>
                </a:lnTo>
                <a:cubicBezTo>
                  <a:pt x="206238" y="88431"/>
                  <a:pt x="202379" y="74268"/>
                  <a:pt x="193412" y="78434"/>
                </a:cubicBezTo>
                <a:lnTo>
                  <a:pt x="116237" y="114478"/>
                </a:lnTo>
                <a:cubicBezTo>
                  <a:pt x="92954" y="125440"/>
                  <a:pt x="68661" y="135306"/>
                  <a:pt x="48052" y="150960"/>
                </a:cubicBezTo>
                <a:cubicBezTo>
                  <a:pt x="40532" y="156704"/>
                  <a:pt x="48096" y="169114"/>
                  <a:pt x="55923" y="163084"/>
                </a:cubicBezTo>
                <a:close/>
                <a:moveTo>
                  <a:pt x="41760" y="133684"/>
                </a:moveTo>
                <a:cubicBezTo>
                  <a:pt x="60198" y="122794"/>
                  <a:pt x="79119" y="112805"/>
                  <a:pt x="98479" y="103713"/>
                </a:cubicBezTo>
                <a:cubicBezTo>
                  <a:pt x="106919" y="99766"/>
                  <a:pt x="103061" y="85603"/>
                  <a:pt x="94094" y="89791"/>
                </a:cubicBezTo>
                <a:cubicBezTo>
                  <a:pt x="73528" y="99409"/>
                  <a:pt x="53467" y="109990"/>
                  <a:pt x="33889" y="121537"/>
                </a:cubicBezTo>
                <a:cubicBezTo>
                  <a:pt x="25689" y="126339"/>
                  <a:pt x="33341" y="138573"/>
                  <a:pt x="41760" y="133596"/>
                </a:cubicBezTo>
                <a:close/>
              </a:path>
            </a:pathLst>
          </a:custGeom>
          <a:solidFill>
            <a:srgbClr val="2b3547"/>
          </a:solidFill>
          <a:ln w="0">
            <a:no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 name="PlaceHolder 1"/>
          <p:cNvSpPr>
            <a:spLocks noGrp="1"/>
          </p:cNvSpPr>
          <p:nvPr>
            <p:ph type="title"/>
          </p:nvPr>
        </p:nvSpPr>
        <p:spPr>
          <a:xfrm>
            <a:off x="883080" y="682920"/>
            <a:ext cx="6425280" cy="395280"/>
          </a:xfrm>
          <a:prstGeom prst="rect">
            <a:avLst/>
          </a:prstGeom>
          <a:noFill/>
          <a:ln w="0">
            <a:noFill/>
          </a:ln>
        </p:spPr>
        <p:txBody>
          <a:bodyPr lIns="0" rIns="0" tIns="0" bIns="0" anchor="ctr">
            <a:noAutofit/>
          </a:bodyPr>
          <a:p>
            <a:pPr>
              <a:lnSpc>
                <a:spcPct val="90000"/>
              </a:lnSpc>
              <a:buNone/>
              <a:tabLst>
                <a:tab algn="l" pos="0"/>
              </a:tabLst>
            </a:pPr>
            <a:r>
              <a:rPr b="1" lang="en" sz="3400" spc="-1" strike="noStrike">
                <a:solidFill>
                  <a:srgbClr val="2b3547"/>
                </a:solidFill>
                <a:latin typeface="Amatic SC"/>
                <a:ea typeface="Amatic SC"/>
              </a:rPr>
              <a:t>Introduction</a:t>
            </a:r>
            <a:endParaRPr b="0" lang="en-US" sz="3400" spc="-1" strike="noStrike">
              <a:latin typeface="Arial"/>
            </a:endParaRPr>
          </a:p>
        </p:txBody>
      </p:sp>
      <p:sp>
        <p:nvSpPr>
          <p:cNvPr id="120" name="PlaceHolder 2"/>
          <p:cNvSpPr>
            <a:spLocks noGrp="1"/>
          </p:cNvSpPr>
          <p:nvPr>
            <p:ph/>
          </p:nvPr>
        </p:nvSpPr>
        <p:spPr>
          <a:xfrm>
            <a:off x="1187640" y="1505880"/>
            <a:ext cx="6425280" cy="2839320"/>
          </a:xfrm>
          <a:prstGeom prst="rect">
            <a:avLst/>
          </a:prstGeom>
          <a:noFill/>
          <a:ln w="0">
            <a:noFill/>
          </a:ln>
        </p:spPr>
        <p:txBody>
          <a:bodyPr lIns="0" rIns="0" tIns="0" bIns="0" anchor="t">
            <a:noAutofit/>
          </a:bodyPr>
          <a:p>
            <a:pPr marL="432000" indent="-324000">
              <a:lnSpc>
                <a:spcPct val="100000"/>
              </a:lnSpc>
              <a:spcBef>
                <a:spcPts val="1412"/>
              </a:spcBef>
              <a:buClr>
                <a:srgbClr val="000000"/>
              </a:buClr>
              <a:buSzPct val="45000"/>
              <a:buFont typeface="Wingdings" charset="2"/>
              <a:buChar char=""/>
            </a:pPr>
            <a:r>
              <a:rPr b="0" lang="en-US" sz="1800" spc="-1" strike="noStrike">
                <a:solidFill>
                  <a:srgbClr val="2b3547"/>
                </a:solidFill>
                <a:latin typeface="Nunito"/>
                <a:ea typeface="Nunito"/>
              </a:rPr>
              <a:t>Protocols supported</a:t>
            </a:r>
            <a:endParaRPr b="0" lang="en-US" sz="1800" spc="-1" strike="noStrike">
              <a:latin typeface="Arial"/>
            </a:endParaRPr>
          </a:p>
          <a:p>
            <a:pPr lvl="1" marL="864000" indent="-324000">
              <a:lnSpc>
                <a:spcPct val="100000"/>
              </a:lnSpc>
              <a:spcBef>
                <a:spcPts val="1128"/>
              </a:spcBef>
              <a:buClr>
                <a:srgbClr val="000000"/>
              </a:buClr>
              <a:buSzPct val="75000"/>
              <a:buFont typeface="Symbol"/>
              <a:buChar char=""/>
            </a:pPr>
            <a:r>
              <a:rPr b="0" lang="en-US" sz="1800" spc="-1" strike="noStrike">
                <a:solidFill>
                  <a:srgbClr val="2b3547"/>
                </a:solidFill>
                <a:latin typeface="Nunito"/>
                <a:ea typeface="Nunito"/>
              </a:rPr>
              <a:t>TCP</a:t>
            </a:r>
            <a:endParaRPr b="0" lang="en-US" sz="1800" spc="-1" strike="noStrike">
              <a:latin typeface="Arial"/>
            </a:endParaRPr>
          </a:p>
          <a:p>
            <a:pPr lvl="1" marL="864000" indent="-324000">
              <a:lnSpc>
                <a:spcPct val="100000"/>
              </a:lnSpc>
              <a:spcBef>
                <a:spcPts val="1128"/>
              </a:spcBef>
              <a:buClr>
                <a:srgbClr val="000000"/>
              </a:buClr>
              <a:buSzPct val="75000"/>
              <a:buFont typeface="Symbol"/>
              <a:buChar char=""/>
            </a:pPr>
            <a:r>
              <a:rPr b="0" lang="en-US" sz="1800" spc="-1" strike="noStrike">
                <a:solidFill>
                  <a:srgbClr val="2b3547"/>
                </a:solidFill>
                <a:latin typeface="Nunito"/>
                <a:ea typeface="Nunito"/>
              </a:rPr>
              <a:t>MQTT</a:t>
            </a:r>
            <a:endParaRPr b="0" lang="en-US" sz="1800" spc="-1" strike="noStrike">
              <a:latin typeface="Arial"/>
            </a:endParaRPr>
          </a:p>
          <a:p>
            <a:pPr lvl="1" marL="864000" indent="-324000">
              <a:lnSpc>
                <a:spcPct val="100000"/>
              </a:lnSpc>
              <a:spcBef>
                <a:spcPts val="1128"/>
              </a:spcBef>
              <a:buClr>
                <a:srgbClr val="000000"/>
              </a:buClr>
              <a:buSzPct val="75000"/>
              <a:buFont typeface="Symbol"/>
              <a:buChar char=""/>
            </a:pPr>
            <a:r>
              <a:rPr b="0" lang="en-US" sz="1800" spc="-1" strike="noStrike">
                <a:solidFill>
                  <a:srgbClr val="2b3547"/>
                </a:solidFill>
                <a:latin typeface="Nunito"/>
                <a:ea typeface="Nunito"/>
              </a:rPr>
              <a:t>WebSockets</a:t>
            </a:r>
            <a:endParaRPr b="0" lang="en-US" sz="1800" spc="-1" strike="noStrike">
              <a:latin typeface="Arial"/>
            </a:endParaRPr>
          </a:p>
        </p:txBody>
      </p:sp>
      <p:sp>
        <p:nvSpPr>
          <p:cNvPr id="121" name="PlaceHolder 3"/>
          <p:cNvSpPr>
            <a:spLocks noGrp="1"/>
          </p:cNvSpPr>
          <p:nvPr>
            <p:ph type="sldNum" idx="7"/>
          </p:nvPr>
        </p:nvSpPr>
        <p:spPr>
          <a:xfrm>
            <a:off x="8403840" y="4692960"/>
            <a:ext cx="547560" cy="299160"/>
          </a:xfrm>
          <a:prstGeom prst="rect">
            <a:avLst/>
          </a:prstGeom>
          <a:noFill/>
          <a:ln w="0">
            <a:noFill/>
          </a:ln>
        </p:spPr>
        <p:txBody>
          <a:bodyPr lIns="0" rIns="0" tIns="0" bIns="0" anchor="ctr">
            <a:noAutofit/>
          </a:bodyPr>
          <a:lstStyle>
            <a:lvl1pPr algn="r">
              <a:lnSpc>
                <a:spcPct val="100000"/>
              </a:lnSpc>
              <a:buNone/>
              <a:tabLst>
                <a:tab algn="l" pos="0"/>
              </a:tabLst>
              <a:defRPr b="1" lang="en" sz="1500" spc="-1" strike="noStrike">
                <a:solidFill>
                  <a:srgbClr val="7f8b91"/>
                </a:solidFill>
                <a:latin typeface="Amatic SC"/>
                <a:ea typeface="Amatic SC"/>
              </a:defRPr>
            </a:lvl1pPr>
          </a:lstStyle>
          <a:p>
            <a:pPr algn="r">
              <a:lnSpc>
                <a:spcPct val="100000"/>
              </a:lnSpc>
              <a:buNone/>
              <a:tabLst>
                <a:tab algn="l" pos="0"/>
              </a:tabLst>
            </a:pPr>
            <a:fld id="{B295870C-2EFB-43B8-9573-72B86CABB542}" type="slidenum">
              <a:rPr b="1" lang="en" sz="1500" spc="-1" strike="noStrike">
                <a:solidFill>
                  <a:srgbClr val="7f8b91"/>
                </a:solidFill>
                <a:latin typeface="Amatic SC"/>
                <a:ea typeface="Amatic SC"/>
              </a:rPr>
              <a:t>&lt;number&gt;</a:t>
            </a:fld>
            <a:endParaRPr b="0" lang="en-US" sz="1500" spc="-1" strike="noStrike">
              <a:latin typeface="Times New Roman"/>
            </a:endParaRPr>
          </a:p>
        </p:txBody>
      </p:sp>
      <p:sp>
        <p:nvSpPr>
          <p:cNvPr id="122" name="Google Shape;228;p 5"/>
          <p:cNvSpPr/>
          <p:nvPr/>
        </p:nvSpPr>
        <p:spPr>
          <a:xfrm>
            <a:off x="7648200" y="3814560"/>
            <a:ext cx="936720" cy="834120"/>
          </a:xfrm>
          <a:custGeom>
            <a:avLst/>
            <a:gdLst/>
            <a:ahLst/>
            <a:rect l="l" t="t" r="r" b="b"/>
            <a:pathLst>
              <a:path w="444359" h="395938">
                <a:moveTo>
                  <a:pt x="135136" y="205311"/>
                </a:moveTo>
                <a:lnTo>
                  <a:pt x="101482" y="200356"/>
                </a:lnTo>
                <a:cubicBezTo>
                  <a:pt x="92405" y="199041"/>
                  <a:pt x="88788" y="213642"/>
                  <a:pt x="98347" y="215046"/>
                </a:cubicBezTo>
                <a:lnTo>
                  <a:pt x="132067" y="220001"/>
                </a:lnTo>
                <a:cubicBezTo>
                  <a:pt x="141056" y="221316"/>
                  <a:pt x="144673" y="206714"/>
                  <a:pt x="135136" y="205311"/>
                </a:cubicBezTo>
                <a:close/>
                <a:moveTo>
                  <a:pt x="293388" y="291650"/>
                </a:moveTo>
                <a:cubicBezTo>
                  <a:pt x="292554" y="295482"/>
                  <a:pt x="294966" y="299271"/>
                  <a:pt x="298803" y="300115"/>
                </a:cubicBezTo>
                <a:cubicBezTo>
                  <a:pt x="298869" y="300130"/>
                  <a:pt x="298935" y="300144"/>
                  <a:pt x="299001" y="300157"/>
                </a:cubicBezTo>
                <a:cubicBezTo>
                  <a:pt x="299373" y="300157"/>
                  <a:pt x="300711" y="300157"/>
                  <a:pt x="300930" y="300551"/>
                </a:cubicBezTo>
                <a:cubicBezTo>
                  <a:pt x="299921" y="300222"/>
                  <a:pt x="299790" y="300201"/>
                  <a:pt x="300535" y="300551"/>
                </a:cubicBezTo>
                <a:cubicBezTo>
                  <a:pt x="301280" y="300902"/>
                  <a:pt x="301456" y="300924"/>
                  <a:pt x="302267" y="301297"/>
                </a:cubicBezTo>
                <a:lnTo>
                  <a:pt x="302377" y="301297"/>
                </a:lnTo>
                <a:cubicBezTo>
                  <a:pt x="309919" y="308335"/>
                  <a:pt x="320267" y="297416"/>
                  <a:pt x="313142" y="290335"/>
                </a:cubicBezTo>
                <a:cubicBezTo>
                  <a:pt x="307573" y="285621"/>
                  <a:pt x="295756" y="281894"/>
                  <a:pt x="293388" y="291650"/>
                </a:cubicBezTo>
                <a:close/>
                <a:moveTo>
                  <a:pt x="285999" y="274110"/>
                </a:moveTo>
                <a:cubicBezTo>
                  <a:pt x="269973" y="263589"/>
                  <a:pt x="253310" y="254069"/>
                  <a:pt x="236099" y="245608"/>
                </a:cubicBezTo>
                <a:cubicBezTo>
                  <a:pt x="227833" y="241530"/>
                  <a:pt x="220752" y="255014"/>
                  <a:pt x="229346" y="259180"/>
                </a:cubicBezTo>
                <a:cubicBezTo>
                  <a:pt x="245439" y="267053"/>
                  <a:pt x="261027" y="275919"/>
                  <a:pt x="276002" y="285730"/>
                </a:cubicBezTo>
                <a:cubicBezTo>
                  <a:pt x="283697" y="290576"/>
                  <a:pt x="293738" y="279109"/>
                  <a:pt x="285999" y="274023"/>
                </a:cubicBezTo>
                <a:close/>
                <a:moveTo>
                  <a:pt x="433354" y="1544"/>
                </a:moveTo>
                <a:cubicBezTo>
                  <a:pt x="431162" y="3057"/>
                  <a:pt x="428970" y="4482"/>
                  <a:pt x="426908" y="5929"/>
                </a:cubicBezTo>
                <a:cubicBezTo>
                  <a:pt x="425220" y="5833"/>
                  <a:pt x="423554" y="6381"/>
                  <a:pt x="422239" y="7464"/>
                </a:cubicBezTo>
                <a:cubicBezTo>
                  <a:pt x="417854" y="10840"/>
                  <a:pt x="413469" y="14261"/>
                  <a:pt x="408952" y="17659"/>
                </a:cubicBezTo>
                <a:cubicBezTo>
                  <a:pt x="315904" y="75803"/>
                  <a:pt x="209197" y="106563"/>
                  <a:pt x="111195" y="154928"/>
                </a:cubicBezTo>
                <a:cubicBezTo>
                  <a:pt x="93853" y="163501"/>
                  <a:pt x="76773" y="172622"/>
                  <a:pt x="60089" y="182400"/>
                </a:cubicBezTo>
                <a:cubicBezTo>
                  <a:pt x="42549" y="192748"/>
                  <a:pt x="25141" y="203184"/>
                  <a:pt x="5146" y="208249"/>
                </a:cubicBezTo>
                <a:cubicBezTo>
                  <a:pt x="-1804" y="210003"/>
                  <a:pt x="-1147" y="218532"/>
                  <a:pt x="3743" y="221404"/>
                </a:cubicBezTo>
                <a:cubicBezTo>
                  <a:pt x="4707" y="222430"/>
                  <a:pt x="5979" y="223140"/>
                  <a:pt x="7360" y="223443"/>
                </a:cubicBezTo>
                <a:cubicBezTo>
                  <a:pt x="52371" y="234230"/>
                  <a:pt x="97777" y="242999"/>
                  <a:pt x="143621" y="249752"/>
                </a:cubicBezTo>
                <a:lnTo>
                  <a:pt x="143117" y="384961"/>
                </a:lnTo>
                <a:cubicBezTo>
                  <a:pt x="142854" y="387829"/>
                  <a:pt x="144717" y="390464"/>
                  <a:pt x="147502" y="391166"/>
                </a:cubicBezTo>
                <a:cubicBezTo>
                  <a:pt x="148620" y="393251"/>
                  <a:pt x="150615" y="394717"/>
                  <a:pt x="152939" y="395156"/>
                </a:cubicBezTo>
                <a:cubicBezTo>
                  <a:pt x="155855" y="396721"/>
                  <a:pt x="159473" y="395875"/>
                  <a:pt x="161402" y="393183"/>
                </a:cubicBezTo>
                <a:cubicBezTo>
                  <a:pt x="187777" y="361278"/>
                  <a:pt x="215797" y="330777"/>
                  <a:pt x="245351" y="301801"/>
                </a:cubicBezTo>
                <a:cubicBezTo>
                  <a:pt x="266464" y="313914"/>
                  <a:pt x="286394" y="328001"/>
                  <a:pt x="304854" y="343874"/>
                </a:cubicBezTo>
                <a:cubicBezTo>
                  <a:pt x="316496" y="353850"/>
                  <a:pt x="331712" y="356854"/>
                  <a:pt x="343266" y="366413"/>
                </a:cubicBezTo>
                <a:cubicBezTo>
                  <a:pt x="346533" y="371170"/>
                  <a:pt x="355500" y="370798"/>
                  <a:pt x="356553" y="363519"/>
                </a:cubicBezTo>
                <a:cubicBezTo>
                  <a:pt x="373083" y="243175"/>
                  <a:pt x="405510" y="125528"/>
                  <a:pt x="443593" y="10753"/>
                </a:cubicBezTo>
                <a:cubicBezTo>
                  <a:pt x="446618" y="4679"/>
                  <a:pt x="440173" y="-3323"/>
                  <a:pt x="433354" y="1457"/>
                </a:cubicBezTo>
                <a:close/>
                <a:moveTo>
                  <a:pt x="144959" y="232695"/>
                </a:moveTo>
                <a:cubicBezTo>
                  <a:pt x="144345" y="233234"/>
                  <a:pt x="143819" y="233863"/>
                  <a:pt x="143380" y="234558"/>
                </a:cubicBezTo>
                <a:cubicBezTo>
                  <a:pt x="106218" y="229033"/>
                  <a:pt x="69319" y="222164"/>
                  <a:pt x="32639" y="213949"/>
                </a:cubicBezTo>
                <a:cubicBezTo>
                  <a:pt x="52744" y="204895"/>
                  <a:pt x="71358" y="192134"/>
                  <a:pt x="90652" y="181720"/>
                </a:cubicBezTo>
                <a:cubicBezTo>
                  <a:pt x="170610" y="138682"/>
                  <a:pt x="257497" y="110816"/>
                  <a:pt x="339320" y="71856"/>
                </a:cubicBezTo>
                <a:cubicBezTo>
                  <a:pt x="273370" y="123978"/>
                  <a:pt x="208584" y="177592"/>
                  <a:pt x="144959" y="232695"/>
                </a:cubicBezTo>
                <a:close/>
                <a:moveTo>
                  <a:pt x="157938" y="358827"/>
                </a:moveTo>
                <a:lnTo>
                  <a:pt x="158376" y="242429"/>
                </a:lnTo>
                <a:cubicBezTo>
                  <a:pt x="158376" y="241688"/>
                  <a:pt x="158267" y="240949"/>
                  <a:pt x="158070" y="240237"/>
                </a:cubicBezTo>
                <a:cubicBezTo>
                  <a:pt x="232788" y="175691"/>
                  <a:pt x="309152" y="113147"/>
                  <a:pt x="387181" y="52607"/>
                </a:cubicBezTo>
                <a:lnTo>
                  <a:pt x="297159" y="137213"/>
                </a:lnTo>
                <a:cubicBezTo>
                  <a:pt x="259098" y="172972"/>
                  <a:pt x="217024" y="207372"/>
                  <a:pt x="189531" y="252405"/>
                </a:cubicBezTo>
                <a:cubicBezTo>
                  <a:pt x="188216" y="254240"/>
                  <a:pt x="188018" y="256658"/>
                  <a:pt x="189049" y="258675"/>
                </a:cubicBezTo>
                <a:cubicBezTo>
                  <a:pt x="189356" y="259691"/>
                  <a:pt x="189882" y="260620"/>
                  <a:pt x="190605" y="261394"/>
                </a:cubicBezTo>
                <a:cubicBezTo>
                  <a:pt x="181222" y="294369"/>
                  <a:pt x="170325" y="326817"/>
                  <a:pt x="157938" y="358739"/>
                </a:cubicBezTo>
                <a:close/>
                <a:moveTo>
                  <a:pt x="174535" y="355801"/>
                </a:moveTo>
                <a:cubicBezTo>
                  <a:pt x="184927" y="328323"/>
                  <a:pt x="194267" y="300479"/>
                  <a:pt x="202533" y="272269"/>
                </a:cubicBezTo>
                <a:cubicBezTo>
                  <a:pt x="212223" y="280124"/>
                  <a:pt x="222396" y="287379"/>
                  <a:pt x="232964" y="293996"/>
                </a:cubicBezTo>
                <a:cubicBezTo>
                  <a:pt x="212749" y="313844"/>
                  <a:pt x="193281" y="334418"/>
                  <a:pt x="174535" y="355713"/>
                </a:cubicBezTo>
                <a:close/>
                <a:moveTo>
                  <a:pt x="344143" y="348807"/>
                </a:moveTo>
                <a:cubicBezTo>
                  <a:pt x="334847" y="343743"/>
                  <a:pt x="324608" y="340432"/>
                  <a:pt x="316255" y="333460"/>
                </a:cubicBezTo>
                <a:cubicBezTo>
                  <a:pt x="304394" y="323193"/>
                  <a:pt x="291962" y="313631"/>
                  <a:pt x="278983" y="304827"/>
                </a:cubicBezTo>
                <a:cubicBezTo>
                  <a:pt x="253946" y="288581"/>
                  <a:pt x="227351" y="274637"/>
                  <a:pt x="205273" y="254400"/>
                </a:cubicBezTo>
                <a:cubicBezTo>
                  <a:pt x="232701" y="211538"/>
                  <a:pt x="274533" y="178125"/>
                  <a:pt x="311212" y="143637"/>
                </a:cubicBezTo>
                <a:cubicBezTo>
                  <a:pt x="346993" y="110020"/>
                  <a:pt x="382796" y="76401"/>
                  <a:pt x="418643" y="42784"/>
                </a:cubicBezTo>
                <a:cubicBezTo>
                  <a:pt x="385098" y="142442"/>
                  <a:pt x="360170" y="244797"/>
                  <a:pt x="344143" y="348720"/>
                </a:cubicBezTo>
                <a:close/>
                <a:moveTo>
                  <a:pt x="55923" y="163172"/>
                </a:moveTo>
                <a:cubicBezTo>
                  <a:pt x="76620" y="147430"/>
                  <a:pt x="101087" y="137608"/>
                  <a:pt x="124481" y="126668"/>
                </a:cubicBezTo>
                <a:lnTo>
                  <a:pt x="197797" y="92378"/>
                </a:lnTo>
                <a:cubicBezTo>
                  <a:pt x="206238" y="88431"/>
                  <a:pt x="202379" y="74268"/>
                  <a:pt x="193412" y="78434"/>
                </a:cubicBezTo>
                <a:lnTo>
                  <a:pt x="116237" y="114478"/>
                </a:lnTo>
                <a:cubicBezTo>
                  <a:pt x="92954" y="125440"/>
                  <a:pt x="68661" y="135306"/>
                  <a:pt x="48052" y="150960"/>
                </a:cubicBezTo>
                <a:cubicBezTo>
                  <a:pt x="40532" y="156704"/>
                  <a:pt x="48096" y="169114"/>
                  <a:pt x="55923" y="163084"/>
                </a:cubicBezTo>
                <a:close/>
                <a:moveTo>
                  <a:pt x="41760" y="133684"/>
                </a:moveTo>
                <a:cubicBezTo>
                  <a:pt x="60198" y="122794"/>
                  <a:pt x="79119" y="112805"/>
                  <a:pt x="98479" y="103713"/>
                </a:cubicBezTo>
                <a:cubicBezTo>
                  <a:pt x="106919" y="99766"/>
                  <a:pt x="103061" y="85603"/>
                  <a:pt x="94094" y="89791"/>
                </a:cubicBezTo>
                <a:cubicBezTo>
                  <a:pt x="73528" y="99409"/>
                  <a:pt x="53467" y="109990"/>
                  <a:pt x="33889" y="121537"/>
                </a:cubicBezTo>
                <a:cubicBezTo>
                  <a:pt x="25689" y="126339"/>
                  <a:pt x="33341" y="138573"/>
                  <a:pt x="41760" y="133596"/>
                </a:cubicBezTo>
                <a:close/>
              </a:path>
            </a:pathLst>
          </a:custGeom>
          <a:solidFill>
            <a:srgbClr val="2b3547"/>
          </a:solidFill>
          <a:ln w="0">
            <a:no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 name="PlaceHolder 1"/>
          <p:cNvSpPr>
            <a:spLocks noGrp="1"/>
          </p:cNvSpPr>
          <p:nvPr>
            <p:ph type="title"/>
          </p:nvPr>
        </p:nvSpPr>
        <p:spPr>
          <a:xfrm>
            <a:off x="883080" y="682920"/>
            <a:ext cx="6425280" cy="395280"/>
          </a:xfrm>
          <a:prstGeom prst="rect">
            <a:avLst/>
          </a:prstGeom>
          <a:noFill/>
          <a:ln w="0">
            <a:noFill/>
          </a:ln>
        </p:spPr>
        <p:txBody>
          <a:bodyPr lIns="0" rIns="0" tIns="0" bIns="0" anchor="ctr">
            <a:noAutofit/>
          </a:bodyPr>
          <a:p>
            <a:pPr>
              <a:lnSpc>
                <a:spcPct val="90000"/>
              </a:lnSpc>
              <a:buNone/>
              <a:tabLst>
                <a:tab algn="l" pos="0"/>
              </a:tabLst>
            </a:pPr>
            <a:r>
              <a:rPr b="1" lang="en" sz="3400" spc="-1" strike="noStrike">
                <a:solidFill>
                  <a:srgbClr val="2b3547"/>
                </a:solidFill>
                <a:latin typeface="Amatic SC"/>
                <a:ea typeface="Amatic SC"/>
              </a:rPr>
              <a:t>Introduction</a:t>
            </a:r>
            <a:endParaRPr b="0" lang="en-US" sz="3400" spc="-1" strike="noStrike">
              <a:latin typeface="Arial"/>
            </a:endParaRPr>
          </a:p>
        </p:txBody>
      </p:sp>
      <p:sp>
        <p:nvSpPr>
          <p:cNvPr id="124" name="PlaceHolder 2"/>
          <p:cNvSpPr>
            <a:spLocks noGrp="1"/>
          </p:cNvSpPr>
          <p:nvPr>
            <p:ph/>
          </p:nvPr>
        </p:nvSpPr>
        <p:spPr>
          <a:xfrm>
            <a:off x="1187640" y="1505880"/>
            <a:ext cx="6425280" cy="2839320"/>
          </a:xfrm>
          <a:prstGeom prst="rect">
            <a:avLst/>
          </a:prstGeom>
          <a:noFill/>
          <a:ln w="0">
            <a:noFill/>
          </a:ln>
        </p:spPr>
        <p:txBody>
          <a:bodyPr lIns="0" rIns="0" tIns="0" bIns="0" anchor="t">
            <a:noAutofit/>
          </a:bodyPr>
          <a:p>
            <a:pPr marL="432000" indent="-324000">
              <a:lnSpc>
                <a:spcPct val="100000"/>
              </a:lnSpc>
              <a:spcBef>
                <a:spcPts val="1412"/>
              </a:spcBef>
              <a:buClr>
                <a:srgbClr val="000000"/>
              </a:buClr>
              <a:buSzPct val="45000"/>
              <a:buFont typeface="Wingdings" charset="2"/>
              <a:buChar char=""/>
            </a:pPr>
            <a:r>
              <a:rPr b="0" lang="en-US" sz="1800" spc="-1" strike="noStrike">
                <a:solidFill>
                  <a:srgbClr val="2b3547"/>
                </a:solidFill>
                <a:latin typeface="Nunito"/>
                <a:ea typeface="Nunito"/>
              </a:rPr>
              <a:t>All of this in </a:t>
            </a:r>
            <a:r>
              <a:rPr b="0" lang="en-US" sz="1800" spc="-1" strike="noStrike" u="sng">
                <a:solidFill>
                  <a:srgbClr val="2b3547"/>
                </a:solidFill>
                <a:uFillTx/>
                <a:latin typeface="Nunito"/>
                <a:ea typeface="Nunito"/>
              </a:rPr>
              <a:t>a single binary</a:t>
            </a:r>
            <a:r>
              <a:rPr b="0" lang="en-US" sz="1800" spc="-1" strike="noStrike">
                <a:solidFill>
                  <a:srgbClr val="2b3547"/>
                </a:solidFill>
                <a:latin typeface="Nunito"/>
                <a:ea typeface="Nunito"/>
              </a:rPr>
              <a:t> that is easy to deploy and manage. No external dependencies, just drop it in and add </a:t>
            </a:r>
            <a:r>
              <a:rPr b="0" lang="en-US" sz="1800" spc="-1" strike="noStrike" u="sng">
                <a:solidFill>
                  <a:srgbClr val="2b3547"/>
                </a:solidFill>
                <a:uFillTx/>
                <a:latin typeface="Nunito"/>
                <a:ea typeface="Nunito"/>
              </a:rPr>
              <a:t>a configuration file</a:t>
            </a:r>
            <a:r>
              <a:rPr b="0" lang="en-US" sz="1800" spc="-1" strike="noStrike">
                <a:solidFill>
                  <a:srgbClr val="2b3547"/>
                </a:solidFill>
                <a:latin typeface="Nunito"/>
                <a:ea typeface="Nunito"/>
              </a:rPr>
              <a:t> to point to other NATS servers and you are ready to go. In fact, you can even embed NATS in your application (for Go users)!</a:t>
            </a:r>
            <a:endParaRPr b="0" lang="en-US" sz="1800" spc="-1" strike="noStrike">
              <a:latin typeface="Arial"/>
            </a:endParaRPr>
          </a:p>
        </p:txBody>
      </p:sp>
      <p:sp>
        <p:nvSpPr>
          <p:cNvPr id="125" name="PlaceHolder 3"/>
          <p:cNvSpPr>
            <a:spLocks noGrp="1"/>
          </p:cNvSpPr>
          <p:nvPr>
            <p:ph type="sldNum" idx="8"/>
          </p:nvPr>
        </p:nvSpPr>
        <p:spPr>
          <a:xfrm>
            <a:off x="8403840" y="4692960"/>
            <a:ext cx="547560" cy="299160"/>
          </a:xfrm>
          <a:prstGeom prst="rect">
            <a:avLst/>
          </a:prstGeom>
          <a:noFill/>
          <a:ln w="0">
            <a:noFill/>
          </a:ln>
        </p:spPr>
        <p:txBody>
          <a:bodyPr lIns="0" rIns="0" tIns="0" bIns="0" anchor="ctr">
            <a:noAutofit/>
          </a:bodyPr>
          <a:lstStyle>
            <a:lvl1pPr algn="r">
              <a:lnSpc>
                <a:spcPct val="100000"/>
              </a:lnSpc>
              <a:buNone/>
              <a:tabLst>
                <a:tab algn="l" pos="0"/>
              </a:tabLst>
              <a:defRPr b="1" lang="en" sz="1500" spc="-1" strike="noStrike">
                <a:solidFill>
                  <a:srgbClr val="7f8b91"/>
                </a:solidFill>
                <a:latin typeface="Amatic SC"/>
                <a:ea typeface="Amatic SC"/>
              </a:defRPr>
            </a:lvl1pPr>
          </a:lstStyle>
          <a:p>
            <a:pPr algn="r">
              <a:lnSpc>
                <a:spcPct val="100000"/>
              </a:lnSpc>
              <a:buNone/>
              <a:tabLst>
                <a:tab algn="l" pos="0"/>
              </a:tabLst>
            </a:pPr>
            <a:fld id="{721FE4D9-42CB-4E86-B49E-B66BC0A7E297}" type="slidenum">
              <a:rPr b="1" lang="en" sz="1500" spc="-1" strike="noStrike">
                <a:solidFill>
                  <a:srgbClr val="7f8b91"/>
                </a:solidFill>
                <a:latin typeface="Amatic SC"/>
                <a:ea typeface="Amatic SC"/>
              </a:rPr>
              <a:t>&lt;number&gt;</a:t>
            </a:fld>
            <a:endParaRPr b="0" lang="en-US" sz="1500" spc="-1" strike="noStrike">
              <a:latin typeface="Times New Roman"/>
            </a:endParaRPr>
          </a:p>
        </p:txBody>
      </p:sp>
      <p:sp>
        <p:nvSpPr>
          <p:cNvPr id="126" name="Google Shape;228;p 6"/>
          <p:cNvSpPr/>
          <p:nvPr/>
        </p:nvSpPr>
        <p:spPr>
          <a:xfrm>
            <a:off x="7648200" y="3814560"/>
            <a:ext cx="936720" cy="834120"/>
          </a:xfrm>
          <a:custGeom>
            <a:avLst/>
            <a:gdLst/>
            <a:ahLst/>
            <a:rect l="l" t="t" r="r" b="b"/>
            <a:pathLst>
              <a:path w="444359" h="395938">
                <a:moveTo>
                  <a:pt x="135136" y="205311"/>
                </a:moveTo>
                <a:lnTo>
                  <a:pt x="101482" y="200356"/>
                </a:lnTo>
                <a:cubicBezTo>
                  <a:pt x="92405" y="199041"/>
                  <a:pt x="88788" y="213642"/>
                  <a:pt x="98347" y="215046"/>
                </a:cubicBezTo>
                <a:lnTo>
                  <a:pt x="132067" y="220001"/>
                </a:lnTo>
                <a:cubicBezTo>
                  <a:pt x="141056" y="221316"/>
                  <a:pt x="144673" y="206714"/>
                  <a:pt x="135136" y="205311"/>
                </a:cubicBezTo>
                <a:close/>
                <a:moveTo>
                  <a:pt x="293388" y="291650"/>
                </a:moveTo>
                <a:cubicBezTo>
                  <a:pt x="292554" y="295482"/>
                  <a:pt x="294966" y="299271"/>
                  <a:pt x="298803" y="300115"/>
                </a:cubicBezTo>
                <a:cubicBezTo>
                  <a:pt x="298869" y="300130"/>
                  <a:pt x="298935" y="300144"/>
                  <a:pt x="299001" y="300157"/>
                </a:cubicBezTo>
                <a:cubicBezTo>
                  <a:pt x="299373" y="300157"/>
                  <a:pt x="300711" y="300157"/>
                  <a:pt x="300930" y="300551"/>
                </a:cubicBezTo>
                <a:cubicBezTo>
                  <a:pt x="299921" y="300222"/>
                  <a:pt x="299790" y="300201"/>
                  <a:pt x="300535" y="300551"/>
                </a:cubicBezTo>
                <a:cubicBezTo>
                  <a:pt x="301280" y="300902"/>
                  <a:pt x="301456" y="300924"/>
                  <a:pt x="302267" y="301297"/>
                </a:cubicBezTo>
                <a:lnTo>
                  <a:pt x="302377" y="301297"/>
                </a:lnTo>
                <a:cubicBezTo>
                  <a:pt x="309919" y="308335"/>
                  <a:pt x="320267" y="297416"/>
                  <a:pt x="313142" y="290335"/>
                </a:cubicBezTo>
                <a:cubicBezTo>
                  <a:pt x="307573" y="285621"/>
                  <a:pt x="295756" y="281894"/>
                  <a:pt x="293388" y="291650"/>
                </a:cubicBezTo>
                <a:close/>
                <a:moveTo>
                  <a:pt x="285999" y="274110"/>
                </a:moveTo>
                <a:cubicBezTo>
                  <a:pt x="269973" y="263589"/>
                  <a:pt x="253310" y="254069"/>
                  <a:pt x="236099" y="245608"/>
                </a:cubicBezTo>
                <a:cubicBezTo>
                  <a:pt x="227833" y="241530"/>
                  <a:pt x="220752" y="255014"/>
                  <a:pt x="229346" y="259180"/>
                </a:cubicBezTo>
                <a:cubicBezTo>
                  <a:pt x="245439" y="267053"/>
                  <a:pt x="261027" y="275919"/>
                  <a:pt x="276002" y="285730"/>
                </a:cubicBezTo>
                <a:cubicBezTo>
                  <a:pt x="283697" y="290576"/>
                  <a:pt x="293738" y="279109"/>
                  <a:pt x="285999" y="274023"/>
                </a:cubicBezTo>
                <a:close/>
                <a:moveTo>
                  <a:pt x="433354" y="1544"/>
                </a:moveTo>
                <a:cubicBezTo>
                  <a:pt x="431162" y="3057"/>
                  <a:pt x="428970" y="4482"/>
                  <a:pt x="426908" y="5929"/>
                </a:cubicBezTo>
                <a:cubicBezTo>
                  <a:pt x="425220" y="5833"/>
                  <a:pt x="423554" y="6381"/>
                  <a:pt x="422239" y="7464"/>
                </a:cubicBezTo>
                <a:cubicBezTo>
                  <a:pt x="417854" y="10840"/>
                  <a:pt x="413469" y="14261"/>
                  <a:pt x="408952" y="17659"/>
                </a:cubicBezTo>
                <a:cubicBezTo>
                  <a:pt x="315904" y="75803"/>
                  <a:pt x="209197" y="106563"/>
                  <a:pt x="111195" y="154928"/>
                </a:cubicBezTo>
                <a:cubicBezTo>
                  <a:pt x="93853" y="163501"/>
                  <a:pt x="76773" y="172622"/>
                  <a:pt x="60089" y="182400"/>
                </a:cubicBezTo>
                <a:cubicBezTo>
                  <a:pt x="42549" y="192748"/>
                  <a:pt x="25141" y="203184"/>
                  <a:pt x="5146" y="208249"/>
                </a:cubicBezTo>
                <a:cubicBezTo>
                  <a:pt x="-1804" y="210003"/>
                  <a:pt x="-1147" y="218532"/>
                  <a:pt x="3743" y="221404"/>
                </a:cubicBezTo>
                <a:cubicBezTo>
                  <a:pt x="4707" y="222430"/>
                  <a:pt x="5979" y="223140"/>
                  <a:pt x="7360" y="223443"/>
                </a:cubicBezTo>
                <a:cubicBezTo>
                  <a:pt x="52371" y="234230"/>
                  <a:pt x="97777" y="242999"/>
                  <a:pt x="143621" y="249752"/>
                </a:cubicBezTo>
                <a:lnTo>
                  <a:pt x="143117" y="384961"/>
                </a:lnTo>
                <a:cubicBezTo>
                  <a:pt x="142854" y="387829"/>
                  <a:pt x="144717" y="390464"/>
                  <a:pt x="147502" y="391166"/>
                </a:cubicBezTo>
                <a:cubicBezTo>
                  <a:pt x="148620" y="393251"/>
                  <a:pt x="150615" y="394717"/>
                  <a:pt x="152939" y="395156"/>
                </a:cubicBezTo>
                <a:cubicBezTo>
                  <a:pt x="155855" y="396721"/>
                  <a:pt x="159473" y="395875"/>
                  <a:pt x="161402" y="393183"/>
                </a:cubicBezTo>
                <a:cubicBezTo>
                  <a:pt x="187777" y="361278"/>
                  <a:pt x="215797" y="330777"/>
                  <a:pt x="245351" y="301801"/>
                </a:cubicBezTo>
                <a:cubicBezTo>
                  <a:pt x="266464" y="313914"/>
                  <a:pt x="286394" y="328001"/>
                  <a:pt x="304854" y="343874"/>
                </a:cubicBezTo>
                <a:cubicBezTo>
                  <a:pt x="316496" y="353850"/>
                  <a:pt x="331712" y="356854"/>
                  <a:pt x="343266" y="366413"/>
                </a:cubicBezTo>
                <a:cubicBezTo>
                  <a:pt x="346533" y="371170"/>
                  <a:pt x="355500" y="370798"/>
                  <a:pt x="356553" y="363519"/>
                </a:cubicBezTo>
                <a:cubicBezTo>
                  <a:pt x="373083" y="243175"/>
                  <a:pt x="405510" y="125528"/>
                  <a:pt x="443593" y="10753"/>
                </a:cubicBezTo>
                <a:cubicBezTo>
                  <a:pt x="446618" y="4679"/>
                  <a:pt x="440173" y="-3323"/>
                  <a:pt x="433354" y="1457"/>
                </a:cubicBezTo>
                <a:close/>
                <a:moveTo>
                  <a:pt x="144959" y="232695"/>
                </a:moveTo>
                <a:cubicBezTo>
                  <a:pt x="144345" y="233234"/>
                  <a:pt x="143819" y="233863"/>
                  <a:pt x="143380" y="234558"/>
                </a:cubicBezTo>
                <a:cubicBezTo>
                  <a:pt x="106218" y="229033"/>
                  <a:pt x="69319" y="222164"/>
                  <a:pt x="32639" y="213949"/>
                </a:cubicBezTo>
                <a:cubicBezTo>
                  <a:pt x="52744" y="204895"/>
                  <a:pt x="71358" y="192134"/>
                  <a:pt x="90652" y="181720"/>
                </a:cubicBezTo>
                <a:cubicBezTo>
                  <a:pt x="170610" y="138682"/>
                  <a:pt x="257497" y="110816"/>
                  <a:pt x="339320" y="71856"/>
                </a:cubicBezTo>
                <a:cubicBezTo>
                  <a:pt x="273370" y="123978"/>
                  <a:pt x="208584" y="177592"/>
                  <a:pt x="144959" y="232695"/>
                </a:cubicBezTo>
                <a:close/>
                <a:moveTo>
                  <a:pt x="157938" y="358827"/>
                </a:moveTo>
                <a:lnTo>
                  <a:pt x="158376" y="242429"/>
                </a:lnTo>
                <a:cubicBezTo>
                  <a:pt x="158376" y="241688"/>
                  <a:pt x="158267" y="240949"/>
                  <a:pt x="158070" y="240237"/>
                </a:cubicBezTo>
                <a:cubicBezTo>
                  <a:pt x="232788" y="175691"/>
                  <a:pt x="309152" y="113147"/>
                  <a:pt x="387181" y="52607"/>
                </a:cubicBezTo>
                <a:lnTo>
                  <a:pt x="297159" y="137213"/>
                </a:lnTo>
                <a:cubicBezTo>
                  <a:pt x="259098" y="172972"/>
                  <a:pt x="217024" y="207372"/>
                  <a:pt x="189531" y="252405"/>
                </a:cubicBezTo>
                <a:cubicBezTo>
                  <a:pt x="188216" y="254240"/>
                  <a:pt x="188018" y="256658"/>
                  <a:pt x="189049" y="258675"/>
                </a:cubicBezTo>
                <a:cubicBezTo>
                  <a:pt x="189356" y="259691"/>
                  <a:pt x="189882" y="260620"/>
                  <a:pt x="190605" y="261394"/>
                </a:cubicBezTo>
                <a:cubicBezTo>
                  <a:pt x="181222" y="294369"/>
                  <a:pt x="170325" y="326817"/>
                  <a:pt x="157938" y="358739"/>
                </a:cubicBezTo>
                <a:close/>
                <a:moveTo>
                  <a:pt x="174535" y="355801"/>
                </a:moveTo>
                <a:cubicBezTo>
                  <a:pt x="184927" y="328323"/>
                  <a:pt x="194267" y="300479"/>
                  <a:pt x="202533" y="272269"/>
                </a:cubicBezTo>
                <a:cubicBezTo>
                  <a:pt x="212223" y="280124"/>
                  <a:pt x="222396" y="287379"/>
                  <a:pt x="232964" y="293996"/>
                </a:cubicBezTo>
                <a:cubicBezTo>
                  <a:pt x="212749" y="313844"/>
                  <a:pt x="193281" y="334418"/>
                  <a:pt x="174535" y="355713"/>
                </a:cubicBezTo>
                <a:close/>
                <a:moveTo>
                  <a:pt x="344143" y="348807"/>
                </a:moveTo>
                <a:cubicBezTo>
                  <a:pt x="334847" y="343743"/>
                  <a:pt x="324608" y="340432"/>
                  <a:pt x="316255" y="333460"/>
                </a:cubicBezTo>
                <a:cubicBezTo>
                  <a:pt x="304394" y="323193"/>
                  <a:pt x="291962" y="313631"/>
                  <a:pt x="278983" y="304827"/>
                </a:cubicBezTo>
                <a:cubicBezTo>
                  <a:pt x="253946" y="288581"/>
                  <a:pt x="227351" y="274637"/>
                  <a:pt x="205273" y="254400"/>
                </a:cubicBezTo>
                <a:cubicBezTo>
                  <a:pt x="232701" y="211538"/>
                  <a:pt x="274533" y="178125"/>
                  <a:pt x="311212" y="143637"/>
                </a:cubicBezTo>
                <a:cubicBezTo>
                  <a:pt x="346993" y="110020"/>
                  <a:pt x="382796" y="76401"/>
                  <a:pt x="418643" y="42784"/>
                </a:cubicBezTo>
                <a:cubicBezTo>
                  <a:pt x="385098" y="142442"/>
                  <a:pt x="360170" y="244797"/>
                  <a:pt x="344143" y="348720"/>
                </a:cubicBezTo>
                <a:close/>
                <a:moveTo>
                  <a:pt x="55923" y="163172"/>
                </a:moveTo>
                <a:cubicBezTo>
                  <a:pt x="76620" y="147430"/>
                  <a:pt x="101087" y="137608"/>
                  <a:pt x="124481" y="126668"/>
                </a:cubicBezTo>
                <a:lnTo>
                  <a:pt x="197797" y="92378"/>
                </a:lnTo>
                <a:cubicBezTo>
                  <a:pt x="206238" y="88431"/>
                  <a:pt x="202379" y="74268"/>
                  <a:pt x="193412" y="78434"/>
                </a:cubicBezTo>
                <a:lnTo>
                  <a:pt x="116237" y="114478"/>
                </a:lnTo>
                <a:cubicBezTo>
                  <a:pt x="92954" y="125440"/>
                  <a:pt x="68661" y="135306"/>
                  <a:pt x="48052" y="150960"/>
                </a:cubicBezTo>
                <a:cubicBezTo>
                  <a:pt x="40532" y="156704"/>
                  <a:pt x="48096" y="169114"/>
                  <a:pt x="55923" y="163084"/>
                </a:cubicBezTo>
                <a:close/>
                <a:moveTo>
                  <a:pt x="41760" y="133684"/>
                </a:moveTo>
                <a:cubicBezTo>
                  <a:pt x="60198" y="122794"/>
                  <a:pt x="79119" y="112805"/>
                  <a:pt x="98479" y="103713"/>
                </a:cubicBezTo>
                <a:cubicBezTo>
                  <a:pt x="106919" y="99766"/>
                  <a:pt x="103061" y="85603"/>
                  <a:pt x="94094" y="89791"/>
                </a:cubicBezTo>
                <a:cubicBezTo>
                  <a:pt x="73528" y="99409"/>
                  <a:pt x="53467" y="109990"/>
                  <a:pt x="33889" y="121537"/>
                </a:cubicBezTo>
                <a:cubicBezTo>
                  <a:pt x="25689" y="126339"/>
                  <a:pt x="33341" y="138573"/>
                  <a:pt x="41760" y="133596"/>
                </a:cubicBezTo>
                <a:close/>
              </a:path>
            </a:pathLst>
          </a:custGeom>
          <a:solidFill>
            <a:srgbClr val="2b3547"/>
          </a:solidFill>
          <a:ln w="0">
            <a:no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 name="PlaceHolder 1"/>
          <p:cNvSpPr>
            <a:spLocks noGrp="1"/>
          </p:cNvSpPr>
          <p:nvPr>
            <p:ph type="title"/>
          </p:nvPr>
        </p:nvSpPr>
        <p:spPr>
          <a:xfrm>
            <a:off x="883080" y="682920"/>
            <a:ext cx="6425280" cy="395280"/>
          </a:xfrm>
          <a:prstGeom prst="rect">
            <a:avLst/>
          </a:prstGeom>
          <a:noFill/>
          <a:ln w="0">
            <a:noFill/>
          </a:ln>
        </p:spPr>
        <p:txBody>
          <a:bodyPr lIns="0" rIns="0" tIns="0" bIns="0" anchor="ctr">
            <a:noAutofit/>
          </a:bodyPr>
          <a:p>
            <a:pPr>
              <a:lnSpc>
                <a:spcPct val="90000"/>
              </a:lnSpc>
              <a:buNone/>
              <a:tabLst>
                <a:tab algn="l" pos="0"/>
              </a:tabLst>
            </a:pPr>
            <a:r>
              <a:rPr b="1" lang="en" sz="3400" spc="-1" strike="noStrike">
                <a:solidFill>
                  <a:srgbClr val="2b3547"/>
                </a:solidFill>
                <a:latin typeface="Amatic SC"/>
                <a:ea typeface="Amatic SC"/>
              </a:rPr>
              <a:t>Compare NATS</a:t>
            </a:r>
            <a:endParaRPr b="0" lang="en-US" sz="3400" spc="-1" strike="noStrike">
              <a:latin typeface="Arial"/>
            </a:endParaRPr>
          </a:p>
        </p:txBody>
      </p:sp>
      <p:sp>
        <p:nvSpPr>
          <p:cNvPr id="128" name="PlaceHolder 2"/>
          <p:cNvSpPr>
            <a:spLocks noGrp="1"/>
          </p:cNvSpPr>
          <p:nvPr>
            <p:ph type="sldNum" idx="9"/>
          </p:nvPr>
        </p:nvSpPr>
        <p:spPr>
          <a:xfrm>
            <a:off x="8403840" y="4692960"/>
            <a:ext cx="547560" cy="299160"/>
          </a:xfrm>
          <a:prstGeom prst="rect">
            <a:avLst/>
          </a:prstGeom>
          <a:noFill/>
          <a:ln w="0">
            <a:noFill/>
          </a:ln>
        </p:spPr>
        <p:txBody>
          <a:bodyPr lIns="0" rIns="0" tIns="0" bIns="0" anchor="ctr">
            <a:noAutofit/>
          </a:bodyPr>
          <a:lstStyle>
            <a:lvl1pPr algn="r">
              <a:lnSpc>
                <a:spcPct val="100000"/>
              </a:lnSpc>
              <a:buNone/>
              <a:tabLst>
                <a:tab algn="l" pos="0"/>
              </a:tabLst>
              <a:defRPr b="1" lang="en" sz="1500" spc="-1" strike="noStrike">
                <a:solidFill>
                  <a:srgbClr val="7f8b91"/>
                </a:solidFill>
                <a:latin typeface="Amatic SC"/>
                <a:ea typeface="Amatic SC"/>
              </a:defRPr>
            </a:lvl1pPr>
          </a:lstStyle>
          <a:p>
            <a:pPr algn="r">
              <a:lnSpc>
                <a:spcPct val="100000"/>
              </a:lnSpc>
              <a:buNone/>
              <a:tabLst>
                <a:tab algn="l" pos="0"/>
              </a:tabLst>
            </a:pPr>
            <a:fld id="{2FD13CBD-1764-4254-A66C-3C153DD6DD42}" type="slidenum">
              <a:rPr b="1" lang="en" sz="1500" spc="-1" strike="noStrike">
                <a:solidFill>
                  <a:srgbClr val="7f8b91"/>
                </a:solidFill>
                <a:latin typeface="Amatic SC"/>
                <a:ea typeface="Amatic SC"/>
              </a:rPr>
              <a:t>&lt;number&gt;</a:t>
            </a:fld>
            <a:endParaRPr b="0" lang="en-US" sz="1500" spc="-1" strike="noStrike">
              <a:latin typeface="Times New Roman"/>
            </a:endParaRPr>
          </a:p>
        </p:txBody>
      </p:sp>
      <p:sp>
        <p:nvSpPr>
          <p:cNvPr id="129" name="Google Shape;228;p 7"/>
          <p:cNvSpPr/>
          <p:nvPr/>
        </p:nvSpPr>
        <p:spPr>
          <a:xfrm>
            <a:off x="7648200" y="3814560"/>
            <a:ext cx="936720" cy="834120"/>
          </a:xfrm>
          <a:custGeom>
            <a:avLst/>
            <a:gdLst/>
            <a:ahLst/>
            <a:rect l="l" t="t" r="r" b="b"/>
            <a:pathLst>
              <a:path w="444359" h="395938">
                <a:moveTo>
                  <a:pt x="135136" y="205311"/>
                </a:moveTo>
                <a:lnTo>
                  <a:pt x="101482" y="200356"/>
                </a:lnTo>
                <a:cubicBezTo>
                  <a:pt x="92405" y="199041"/>
                  <a:pt x="88788" y="213642"/>
                  <a:pt x="98347" y="215046"/>
                </a:cubicBezTo>
                <a:lnTo>
                  <a:pt x="132067" y="220001"/>
                </a:lnTo>
                <a:cubicBezTo>
                  <a:pt x="141056" y="221316"/>
                  <a:pt x="144673" y="206714"/>
                  <a:pt x="135136" y="205311"/>
                </a:cubicBezTo>
                <a:close/>
                <a:moveTo>
                  <a:pt x="293388" y="291650"/>
                </a:moveTo>
                <a:cubicBezTo>
                  <a:pt x="292554" y="295482"/>
                  <a:pt x="294966" y="299271"/>
                  <a:pt x="298803" y="300115"/>
                </a:cubicBezTo>
                <a:cubicBezTo>
                  <a:pt x="298869" y="300130"/>
                  <a:pt x="298935" y="300144"/>
                  <a:pt x="299001" y="300157"/>
                </a:cubicBezTo>
                <a:cubicBezTo>
                  <a:pt x="299373" y="300157"/>
                  <a:pt x="300711" y="300157"/>
                  <a:pt x="300930" y="300551"/>
                </a:cubicBezTo>
                <a:cubicBezTo>
                  <a:pt x="299921" y="300222"/>
                  <a:pt x="299790" y="300201"/>
                  <a:pt x="300535" y="300551"/>
                </a:cubicBezTo>
                <a:cubicBezTo>
                  <a:pt x="301280" y="300902"/>
                  <a:pt x="301456" y="300924"/>
                  <a:pt x="302267" y="301297"/>
                </a:cubicBezTo>
                <a:lnTo>
                  <a:pt x="302377" y="301297"/>
                </a:lnTo>
                <a:cubicBezTo>
                  <a:pt x="309919" y="308335"/>
                  <a:pt x="320267" y="297416"/>
                  <a:pt x="313142" y="290335"/>
                </a:cubicBezTo>
                <a:cubicBezTo>
                  <a:pt x="307573" y="285621"/>
                  <a:pt x="295756" y="281894"/>
                  <a:pt x="293388" y="291650"/>
                </a:cubicBezTo>
                <a:close/>
                <a:moveTo>
                  <a:pt x="285999" y="274110"/>
                </a:moveTo>
                <a:cubicBezTo>
                  <a:pt x="269973" y="263589"/>
                  <a:pt x="253310" y="254069"/>
                  <a:pt x="236099" y="245608"/>
                </a:cubicBezTo>
                <a:cubicBezTo>
                  <a:pt x="227833" y="241530"/>
                  <a:pt x="220752" y="255014"/>
                  <a:pt x="229346" y="259180"/>
                </a:cubicBezTo>
                <a:cubicBezTo>
                  <a:pt x="245439" y="267053"/>
                  <a:pt x="261027" y="275919"/>
                  <a:pt x="276002" y="285730"/>
                </a:cubicBezTo>
                <a:cubicBezTo>
                  <a:pt x="283697" y="290576"/>
                  <a:pt x="293738" y="279109"/>
                  <a:pt x="285999" y="274023"/>
                </a:cubicBezTo>
                <a:close/>
                <a:moveTo>
                  <a:pt x="433354" y="1544"/>
                </a:moveTo>
                <a:cubicBezTo>
                  <a:pt x="431162" y="3057"/>
                  <a:pt x="428970" y="4482"/>
                  <a:pt x="426908" y="5929"/>
                </a:cubicBezTo>
                <a:cubicBezTo>
                  <a:pt x="425220" y="5833"/>
                  <a:pt x="423554" y="6381"/>
                  <a:pt x="422239" y="7464"/>
                </a:cubicBezTo>
                <a:cubicBezTo>
                  <a:pt x="417854" y="10840"/>
                  <a:pt x="413469" y="14261"/>
                  <a:pt x="408952" y="17659"/>
                </a:cubicBezTo>
                <a:cubicBezTo>
                  <a:pt x="315904" y="75803"/>
                  <a:pt x="209197" y="106563"/>
                  <a:pt x="111195" y="154928"/>
                </a:cubicBezTo>
                <a:cubicBezTo>
                  <a:pt x="93853" y="163501"/>
                  <a:pt x="76773" y="172622"/>
                  <a:pt x="60089" y="182400"/>
                </a:cubicBezTo>
                <a:cubicBezTo>
                  <a:pt x="42549" y="192748"/>
                  <a:pt x="25141" y="203184"/>
                  <a:pt x="5146" y="208249"/>
                </a:cubicBezTo>
                <a:cubicBezTo>
                  <a:pt x="-1804" y="210003"/>
                  <a:pt x="-1147" y="218532"/>
                  <a:pt x="3743" y="221404"/>
                </a:cubicBezTo>
                <a:cubicBezTo>
                  <a:pt x="4707" y="222430"/>
                  <a:pt x="5979" y="223140"/>
                  <a:pt x="7360" y="223443"/>
                </a:cubicBezTo>
                <a:cubicBezTo>
                  <a:pt x="52371" y="234230"/>
                  <a:pt x="97777" y="242999"/>
                  <a:pt x="143621" y="249752"/>
                </a:cubicBezTo>
                <a:lnTo>
                  <a:pt x="143117" y="384961"/>
                </a:lnTo>
                <a:cubicBezTo>
                  <a:pt x="142854" y="387829"/>
                  <a:pt x="144717" y="390464"/>
                  <a:pt x="147502" y="391166"/>
                </a:cubicBezTo>
                <a:cubicBezTo>
                  <a:pt x="148620" y="393251"/>
                  <a:pt x="150615" y="394717"/>
                  <a:pt x="152939" y="395156"/>
                </a:cubicBezTo>
                <a:cubicBezTo>
                  <a:pt x="155855" y="396721"/>
                  <a:pt x="159473" y="395875"/>
                  <a:pt x="161402" y="393183"/>
                </a:cubicBezTo>
                <a:cubicBezTo>
                  <a:pt x="187777" y="361278"/>
                  <a:pt x="215797" y="330777"/>
                  <a:pt x="245351" y="301801"/>
                </a:cubicBezTo>
                <a:cubicBezTo>
                  <a:pt x="266464" y="313914"/>
                  <a:pt x="286394" y="328001"/>
                  <a:pt x="304854" y="343874"/>
                </a:cubicBezTo>
                <a:cubicBezTo>
                  <a:pt x="316496" y="353850"/>
                  <a:pt x="331712" y="356854"/>
                  <a:pt x="343266" y="366413"/>
                </a:cubicBezTo>
                <a:cubicBezTo>
                  <a:pt x="346533" y="371170"/>
                  <a:pt x="355500" y="370798"/>
                  <a:pt x="356553" y="363519"/>
                </a:cubicBezTo>
                <a:cubicBezTo>
                  <a:pt x="373083" y="243175"/>
                  <a:pt x="405510" y="125528"/>
                  <a:pt x="443593" y="10753"/>
                </a:cubicBezTo>
                <a:cubicBezTo>
                  <a:pt x="446618" y="4679"/>
                  <a:pt x="440173" y="-3323"/>
                  <a:pt x="433354" y="1457"/>
                </a:cubicBezTo>
                <a:close/>
                <a:moveTo>
                  <a:pt x="144959" y="232695"/>
                </a:moveTo>
                <a:cubicBezTo>
                  <a:pt x="144345" y="233234"/>
                  <a:pt x="143819" y="233863"/>
                  <a:pt x="143380" y="234558"/>
                </a:cubicBezTo>
                <a:cubicBezTo>
                  <a:pt x="106218" y="229033"/>
                  <a:pt x="69319" y="222164"/>
                  <a:pt x="32639" y="213949"/>
                </a:cubicBezTo>
                <a:cubicBezTo>
                  <a:pt x="52744" y="204895"/>
                  <a:pt x="71358" y="192134"/>
                  <a:pt x="90652" y="181720"/>
                </a:cubicBezTo>
                <a:cubicBezTo>
                  <a:pt x="170610" y="138682"/>
                  <a:pt x="257497" y="110816"/>
                  <a:pt x="339320" y="71856"/>
                </a:cubicBezTo>
                <a:cubicBezTo>
                  <a:pt x="273370" y="123978"/>
                  <a:pt x="208584" y="177592"/>
                  <a:pt x="144959" y="232695"/>
                </a:cubicBezTo>
                <a:close/>
                <a:moveTo>
                  <a:pt x="157938" y="358827"/>
                </a:moveTo>
                <a:lnTo>
                  <a:pt x="158376" y="242429"/>
                </a:lnTo>
                <a:cubicBezTo>
                  <a:pt x="158376" y="241688"/>
                  <a:pt x="158267" y="240949"/>
                  <a:pt x="158070" y="240237"/>
                </a:cubicBezTo>
                <a:cubicBezTo>
                  <a:pt x="232788" y="175691"/>
                  <a:pt x="309152" y="113147"/>
                  <a:pt x="387181" y="52607"/>
                </a:cubicBezTo>
                <a:lnTo>
                  <a:pt x="297159" y="137213"/>
                </a:lnTo>
                <a:cubicBezTo>
                  <a:pt x="259098" y="172972"/>
                  <a:pt x="217024" y="207372"/>
                  <a:pt x="189531" y="252405"/>
                </a:cubicBezTo>
                <a:cubicBezTo>
                  <a:pt x="188216" y="254240"/>
                  <a:pt x="188018" y="256658"/>
                  <a:pt x="189049" y="258675"/>
                </a:cubicBezTo>
                <a:cubicBezTo>
                  <a:pt x="189356" y="259691"/>
                  <a:pt x="189882" y="260620"/>
                  <a:pt x="190605" y="261394"/>
                </a:cubicBezTo>
                <a:cubicBezTo>
                  <a:pt x="181222" y="294369"/>
                  <a:pt x="170325" y="326817"/>
                  <a:pt x="157938" y="358739"/>
                </a:cubicBezTo>
                <a:close/>
                <a:moveTo>
                  <a:pt x="174535" y="355801"/>
                </a:moveTo>
                <a:cubicBezTo>
                  <a:pt x="184927" y="328323"/>
                  <a:pt x="194267" y="300479"/>
                  <a:pt x="202533" y="272269"/>
                </a:cubicBezTo>
                <a:cubicBezTo>
                  <a:pt x="212223" y="280124"/>
                  <a:pt x="222396" y="287379"/>
                  <a:pt x="232964" y="293996"/>
                </a:cubicBezTo>
                <a:cubicBezTo>
                  <a:pt x="212749" y="313844"/>
                  <a:pt x="193281" y="334418"/>
                  <a:pt x="174535" y="355713"/>
                </a:cubicBezTo>
                <a:close/>
                <a:moveTo>
                  <a:pt x="344143" y="348807"/>
                </a:moveTo>
                <a:cubicBezTo>
                  <a:pt x="334847" y="343743"/>
                  <a:pt x="324608" y="340432"/>
                  <a:pt x="316255" y="333460"/>
                </a:cubicBezTo>
                <a:cubicBezTo>
                  <a:pt x="304394" y="323193"/>
                  <a:pt x="291962" y="313631"/>
                  <a:pt x="278983" y="304827"/>
                </a:cubicBezTo>
                <a:cubicBezTo>
                  <a:pt x="253946" y="288581"/>
                  <a:pt x="227351" y="274637"/>
                  <a:pt x="205273" y="254400"/>
                </a:cubicBezTo>
                <a:cubicBezTo>
                  <a:pt x="232701" y="211538"/>
                  <a:pt x="274533" y="178125"/>
                  <a:pt x="311212" y="143637"/>
                </a:cubicBezTo>
                <a:cubicBezTo>
                  <a:pt x="346993" y="110020"/>
                  <a:pt x="382796" y="76401"/>
                  <a:pt x="418643" y="42784"/>
                </a:cubicBezTo>
                <a:cubicBezTo>
                  <a:pt x="385098" y="142442"/>
                  <a:pt x="360170" y="244797"/>
                  <a:pt x="344143" y="348720"/>
                </a:cubicBezTo>
                <a:close/>
                <a:moveTo>
                  <a:pt x="55923" y="163172"/>
                </a:moveTo>
                <a:cubicBezTo>
                  <a:pt x="76620" y="147430"/>
                  <a:pt x="101087" y="137608"/>
                  <a:pt x="124481" y="126668"/>
                </a:cubicBezTo>
                <a:lnTo>
                  <a:pt x="197797" y="92378"/>
                </a:lnTo>
                <a:cubicBezTo>
                  <a:pt x="206238" y="88431"/>
                  <a:pt x="202379" y="74268"/>
                  <a:pt x="193412" y="78434"/>
                </a:cubicBezTo>
                <a:lnTo>
                  <a:pt x="116237" y="114478"/>
                </a:lnTo>
                <a:cubicBezTo>
                  <a:pt x="92954" y="125440"/>
                  <a:pt x="68661" y="135306"/>
                  <a:pt x="48052" y="150960"/>
                </a:cubicBezTo>
                <a:cubicBezTo>
                  <a:pt x="40532" y="156704"/>
                  <a:pt x="48096" y="169114"/>
                  <a:pt x="55923" y="163084"/>
                </a:cubicBezTo>
                <a:close/>
                <a:moveTo>
                  <a:pt x="41760" y="133684"/>
                </a:moveTo>
                <a:cubicBezTo>
                  <a:pt x="60198" y="122794"/>
                  <a:pt x="79119" y="112805"/>
                  <a:pt x="98479" y="103713"/>
                </a:cubicBezTo>
                <a:cubicBezTo>
                  <a:pt x="106919" y="99766"/>
                  <a:pt x="103061" y="85603"/>
                  <a:pt x="94094" y="89791"/>
                </a:cubicBezTo>
                <a:cubicBezTo>
                  <a:pt x="73528" y="99409"/>
                  <a:pt x="53467" y="109990"/>
                  <a:pt x="33889" y="121537"/>
                </a:cubicBezTo>
                <a:cubicBezTo>
                  <a:pt x="25689" y="126339"/>
                  <a:pt x="33341" y="138573"/>
                  <a:pt x="41760" y="133596"/>
                </a:cubicBezTo>
                <a:close/>
              </a:path>
            </a:pathLst>
          </a:custGeom>
          <a:solidFill>
            <a:srgbClr val="2b3547"/>
          </a:solidFill>
          <a:ln w="0">
            <a:noFill/>
          </a:ln>
        </p:spPr>
        <p:style>
          <a:lnRef idx="0"/>
          <a:fillRef idx="0"/>
          <a:effectRef idx="0"/>
          <a:fontRef idx="minor"/>
        </p:style>
      </p:sp>
      <p:sp>
        <p:nvSpPr>
          <p:cNvPr id="130" name="PlaceHolder 3"/>
          <p:cNvSpPr>
            <a:spLocks noGrp="1"/>
          </p:cNvSpPr>
          <p:nvPr>
            <p:ph/>
          </p:nvPr>
        </p:nvSpPr>
        <p:spPr>
          <a:xfrm>
            <a:off x="1188000" y="1505880"/>
            <a:ext cx="6425280" cy="2839320"/>
          </a:xfrm>
          <a:prstGeom prst="rect">
            <a:avLst/>
          </a:prstGeom>
          <a:noFill/>
          <a:ln w="0">
            <a:noFill/>
          </a:ln>
        </p:spPr>
        <p:txBody>
          <a:bodyPr lIns="0" rIns="0" tIns="0" bIns="0" anchor="t">
            <a:noAutofit/>
          </a:bodyPr>
          <a:p>
            <a:pPr marL="432000" indent="-324000">
              <a:lnSpc>
                <a:spcPct val="100000"/>
              </a:lnSpc>
              <a:spcBef>
                <a:spcPts val="1412"/>
              </a:spcBef>
              <a:buClr>
                <a:srgbClr val="000000"/>
              </a:buClr>
              <a:buSzPct val="45000"/>
              <a:buFont typeface="Wingdings" charset="2"/>
              <a:buChar char=""/>
            </a:pPr>
            <a:r>
              <a:rPr b="0" lang="en-US" sz="1800" spc="-1" strike="noStrike">
                <a:solidFill>
                  <a:srgbClr val="2b3547"/>
                </a:solidFill>
                <a:latin typeface="Nunito"/>
                <a:ea typeface="Nunito"/>
              </a:rPr>
              <a:t>Language and Platform Coverage:</a:t>
            </a:r>
            <a:endParaRPr b="0" lang="en-US" sz="1800" spc="-1" strike="noStrike">
              <a:latin typeface="Arial"/>
            </a:endParaRPr>
          </a:p>
          <a:p>
            <a:pPr marL="432000" indent="-324000">
              <a:lnSpc>
                <a:spcPct val="100000"/>
              </a:lnSpc>
              <a:spcBef>
                <a:spcPts val="1412"/>
              </a:spcBef>
              <a:buClr>
                <a:srgbClr val="000000"/>
              </a:buClr>
              <a:buSzPct val="45000"/>
              <a:buFont typeface="Wingdings" charset="2"/>
              <a:buChar char=""/>
            </a:pPr>
            <a:r>
              <a:rPr b="0" lang="en-US" sz="1400" spc="-1" strike="noStrike">
                <a:solidFill>
                  <a:srgbClr val="2b3547"/>
                </a:solidFill>
                <a:latin typeface="Nunito"/>
                <a:ea typeface="Nunito"/>
              </a:rPr>
              <a:t>NATS</a:t>
            </a:r>
            <a:r>
              <a:rPr b="0" lang="en-US" sz="1800" spc="-1" strike="noStrike">
                <a:solidFill>
                  <a:srgbClr val="2b3547"/>
                </a:solidFill>
                <a:latin typeface="Nunito"/>
                <a:ea typeface="Nunito"/>
              </a:rPr>
              <a:t>: </a:t>
            </a:r>
            <a:r>
              <a:rPr b="0" lang="en-US" sz="1200" spc="-1" strike="noStrike">
                <a:solidFill>
                  <a:srgbClr val="2b3547"/>
                </a:solidFill>
                <a:latin typeface="Nunito"/>
                <a:ea typeface="Nunito"/>
              </a:rPr>
              <a:t>48 known </a:t>
            </a:r>
            <a:r>
              <a:rPr b="0" lang="en-US" sz="1200" spc="-1" strike="noStrike" u="sng">
                <a:solidFill>
                  <a:srgbClr val="2b3547"/>
                </a:solidFill>
                <a:uFillTx/>
                <a:latin typeface="Nunito"/>
                <a:ea typeface="Nunito"/>
              </a:rPr>
              <a:t>client</a:t>
            </a:r>
            <a:r>
              <a:rPr b="0" lang="en-US" sz="1200" spc="-1" strike="noStrike">
                <a:solidFill>
                  <a:srgbClr val="2b3547"/>
                </a:solidFill>
                <a:latin typeface="Nunito"/>
                <a:ea typeface="Nunito"/>
              </a:rPr>
              <a:t> types, 11 supported by maintainers, 18 contributed by the community. NATS Streaming: 7 client types supported by maintainers, 4 contributed by the community.</a:t>
            </a:r>
            <a:endParaRPr b="0" lang="en-US" sz="1200" spc="-1" strike="noStrike">
              <a:latin typeface="Arial"/>
            </a:endParaRPr>
          </a:p>
          <a:p>
            <a:pPr marL="432000" indent="-324000">
              <a:lnSpc>
                <a:spcPct val="100000"/>
              </a:lnSpc>
              <a:spcBef>
                <a:spcPts val="1412"/>
              </a:spcBef>
              <a:buClr>
                <a:srgbClr val="000000"/>
              </a:buClr>
              <a:buSzPct val="45000"/>
              <a:buFont typeface="Wingdings" charset="2"/>
              <a:buChar char=""/>
            </a:pPr>
            <a:r>
              <a:rPr b="0" lang="en-US" sz="1400" spc="-1" strike="noStrike">
                <a:solidFill>
                  <a:srgbClr val="2b3547"/>
                </a:solidFill>
                <a:latin typeface="Nunito"/>
                <a:ea typeface="Nunito"/>
              </a:rPr>
              <a:t>Kafka</a:t>
            </a:r>
            <a:r>
              <a:rPr b="0" lang="en-US" sz="1800" spc="-1" strike="noStrike">
                <a:solidFill>
                  <a:srgbClr val="2b3547"/>
                </a:solidFill>
                <a:latin typeface="Nunito"/>
                <a:ea typeface="Nunito"/>
              </a:rPr>
              <a:t>: </a:t>
            </a:r>
            <a:r>
              <a:rPr b="0" lang="en-US" sz="1200" spc="-1" strike="noStrike">
                <a:solidFill>
                  <a:srgbClr val="2b3547"/>
                </a:solidFill>
                <a:latin typeface="Nunito"/>
                <a:ea typeface="Nunito"/>
              </a:rPr>
              <a:t>18 client types supported across the community and by Confluent. Kafka servers can run on platforms supporting java; very wide support.</a:t>
            </a:r>
            <a:endParaRPr b="0" lang="en-US" sz="1200" spc="-1" strike="noStrike">
              <a:latin typeface="Arial"/>
            </a:endParaRPr>
          </a:p>
          <a:p>
            <a:pPr marL="432000" indent="-324000">
              <a:lnSpc>
                <a:spcPct val="100000"/>
              </a:lnSpc>
              <a:spcBef>
                <a:spcPts val="1412"/>
              </a:spcBef>
              <a:buClr>
                <a:srgbClr val="000000"/>
              </a:buClr>
              <a:buSzPct val="45000"/>
              <a:buFont typeface="Wingdings" charset="2"/>
              <a:buChar char=""/>
            </a:pPr>
            <a:r>
              <a:rPr b="0" lang="en-US" sz="1400" spc="-1" strike="noStrike">
                <a:solidFill>
                  <a:srgbClr val="2b3547"/>
                </a:solidFill>
                <a:latin typeface="Nunito"/>
                <a:ea typeface="Nunito"/>
              </a:rPr>
              <a:t>Rabbit</a:t>
            </a:r>
            <a:r>
              <a:rPr b="0" lang="en-US" sz="1800" spc="-1" strike="noStrike">
                <a:solidFill>
                  <a:srgbClr val="2b3547"/>
                </a:solidFill>
                <a:latin typeface="Nunito"/>
                <a:ea typeface="Nunito"/>
              </a:rPr>
              <a:t>: </a:t>
            </a:r>
            <a:r>
              <a:rPr b="0" lang="en-US" sz="1200" spc="-1" strike="noStrike">
                <a:solidFill>
                  <a:srgbClr val="2b3547"/>
                </a:solidFill>
                <a:latin typeface="Nunito"/>
                <a:ea typeface="Nunito"/>
              </a:rPr>
              <a:t>At least 10 client platforms that are maintainer-supported with over 50 community supported client types. Servers are supported on the following platforms: Linux, Windows NT.</a:t>
            </a:r>
            <a:r>
              <a:rPr b="0" lang="en-US" sz="1800" spc="-1" strike="noStrike">
                <a:solidFill>
                  <a:srgbClr val="2b3547"/>
                </a:solidFill>
                <a:latin typeface="Nunito"/>
                <a:ea typeface="Nunito"/>
              </a:rPr>
              <a:t> </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 name="PlaceHolder 1"/>
          <p:cNvSpPr>
            <a:spLocks noGrp="1"/>
          </p:cNvSpPr>
          <p:nvPr>
            <p:ph type="title"/>
          </p:nvPr>
        </p:nvSpPr>
        <p:spPr>
          <a:xfrm>
            <a:off x="883080" y="682920"/>
            <a:ext cx="6425280" cy="395280"/>
          </a:xfrm>
          <a:prstGeom prst="rect">
            <a:avLst/>
          </a:prstGeom>
          <a:noFill/>
          <a:ln w="0">
            <a:noFill/>
          </a:ln>
        </p:spPr>
        <p:txBody>
          <a:bodyPr lIns="0" rIns="0" tIns="0" bIns="0" anchor="ctr">
            <a:noAutofit/>
          </a:bodyPr>
          <a:p>
            <a:pPr>
              <a:lnSpc>
                <a:spcPct val="90000"/>
              </a:lnSpc>
              <a:buNone/>
              <a:tabLst>
                <a:tab algn="l" pos="0"/>
              </a:tabLst>
            </a:pPr>
            <a:r>
              <a:rPr b="1" lang="en" sz="3400" spc="-1" strike="noStrike">
                <a:solidFill>
                  <a:srgbClr val="2b3547"/>
                </a:solidFill>
                <a:latin typeface="Amatic SC"/>
                <a:ea typeface="Amatic SC"/>
              </a:rPr>
              <a:t>Compare NATS</a:t>
            </a:r>
            <a:endParaRPr b="0" lang="en-US" sz="3400" spc="-1" strike="noStrike">
              <a:latin typeface="Arial"/>
            </a:endParaRPr>
          </a:p>
        </p:txBody>
      </p:sp>
      <p:sp>
        <p:nvSpPr>
          <p:cNvPr id="132" name="PlaceHolder 2"/>
          <p:cNvSpPr>
            <a:spLocks noGrp="1"/>
          </p:cNvSpPr>
          <p:nvPr>
            <p:ph type="sldNum" idx="10"/>
          </p:nvPr>
        </p:nvSpPr>
        <p:spPr>
          <a:xfrm>
            <a:off x="8403840" y="4692960"/>
            <a:ext cx="547560" cy="299160"/>
          </a:xfrm>
          <a:prstGeom prst="rect">
            <a:avLst/>
          </a:prstGeom>
          <a:noFill/>
          <a:ln w="0">
            <a:noFill/>
          </a:ln>
        </p:spPr>
        <p:txBody>
          <a:bodyPr lIns="0" rIns="0" tIns="0" bIns="0" anchor="ctr">
            <a:noAutofit/>
          </a:bodyPr>
          <a:lstStyle>
            <a:lvl1pPr algn="r">
              <a:lnSpc>
                <a:spcPct val="100000"/>
              </a:lnSpc>
              <a:buNone/>
              <a:tabLst>
                <a:tab algn="l" pos="0"/>
              </a:tabLst>
              <a:defRPr b="1" lang="en" sz="1500" spc="-1" strike="noStrike">
                <a:solidFill>
                  <a:srgbClr val="7f8b91"/>
                </a:solidFill>
                <a:latin typeface="Amatic SC"/>
                <a:ea typeface="Amatic SC"/>
              </a:defRPr>
            </a:lvl1pPr>
          </a:lstStyle>
          <a:p>
            <a:pPr algn="r">
              <a:lnSpc>
                <a:spcPct val="100000"/>
              </a:lnSpc>
              <a:buNone/>
              <a:tabLst>
                <a:tab algn="l" pos="0"/>
              </a:tabLst>
            </a:pPr>
            <a:fld id="{47B0D379-DFEA-4B94-9873-F3D291C433CC}" type="slidenum">
              <a:rPr b="1" lang="en" sz="1500" spc="-1" strike="noStrike">
                <a:solidFill>
                  <a:srgbClr val="7f8b91"/>
                </a:solidFill>
                <a:latin typeface="Amatic SC"/>
                <a:ea typeface="Amatic SC"/>
              </a:rPr>
              <a:t>&lt;number&gt;</a:t>
            </a:fld>
            <a:endParaRPr b="0" lang="en-US" sz="1500" spc="-1" strike="noStrike">
              <a:latin typeface="Times New Roman"/>
            </a:endParaRPr>
          </a:p>
        </p:txBody>
      </p:sp>
      <p:sp>
        <p:nvSpPr>
          <p:cNvPr id="133" name="Google Shape;228;p 8"/>
          <p:cNvSpPr/>
          <p:nvPr/>
        </p:nvSpPr>
        <p:spPr>
          <a:xfrm>
            <a:off x="7648200" y="3814560"/>
            <a:ext cx="936720" cy="834120"/>
          </a:xfrm>
          <a:custGeom>
            <a:avLst/>
            <a:gdLst/>
            <a:ahLst/>
            <a:rect l="l" t="t" r="r" b="b"/>
            <a:pathLst>
              <a:path w="444359" h="395938">
                <a:moveTo>
                  <a:pt x="135136" y="205311"/>
                </a:moveTo>
                <a:lnTo>
                  <a:pt x="101482" y="200356"/>
                </a:lnTo>
                <a:cubicBezTo>
                  <a:pt x="92405" y="199041"/>
                  <a:pt x="88788" y="213642"/>
                  <a:pt x="98347" y="215046"/>
                </a:cubicBezTo>
                <a:lnTo>
                  <a:pt x="132067" y="220001"/>
                </a:lnTo>
                <a:cubicBezTo>
                  <a:pt x="141056" y="221316"/>
                  <a:pt x="144673" y="206714"/>
                  <a:pt x="135136" y="205311"/>
                </a:cubicBezTo>
                <a:close/>
                <a:moveTo>
                  <a:pt x="293388" y="291650"/>
                </a:moveTo>
                <a:cubicBezTo>
                  <a:pt x="292554" y="295482"/>
                  <a:pt x="294966" y="299271"/>
                  <a:pt x="298803" y="300115"/>
                </a:cubicBezTo>
                <a:cubicBezTo>
                  <a:pt x="298869" y="300130"/>
                  <a:pt x="298935" y="300144"/>
                  <a:pt x="299001" y="300157"/>
                </a:cubicBezTo>
                <a:cubicBezTo>
                  <a:pt x="299373" y="300157"/>
                  <a:pt x="300711" y="300157"/>
                  <a:pt x="300930" y="300551"/>
                </a:cubicBezTo>
                <a:cubicBezTo>
                  <a:pt x="299921" y="300222"/>
                  <a:pt x="299790" y="300201"/>
                  <a:pt x="300535" y="300551"/>
                </a:cubicBezTo>
                <a:cubicBezTo>
                  <a:pt x="301280" y="300902"/>
                  <a:pt x="301456" y="300924"/>
                  <a:pt x="302267" y="301297"/>
                </a:cubicBezTo>
                <a:lnTo>
                  <a:pt x="302377" y="301297"/>
                </a:lnTo>
                <a:cubicBezTo>
                  <a:pt x="309919" y="308335"/>
                  <a:pt x="320267" y="297416"/>
                  <a:pt x="313142" y="290335"/>
                </a:cubicBezTo>
                <a:cubicBezTo>
                  <a:pt x="307573" y="285621"/>
                  <a:pt x="295756" y="281894"/>
                  <a:pt x="293388" y="291650"/>
                </a:cubicBezTo>
                <a:close/>
                <a:moveTo>
                  <a:pt x="285999" y="274110"/>
                </a:moveTo>
                <a:cubicBezTo>
                  <a:pt x="269973" y="263589"/>
                  <a:pt x="253310" y="254069"/>
                  <a:pt x="236099" y="245608"/>
                </a:cubicBezTo>
                <a:cubicBezTo>
                  <a:pt x="227833" y="241530"/>
                  <a:pt x="220752" y="255014"/>
                  <a:pt x="229346" y="259180"/>
                </a:cubicBezTo>
                <a:cubicBezTo>
                  <a:pt x="245439" y="267053"/>
                  <a:pt x="261027" y="275919"/>
                  <a:pt x="276002" y="285730"/>
                </a:cubicBezTo>
                <a:cubicBezTo>
                  <a:pt x="283697" y="290576"/>
                  <a:pt x="293738" y="279109"/>
                  <a:pt x="285999" y="274023"/>
                </a:cubicBezTo>
                <a:close/>
                <a:moveTo>
                  <a:pt x="433354" y="1544"/>
                </a:moveTo>
                <a:cubicBezTo>
                  <a:pt x="431162" y="3057"/>
                  <a:pt x="428970" y="4482"/>
                  <a:pt x="426908" y="5929"/>
                </a:cubicBezTo>
                <a:cubicBezTo>
                  <a:pt x="425220" y="5833"/>
                  <a:pt x="423554" y="6381"/>
                  <a:pt x="422239" y="7464"/>
                </a:cubicBezTo>
                <a:cubicBezTo>
                  <a:pt x="417854" y="10840"/>
                  <a:pt x="413469" y="14261"/>
                  <a:pt x="408952" y="17659"/>
                </a:cubicBezTo>
                <a:cubicBezTo>
                  <a:pt x="315904" y="75803"/>
                  <a:pt x="209197" y="106563"/>
                  <a:pt x="111195" y="154928"/>
                </a:cubicBezTo>
                <a:cubicBezTo>
                  <a:pt x="93853" y="163501"/>
                  <a:pt x="76773" y="172622"/>
                  <a:pt x="60089" y="182400"/>
                </a:cubicBezTo>
                <a:cubicBezTo>
                  <a:pt x="42549" y="192748"/>
                  <a:pt x="25141" y="203184"/>
                  <a:pt x="5146" y="208249"/>
                </a:cubicBezTo>
                <a:cubicBezTo>
                  <a:pt x="-1804" y="210003"/>
                  <a:pt x="-1147" y="218532"/>
                  <a:pt x="3743" y="221404"/>
                </a:cubicBezTo>
                <a:cubicBezTo>
                  <a:pt x="4707" y="222430"/>
                  <a:pt x="5979" y="223140"/>
                  <a:pt x="7360" y="223443"/>
                </a:cubicBezTo>
                <a:cubicBezTo>
                  <a:pt x="52371" y="234230"/>
                  <a:pt x="97777" y="242999"/>
                  <a:pt x="143621" y="249752"/>
                </a:cubicBezTo>
                <a:lnTo>
                  <a:pt x="143117" y="384961"/>
                </a:lnTo>
                <a:cubicBezTo>
                  <a:pt x="142854" y="387829"/>
                  <a:pt x="144717" y="390464"/>
                  <a:pt x="147502" y="391166"/>
                </a:cubicBezTo>
                <a:cubicBezTo>
                  <a:pt x="148620" y="393251"/>
                  <a:pt x="150615" y="394717"/>
                  <a:pt x="152939" y="395156"/>
                </a:cubicBezTo>
                <a:cubicBezTo>
                  <a:pt x="155855" y="396721"/>
                  <a:pt x="159473" y="395875"/>
                  <a:pt x="161402" y="393183"/>
                </a:cubicBezTo>
                <a:cubicBezTo>
                  <a:pt x="187777" y="361278"/>
                  <a:pt x="215797" y="330777"/>
                  <a:pt x="245351" y="301801"/>
                </a:cubicBezTo>
                <a:cubicBezTo>
                  <a:pt x="266464" y="313914"/>
                  <a:pt x="286394" y="328001"/>
                  <a:pt x="304854" y="343874"/>
                </a:cubicBezTo>
                <a:cubicBezTo>
                  <a:pt x="316496" y="353850"/>
                  <a:pt x="331712" y="356854"/>
                  <a:pt x="343266" y="366413"/>
                </a:cubicBezTo>
                <a:cubicBezTo>
                  <a:pt x="346533" y="371170"/>
                  <a:pt x="355500" y="370798"/>
                  <a:pt x="356553" y="363519"/>
                </a:cubicBezTo>
                <a:cubicBezTo>
                  <a:pt x="373083" y="243175"/>
                  <a:pt x="405510" y="125528"/>
                  <a:pt x="443593" y="10753"/>
                </a:cubicBezTo>
                <a:cubicBezTo>
                  <a:pt x="446618" y="4679"/>
                  <a:pt x="440173" y="-3323"/>
                  <a:pt x="433354" y="1457"/>
                </a:cubicBezTo>
                <a:close/>
                <a:moveTo>
                  <a:pt x="144959" y="232695"/>
                </a:moveTo>
                <a:cubicBezTo>
                  <a:pt x="144345" y="233234"/>
                  <a:pt x="143819" y="233863"/>
                  <a:pt x="143380" y="234558"/>
                </a:cubicBezTo>
                <a:cubicBezTo>
                  <a:pt x="106218" y="229033"/>
                  <a:pt x="69319" y="222164"/>
                  <a:pt x="32639" y="213949"/>
                </a:cubicBezTo>
                <a:cubicBezTo>
                  <a:pt x="52744" y="204895"/>
                  <a:pt x="71358" y="192134"/>
                  <a:pt x="90652" y="181720"/>
                </a:cubicBezTo>
                <a:cubicBezTo>
                  <a:pt x="170610" y="138682"/>
                  <a:pt x="257497" y="110816"/>
                  <a:pt x="339320" y="71856"/>
                </a:cubicBezTo>
                <a:cubicBezTo>
                  <a:pt x="273370" y="123978"/>
                  <a:pt x="208584" y="177592"/>
                  <a:pt x="144959" y="232695"/>
                </a:cubicBezTo>
                <a:close/>
                <a:moveTo>
                  <a:pt x="157938" y="358827"/>
                </a:moveTo>
                <a:lnTo>
                  <a:pt x="158376" y="242429"/>
                </a:lnTo>
                <a:cubicBezTo>
                  <a:pt x="158376" y="241688"/>
                  <a:pt x="158267" y="240949"/>
                  <a:pt x="158070" y="240237"/>
                </a:cubicBezTo>
                <a:cubicBezTo>
                  <a:pt x="232788" y="175691"/>
                  <a:pt x="309152" y="113147"/>
                  <a:pt x="387181" y="52607"/>
                </a:cubicBezTo>
                <a:lnTo>
                  <a:pt x="297159" y="137213"/>
                </a:lnTo>
                <a:cubicBezTo>
                  <a:pt x="259098" y="172972"/>
                  <a:pt x="217024" y="207372"/>
                  <a:pt x="189531" y="252405"/>
                </a:cubicBezTo>
                <a:cubicBezTo>
                  <a:pt x="188216" y="254240"/>
                  <a:pt x="188018" y="256658"/>
                  <a:pt x="189049" y="258675"/>
                </a:cubicBezTo>
                <a:cubicBezTo>
                  <a:pt x="189356" y="259691"/>
                  <a:pt x="189882" y="260620"/>
                  <a:pt x="190605" y="261394"/>
                </a:cubicBezTo>
                <a:cubicBezTo>
                  <a:pt x="181222" y="294369"/>
                  <a:pt x="170325" y="326817"/>
                  <a:pt x="157938" y="358739"/>
                </a:cubicBezTo>
                <a:close/>
                <a:moveTo>
                  <a:pt x="174535" y="355801"/>
                </a:moveTo>
                <a:cubicBezTo>
                  <a:pt x="184927" y="328323"/>
                  <a:pt x="194267" y="300479"/>
                  <a:pt x="202533" y="272269"/>
                </a:cubicBezTo>
                <a:cubicBezTo>
                  <a:pt x="212223" y="280124"/>
                  <a:pt x="222396" y="287379"/>
                  <a:pt x="232964" y="293996"/>
                </a:cubicBezTo>
                <a:cubicBezTo>
                  <a:pt x="212749" y="313844"/>
                  <a:pt x="193281" y="334418"/>
                  <a:pt x="174535" y="355713"/>
                </a:cubicBezTo>
                <a:close/>
                <a:moveTo>
                  <a:pt x="344143" y="348807"/>
                </a:moveTo>
                <a:cubicBezTo>
                  <a:pt x="334847" y="343743"/>
                  <a:pt x="324608" y="340432"/>
                  <a:pt x="316255" y="333460"/>
                </a:cubicBezTo>
                <a:cubicBezTo>
                  <a:pt x="304394" y="323193"/>
                  <a:pt x="291962" y="313631"/>
                  <a:pt x="278983" y="304827"/>
                </a:cubicBezTo>
                <a:cubicBezTo>
                  <a:pt x="253946" y="288581"/>
                  <a:pt x="227351" y="274637"/>
                  <a:pt x="205273" y="254400"/>
                </a:cubicBezTo>
                <a:cubicBezTo>
                  <a:pt x="232701" y="211538"/>
                  <a:pt x="274533" y="178125"/>
                  <a:pt x="311212" y="143637"/>
                </a:cubicBezTo>
                <a:cubicBezTo>
                  <a:pt x="346993" y="110020"/>
                  <a:pt x="382796" y="76401"/>
                  <a:pt x="418643" y="42784"/>
                </a:cubicBezTo>
                <a:cubicBezTo>
                  <a:pt x="385098" y="142442"/>
                  <a:pt x="360170" y="244797"/>
                  <a:pt x="344143" y="348720"/>
                </a:cubicBezTo>
                <a:close/>
                <a:moveTo>
                  <a:pt x="55923" y="163172"/>
                </a:moveTo>
                <a:cubicBezTo>
                  <a:pt x="76620" y="147430"/>
                  <a:pt x="101087" y="137608"/>
                  <a:pt x="124481" y="126668"/>
                </a:cubicBezTo>
                <a:lnTo>
                  <a:pt x="197797" y="92378"/>
                </a:lnTo>
                <a:cubicBezTo>
                  <a:pt x="206238" y="88431"/>
                  <a:pt x="202379" y="74268"/>
                  <a:pt x="193412" y="78434"/>
                </a:cubicBezTo>
                <a:lnTo>
                  <a:pt x="116237" y="114478"/>
                </a:lnTo>
                <a:cubicBezTo>
                  <a:pt x="92954" y="125440"/>
                  <a:pt x="68661" y="135306"/>
                  <a:pt x="48052" y="150960"/>
                </a:cubicBezTo>
                <a:cubicBezTo>
                  <a:pt x="40532" y="156704"/>
                  <a:pt x="48096" y="169114"/>
                  <a:pt x="55923" y="163084"/>
                </a:cubicBezTo>
                <a:close/>
                <a:moveTo>
                  <a:pt x="41760" y="133684"/>
                </a:moveTo>
                <a:cubicBezTo>
                  <a:pt x="60198" y="122794"/>
                  <a:pt x="79119" y="112805"/>
                  <a:pt x="98479" y="103713"/>
                </a:cubicBezTo>
                <a:cubicBezTo>
                  <a:pt x="106919" y="99766"/>
                  <a:pt x="103061" y="85603"/>
                  <a:pt x="94094" y="89791"/>
                </a:cubicBezTo>
                <a:cubicBezTo>
                  <a:pt x="73528" y="99409"/>
                  <a:pt x="53467" y="109990"/>
                  <a:pt x="33889" y="121537"/>
                </a:cubicBezTo>
                <a:cubicBezTo>
                  <a:pt x="25689" y="126339"/>
                  <a:pt x="33341" y="138573"/>
                  <a:pt x="41760" y="133596"/>
                </a:cubicBezTo>
                <a:close/>
              </a:path>
            </a:pathLst>
          </a:custGeom>
          <a:solidFill>
            <a:srgbClr val="2b3547"/>
          </a:solidFill>
          <a:ln w="0">
            <a:noFill/>
          </a:ln>
        </p:spPr>
        <p:style>
          <a:lnRef idx="0"/>
          <a:fillRef idx="0"/>
          <a:effectRef idx="0"/>
          <a:fontRef idx="minor"/>
        </p:style>
      </p:sp>
      <p:sp>
        <p:nvSpPr>
          <p:cNvPr id="134" name="PlaceHolder 3"/>
          <p:cNvSpPr>
            <a:spLocks noGrp="1"/>
          </p:cNvSpPr>
          <p:nvPr>
            <p:ph/>
          </p:nvPr>
        </p:nvSpPr>
        <p:spPr>
          <a:xfrm>
            <a:off x="1188000" y="1505880"/>
            <a:ext cx="6425280" cy="2839320"/>
          </a:xfrm>
          <a:prstGeom prst="rect">
            <a:avLst/>
          </a:prstGeom>
          <a:noFill/>
          <a:ln w="0">
            <a:noFill/>
          </a:ln>
        </p:spPr>
        <p:txBody>
          <a:bodyPr lIns="0" rIns="0" tIns="0" bIns="0" anchor="t">
            <a:noAutofit/>
          </a:bodyPr>
          <a:p>
            <a:pPr marL="432000" indent="-324000">
              <a:lnSpc>
                <a:spcPct val="100000"/>
              </a:lnSpc>
              <a:spcBef>
                <a:spcPts val="1412"/>
              </a:spcBef>
              <a:buClr>
                <a:srgbClr val="000000"/>
              </a:buClr>
              <a:buSzPct val="45000"/>
              <a:buFont typeface="Wingdings" charset="2"/>
              <a:buChar char=""/>
            </a:pPr>
            <a:r>
              <a:rPr b="0" lang="en-US" sz="1800" spc="-1" strike="noStrike">
                <a:solidFill>
                  <a:srgbClr val="2b3547"/>
                </a:solidFill>
                <a:latin typeface="Nunito"/>
                <a:ea typeface="Nunito"/>
              </a:rPr>
              <a:t>Built-in Patterns</a:t>
            </a:r>
            <a:endParaRPr b="0" lang="en-US" sz="1800" spc="-1" strike="noStrike">
              <a:latin typeface="Arial"/>
            </a:endParaRPr>
          </a:p>
          <a:p>
            <a:pPr marL="432000" indent="-324000">
              <a:lnSpc>
                <a:spcPct val="100000"/>
              </a:lnSpc>
              <a:spcBef>
                <a:spcPts val="1412"/>
              </a:spcBef>
              <a:buClr>
                <a:srgbClr val="000000"/>
              </a:buClr>
              <a:buSzPct val="45000"/>
              <a:buFont typeface="Wingdings" charset="2"/>
              <a:buChar char=""/>
            </a:pPr>
            <a:r>
              <a:rPr b="0" lang="en-US" sz="1800" spc="-1" strike="noStrike">
                <a:solidFill>
                  <a:srgbClr val="2b3547"/>
                </a:solidFill>
                <a:latin typeface="Nunito"/>
                <a:ea typeface="Nunito"/>
              </a:rPr>
              <a:t>NATS: </a:t>
            </a:r>
            <a:r>
              <a:rPr b="0" lang="en-US" sz="1200" spc="-1" strike="noStrike">
                <a:solidFill>
                  <a:srgbClr val="2b3547"/>
                </a:solidFill>
                <a:latin typeface="Nunito"/>
                <a:ea typeface="Nunito"/>
              </a:rPr>
              <a:t>Streams and Services through built-in publish/subscribe, request-reply, and load-balanced queue subscriber patterns. Dynamic request permissioning and request subject obfuscation is supported.</a:t>
            </a:r>
            <a:endParaRPr b="0" lang="en-US" sz="1200" spc="-1" strike="noStrike">
              <a:latin typeface="Arial"/>
            </a:endParaRPr>
          </a:p>
          <a:p>
            <a:pPr marL="432000" indent="-324000">
              <a:lnSpc>
                <a:spcPct val="100000"/>
              </a:lnSpc>
              <a:spcBef>
                <a:spcPts val="1412"/>
              </a:spcBef>
              <a:buClr>
                <a:srgbClr val="000000"/>
              </a:buClr>
              <a:buSzPct val="45000"/>
              <a:buFont typeface="Wingdings" charset="2"/>
              <a:buChar char=""/>
            </a:pPr>
            <a:r>
              <a:rPr b="0" lang="en-US" sz="1800" spc="-1" strike="noStrike">
                <a:solidFill>
                  <a:srgbClr val="2b3547"/>
                </a:solidFill>
                <a:latin typeface="Nunito"/>
                <a:ea typeface="Nunito"/>
              </a:rPr>
              <a:t>Kafka: </a:t>
            </a:r>
            <a:r>
              <a:rPr b="0" lang="en-US" sz="1200" spc="-1" strike="noStrike">
                <a:solidFill>
                  <a:srgbClr val="2b3547"/>
                </a:solidFill>
                <a:latin typeface="Nunito"/>
                <a:ea typeface="Nunito"/>
              </a:rPr>
              <a:t>Streams through publish/subscribe. Load balancing can be achieved with consumer groups. Application code must correlate requests with replies over multiple topics for a service (request-reply) pattern.</a:t>
            </a:r>
            <a:endParaRPr b="0" lang="en-US" sz="1200" spc="-1" strike="noStrike">
              <a:latin typeface="Arial"/>
            </a:endParaRPr>
          </a:p>
          <a:p>
            <a:pPr marL="432000" indent="-324000">
              <a:lnSpc>
                <a:spcPct val="100000"/>
              </a:lnSpc>
              <a:spcBef>
                <a:spcPts val="1412"/>
              </a:spcBef>
              <a:buClr>
                <a:srgbClr val="000000"/>
              </a:buClr>
              <a:buSzPct val="45000"/>
              <a:buFont typeface="Wingdings" charset="2"/>
              <a:buChar char=""/>
            </a:pPr>
            <a:r>
              <a:rPr b="0" lang="en-US" sz="1800" spc="-1" strike="noStrike">
                <a:solidFill>
                  <a:srgbClr val="2b3547"/>
                </a:solidFill>
                <a:latin typeface="Nunito"/>
                <a:ea typeface="Nunito"/>
              </a:rPr>
              <a:t>Rabbit: </a:t>
            </a:r>
            <a:r>
              <a:rPr b="0" lang="en-US" sz="1200" spc="-1" strike="noStrike">
                <a:solidFill>
                  <a:srgbClr val="2b3547"/>
                </a:solidFill>
                <a:latin typeface="Nunito"/>
                <a:ea typeface="Nunito"/>
              </a:rPr>
              <a:t>Streams through publish/subscribe, and services with a direct reply-to feature. Load balancing can be achieved with a Work Queue. Applications must correlate requests with replies over multiple topics for a service (request-reply) pattern.</a:t>
            </a:r>
            <a:endParaRPr b="0" lang="en-US" sz="1200" spc="-1" strike="noStrike">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 name="PlaceHolder 1"/>
          <p:cNvSpPr>
            <a:spLocks noGrp="1"/>
          </p:cNvSpPr>
          <p:nvPr>
            <p:ph type="title"/>
          </p:nvPr>
        </p:nvSpPr>
        <p:spPr>
          <a:xfrm>
            <a:off x="883080" y="682920"/>
            <a:ext cx="6425280" cy="395280"/>
          </a:xfrm>
          <a:prstGeom prst="rect">
            <a:avLst/>
          </a:prstGeom>
          <a:noFill/>
          <a:ln w="0">
            <a:noFill/>
          </a:ln>
        </p:spPr>
        <p:txBody>
          <a:bodyPr lIns="0" rIns="0" tIns="0" bIns="0" anchor="ctr">
            <a:noAutofit/>
          </a:bodyPr>
          <a:p>
            <a:pPr>
              <a:lnSpc>
                <a:spcPct val="90000"/>
              </a:lnSpc>
              <a:buNone/>
              <a:tabLst>
                <a:tab algn="l" pos="0"/>
              </a:tabLst>
            </a:pPr>
            <a:r>
              <a:rPr b="1" lang="en" sz="3400" spc="-1" strike="noStrike">
                <a:solidFill>
                  <a:srgbClr val="2b3547"/>
                </a:solidFill>
                <a:latin typeface="Amatic SC"/>
                <a:ea typeface="Amatic SC"/>
              </a:rPr>
              <a:t>Compare NATS</a:t>
            </a:r>
            <a:endParaRPr b="0" lang="en-US" sz="3400" spc="-1" strike="noStrike">
              <a:latin typeface="Arial"/>
            </a:endParaRPr>
          </a:p>
        </p:txBody>
      </p:sp>
      <p:sp>
        <p:nvSpPr>
          <p:cNvPr id="136" name="PlaceHolder 2"/>
          <p:cNvSpPr>
            <a:spLocks noGrp="1"/>
          </p:cNvSpPr>
          <p:nvPr>
            <p:ph type="sldNum" idx="11"/>
          </p:nvPr>
        </p:nvSpPr>
        <p:spPr>
          <a:xfrm>
            <a:off x="8403840" y="4692960"/>
            <a:ext cx="547560" cy="299160"/>
          </a:xfrm>
          <a:prstGeom prst="rect">
            <a:avLst/>
          </a:prstGeom>
          <a:noFill/>
          <a:ln w="0">
            <a:noFill/>
          </a:ln>
        </p:spPr>
        <p:txBody>
          <a:bodyPr lIns="0" rIns="0" tIns="0" bIns="0" anchor="ctr">
            <a:noAutofit/>
          </a:bodyPr>
          <a:lstStyle>
            <a:lvl1pPr algn="r">
              <a:lnSpc>
                <a:spcPct val="100000"/>
              </a:lnSpc>
              <a:buNone/>
              <a:tabLst>
                <a:tab algn="l" pos="0"/>
              </a:tabLst>
              <a:defRPr b="1" lang="en" sz="1500" spc="-1" strike="noStrike">
                <a:solidFill>
                  <a:srgbClr val="7f8b91"/>
                </a:solidFill>
                <a:latin typeface="Amatic SC"/>
                <a:ea typeface="Amatic SC"/>
              </a:defRPr>
            </a:lvl1pPr>
          </a:lstStyle>
          <a:p>
            <a:pPr algn="r">
              <a:lnSpc>
                <a:spcPct val="100000"/>
              </a:lnSpc>
              <a:buNone/>
              <a:tabLst>
                <a:tab algn="l" pos="0"/>
              </a:tabLst>
            </a:pPr>
            <a:fld id="{691CF432-5986-47F5-98AB-1E3139B7B3D5}" type="slidenum">
              <a:rPr b="1" lang="en" sz="1500" spc="-1" strike="noStrike">
                <a:solidFill>
                  <a:srgbClr val="7f8b91"/>
                </a:solidFill>
                <a:latin typeface="Amatic SC"/>
                <a:ea typeface="Amatic SC"/>
              </a:rPr>
              <a:t>&lt;number&gt;</a:t>
            </a:fld>
            <a:endParaRPr b="0" lang="en-US" sz="1500" spc="-1" strike="noStrike">
              <a:latin typeface="Times New Roman"/>
            </a:endParaRPr>
          </a:p>
        </p:txBody>
      </p:sp>
      <p:sp>
        <p:nvSpPr>
          <p:cNvPr id="137" name="Google Shape;228;p 9"/>
          <p:cNvSpPr/>
          <p:nvPr/>
        </p:nvSpPr>
        <p:spPr>
          <a:xfrm>
            <a:off x="7648200" y="3814560"/>
            <a:ext cx="936720" cy="834120"/>
          </a:xfrm>
          <a:custGeom>
            <a:avLst/>
            <a:gdLst/>
            <a:ahLst/>
            <a:rect l="l" t="t" r="r" b="b"/>
            <a:pathLst>
              <a:path w="444359" h="395938">
                <a:moveTo>
                  <a:pt x="135136" y="205311"/>
                </a:moveTo>
                <a:lnTo>
                  <a:pt x="101482" y="200356"/>
                </a:lnTo>
                <a:cubicBezTo>
                  <a:pt x="92405" y="199041"/>
                  <a:pt x="88788" y="213642"/>
                  <a:pt x="98347" y="215046"/>
                </a:cubicBezTo>
                <a:lnTo>
                  <a:pt x="132067" y="220001"/>
                </a:lnTo>
                <a:cubicBezTo>
                  <a:pt x="141056" y="221316"/>
                  <a:pt x="144673" y="206714"/>
                  <a:pt x="135136" y="205311"/>
                </a:cubicBezTo>
                <a:close/>
                <a:moveTo>
                  <a:pt x="293388" y="291650"/>
                </a:moveTo>
                <a:cubicBezTo>
                  <a:pt x="292554" y="295482"/>
                  <a:pt x="294966" y="299271"/>
                  <a:pt x="298803" y="300115"/>
                </a:cubicBezTo>
                <a:cubicBezTo>
                  <a:pt x="298869" y="300130"/>
                  <a:pt x="298935" y="300144"/>
                  <a:pt x="299001" y="300157"/>
                </a:cubicBezTo>
                <a:cubicBezTo>
                  <a:pt x="299373" y="300157"/>
                  <a:pt x="300711" y="300157"/>
                  <a:pt x="300930" y="300551"/>
                </a:cubicBezTo>
                <a:cubicBezTo>
                  <a:pt x="299921" y="300222"/>
                  <a:pt x="299790" y="300201"/>
                  <a:pt x="300535" y="300551"/>
                </a:cubicBezTo>
                <a:cubicBezTo>
                  <a:pt x="301280" y="300902"/>
                  <a:pt x="301456" y="300924"/>
                  <a:pt x="302267" y="301297"/>
                </a:cubicBezTo>
                <a:lnTo>
                  <a:pt x="302377" y="301297"/>
                </a:lnTo>
                <a:cubicBezTo>
                  <a:pt x="309919" y="308335"/>
                  <a:pt x="320267" y="297416"/>
                  <a:pt x="313142" y="290335"/>
                </a:cubicBezTo>
                <a:cubicBezTo>
                  <a:pt x="307573" y="285621"/>
                  <a:pt x="295756" y="281894"/>
                  <a:pt x="293388" y="291650"/>
                </a:cubicBezTo>
                <a:close/>
                <a:moveTo>
                  <a:pt x="285999" y="274110"/>
                </a:moveTo>
                <a:cubicBezTo>
                  <a:pt x="269973" y="263589"/>
                  <a:pt x="253310" y="254069"/>
                  <a:pt x="236099" y="245608"/>
                </a:cubicBezTo>
                <a:cubicBezTo>
                  <a:pt x="227833" y="241530"/>
                  <a:pt x="220752" y="255014"/>
                  <a:pt x="229346" y="259180"/>
                </a:cubicBezTo>
                <a:cubicBezTo>
                  <a:pt x="245439" y="267053"/>
                  <a:pt x="261027" y="275919"/>
                  <a:pt x="276002" y="285730"/>
                </a:cubicBezTo>
                <a:cubicBezTo>
                  <a:pt x="283697" y="290576"/>
                  <a:pt x="293738" y="279109"/>
                  <a:pt x="285999" y="274023"/>
                </a:cubicBezTo>
                <a:close/>
                <a:moveTo>
                  <a:pt x="433354" y="1544"/>
                </a:moveTo>
                <a:cubicBezTo>
                  <a:pt x="431162" y="3057"/>
                  <a:pt x="428970" y="4482"/>
                  <a:pt x="426908" y="5929"/>
                </a:cubicBezTo>
                <a:cubicBezTo>
                  <a:pt x="425220" y="5833"/>
                  <a:pt x="423554" y="6381"/>
                  <a:pt x="422239" y="7464"/>
                </a:cubicBezTo>
                <a:cubicBezTo>
                  <a:pt x="417854" y="10840"/>
                  <a:pt x="413469" y="14261"/>
                  <a:pt x="408952" y="17659"/>
                </a:cubicBezTo>
                <a:cubicBezTo>
                  <a:pt x="315904" y="75803"/>
                  <a:pt x="209197" y="106563"/>
                  <a:pt x="111195" y="154928"/>
                </a:cubicBezTo>
                <a:cubicBezTo>
                  <a:pt x="93853" y="163501"/>
                  <a:pt x="76773" y="172622"/>
                  <a:pt x="60089" y="182400"/>
                </a:cubicBezTo>
                <a:cubicBezTo>
                  <a:pt x="42549" y="192748"/>
                  <a:pt x="25141" y="203184"/>
                  <a:pt x="5146" y="208249"/>
                </a:cubicBezTo>
                <a:cubicBezTo>
                  <a:pt x="-1804" y="210003"/>
                  <a:pt x="-1147" y="218532"/>
                  <a:pt x="3743" y="221404"/>
                </a:cubicBezTo>
                <a:cubicBezTo>
                  <a:pt x="4707" y="222430"/>
                  <a:pt x="5979" y="223140"/>
                  <a:pt x="7360" y="223443"/>
                </a:cubicBezTo>
                <a:cubicBezTo>
                  <a:pt x="52371" y="234230"/>
                  <a:pt x="97777" y="242999"/>
                  <a:pt x="143621" y="249752"/>
                </a:cubicBezTo>
                <a:lnTo>
                  <a:pt x="143117" y="384961"/>
                </a:lnTo>
                <a:cubicBezTo>
                  <a:pt x="142854" y="387829"/>
                  <a:pt x="144717" y="390464"/>
                  <a:pt x="147502" y="391166"/>
                </a:cubicBezTo>
                <a:cubicBezTo>
                  <a:pt x="148620" y="393251"/>
                  <a:pt x="150615" y="394717"/>
                  <a:pt x="152939" y="395156"/>
                </a:cubicBezTo>
                <a:cubicBezTo>
                  <a:pt x="155855" y="396721"/>
                  <a:pt x="159473" y="395875"/>
                  <a:pt x="161402" y="393183"/>
                </a:cubicBezTo>
                <a:cubicBezTo>
                  <a:pt x="187777" y="361278"/>
                  <a:pt x="215797" y="330777"/>
                  <a:pt x="245351" y="301801"/>
                </a:cubicBezTo>
                <a:cubicBezTo>
                  <a:pt x="266464" y="313914"/>
                  <a:pt x="286394" y="328001"/>
                  <a:pt x="304854" y="343874"/>
                </a:cubicBezTo>
                <a:cubicBezTo>
                  <a:pt x="316496" y="353850"/>
                  <a:pt x="331712" y="356854"/>
                  <a:pt x="343266" y="366413"/>
                </a:cubicBezTo>
                <a:cubicBezTo>
                  <a:pt x="346533" y="371170"/>
                  <a:pt x="355500" y="370798"/>
                  <a:pt x="356553" y="363519"/>
                </a:cubicBezTo>
                <a:cubicBezTo>
                  <a:pt x="373083" y="243175"/>
                  <a:pt x="405510" y="125528"/>
                  <a:pt x="443593" y="10753"/>
                </a:cubicBezTo>
                <a:cubicBezTo>
                  <a:pt x="446618" y="4679"/>
                  <a:pt x="440173" y="-3323"/>
                  <a:pt x="433354" y="1457"/>
                </a:cubicBezTo>
                <a:close/>
                <a:moveTo>
                  <a:pt x="144959" y="232695"/>
                </a:moveTo>
                <a:cubicBezTo>
                  <a:pt x="144345" y="233234"/>
                  <a:pt x="143819" y="233863"/>
                  <a:pt x="143380" y="234558"/>
                </a:cubicBezTo>
                <a:cubicBezTo>
                  <a:pt x="106218" y="229033"/>
                  <a:pt x="69319" y="222164"/>
                  <a:pt x="32639" y="213949"/>
                </a:cubicBezTo>
                <a:cubicBezTo>
                  <a:pt x="52744" y="204895"/>
                  <a:pt x="71358" y="192134"/>
                  <a:pt x="90652" y="181720"/>
                </a:cubicBezTo>
                <a:cubicBezTo>
                  <a:pt x="170610" y="138682"/>
                  <a:pt x="257497" y="110816"/>
                  <a:pt x="339320" y="71856"/>
                </a:cubicBezTo>
                <a:cubicBezTo>
                  <a:pt x="273370" y="123978"/>
                  <a:pt x="208584" y="177592"/>
                  <a:pt x="144959" y="232695"/>
                </a:cubicBezTo>
                <a:close/>
                <a:moveTo>
                  <a:pt x="157938" y="358827"/>
                </a:moveTo>
                <a:lnTo>
                  <a:pt x="158376" y="242429"/>
                </a:lnTo>
                <a:cubicBezTo>
                  <a:pt x="158376" y="241688"/>
                  <a:pt x="158267" y="240949"/>
                  <a:pt x="158070" y="240237"/>
                </a:cubicBezTo>
                <a:cubicBezTo>
                  <a:pt x="232788" y="175691"/>
                  <a:pt x="309152" y="113147"/>
                  <a:pt x="387181" y="52607"/>
                </a:cubicBezTo>
                <a:lnTo>
                  <a:pt x="297159" y="137213"/>
                </a:lnTo>
                <a:cubicBezTo>
                  <a:pt x="259098" y="172972"/>
                  <a:pt x="217024" y="207372"/>
                  <a:pt x="189531" y="252405"/>
                </a:cubicBezTo>
                <a:cubicBezTo>
                  <a:pt x="188216" y="254240"/>
                  <a:pt x="188018" y="256658"/>
                  <a:pt x="189049" y="258675"/>
                </a:cubicBezTo>
                <a:cubicBezTo>
                  <a:pt x="189356" y="259691"/>
                  <a:pt x="189882" y="260620"/>
                  <a:pt x="190605" y="261394"/>
                </a:cubicBezTo>
                <a:cubicBezTo>
                  <a:pt x="181222" y="294369"/>
                  <a:pt x="170325" y="326817"/>
                  <a:pt x="157938" y="358739"/>
                </a:cubicBezTo>
                <a:close/>
                <a:moveTo>
                  <a:pt x="174535" y="355801"/>
                </a:moveTo>
                <a:cubicBezTo>
                  <a:pt x="184927" y="328323"/>
                  <a:pt x="194267" y="300479"/>
                  <a:pt x="202533" y="272269"/>
                </a:cubicBezTo>
                <a:cubicBezTo>
                  <a:pt x="212223" y="280124"/>
                  <a:pt x="222396" y="287379"/>
                  <a:pt x="232964" y="293996"/>
                </a:cubicBezTo>
                <a:cubicBezTo>
                  <a:pt x="212749" y="313844"/>
                  <a:pt x="193281" y="334418"/>
                  <a:pt x="174535" y="355713"/>
                </a:cubicBezTo>
                <a:close/>
                <a:moveTo>
                  <a:pt x="344143" y="348807"/>
                </a:moveTo>
                <a:cubicBezTo>
                  <a:pt x="334847" y="343743"/>
                  <a:pt x="324608" y="340432"/>
                  <a:pt x="316255" y="333460"/>
                </a:cubicBezTo>
                <a:cubicBezTo>
                  <a:pt x="304394" y="323193"/>
                  <a:pt x="291962" y="313631"/>
                  <a:pt x="278983" y="304827"/>
                </a:cubicBezTo>
                <a:cubicBezTo>
                  <a:pt x="253946" y="288581"/>
                  <a:pt x="227351" y="274637"/>
                  <a:pt x="205273" y="254400"/>
                </a:cubicBezTo>
                <a:cubicBezTo>
                  <a:pt x="232701" y="211538"/>
                  <a:pt x="274533" y="178125"/>
                  <a:pt x="311212" y="143637"/>
                </a:cubicBezTo>
                <a:cubicBezTo>
                  <a:pt x="346993" y="110020"/>
                  <a:pt x="382796" y="76401"/>
                  <a:pt x="418643" y="42784"/>
                </a:cubicBezTo>
                <a:cubicBezTo>
                  <a:pt x="385098" y="142442"/>
                  <a:pt x="360170" y="244797"/>
                  <a:pt x="344143" y="348720"/>
                </a:cubicBezTo>
                <a:close/>
                <a:moveTo>
                  <a:pt x="55923" y="163172"/>
                </a:moveTo>
                <a:cubicBezTo>
                  <a:pt x="76620" y="147430"/>
                  <a:pt x="101087" y="137608"/>
                  <a:pt x="124481" y="126668"/>
                </a:cubicBezTo>
                <a:lnTo>
                  <a:pt x="197797" y="92378"/>
                </a:lnTo>
                <a:cubicBezTo>
                  <a:pt x="206238" y="88431"/>
                  <a:pt x="202379" y="74268"/>
                  <a:pt x="193412" y="78434"/>
                </a:cubicBezTo>
                <a:lnTo>
                  <a:pt x="116237" y="114478"/>
                </a:lnTo>
                <a:cubicBezTo>
                  <a:pt x="92954" y="125440"/>
                  <a:pt x="68661" y="135306"/>
                  <a:pt x="48052" y="150960"/>
                </a:cubicBezTo>
                <a:cubicBezTo>
                  <a:pt x="40532" y="156704"/>
                  <a:pt x="48096" y="169114"/>
                  <a:pt x="55923" y="163084"/>
                </a:cubicBezTo>
                <a:close/>
                <a:moveTo>
                  <a:pt x="41760" y="133684"/>
                </a:moveTo>
                <a:cubicBezTo>
                  <a:pt x="60198" y="122794"/>
                  <a:pt x="79119" y="112805"/>
                  <a:pt x="98479" y="103713"/>
                </a:cubicBezTo>
                <a:cubicBezTo>
                  <a:pt x="106919" y="99766"/>
                  <a:pt x="103061" y="85603"/>
                  <a:pt x="94094" y="89791"/>
                </a:cubicBezTo>
                <a:cubicBezTo>
                  <a:pt x="73528" y="99409"/>
                  <a:pt x="53467" y="109990"/>
                  <a:pt x="33889" y="121537"/>
                </a:cubicBezTo>
                <a:cubicBezTo>
                  <a:pt x="25689" y="126339"/>
                  <a:pt x="33341" y="138573"/>
                  <a:pt x="41760" y="133596"/>
                </a:cubicBezTo>
                <a:close/>
              </a:path>
            </a:pathLst>
          </a:custGeom>
          <a:solidFill>
            <a:srgbClr val="2b3547"/>
          </a:solidFill>
          <a:ln w="0">
            <a:noFill/>
          </a:ln>
        </p:spPr>
        <p:style>
          <a:lnRef idx="0"/>
          <a:fillRef idx="0"/>
          <a:effectRef idx="0"/>
          <a:fontRef idx="minor"/>
        </p:style>
      </p:sp>
      <p:sp>
        <p:nvSpPr>
          <p:cNvPr id="138" name="PlaceHolder 3"/>
          <p:cNvSpPr>
            <a:spLocks noGrp="1"/>
          </p:cNvSpPr>
          <p:nvPr>
            <p:ph/>
          </p:nvPr>
        </p:nvSpPr>
        <p:spPr>
          <a:xfrm>
            <a:off x="1188000" y="1505880"/>
            <a:ext cx="6425280" cy="2839320"/>
          </a:xfrm>
          <a:prstGeom prst="rect">
            <a:avLst/>
          </a:prstGeom>
          <a:noFill/>
          <a:ln w="0">
            <a:noFill/>
          </a:ln>
        </p:spPr>
        <p:txBody>
          <a:bodyPr lIns="0" rIns="0" tIns="0" bIns="0" anchor="t">
            <a:noAutofit/>
          </a:bodyPr>
          <a:p>
            <a:pPr marL="432000" indent="-324000">
              <a:lnSpc>
                <a:spcPct val="100000"/>
              </a:lnSpc>
              <a:spcBef>
                <a:spcPts val="1412"/>
              </a:spcBef>
              <a:buClr>
                <a:srgbClr val="000000"/>
              </a:buClr>
              <a:buSzPct val="45000"/>
              <a:buFont typeface="Wingdings" charset="2"/>
              <a:buChar char=""/>
            </a:pPr>
            <a:r>
              <a:rPr b="0" lang="en-US" sz="1800" spc="-1" strike="noStrike">
                <a:solidFill>
                  <a:srgbClr val="2b3547"/>
                </a:solidFill>
                <a:latin typeface="Nunito"/>
                <a:ea typeface="Nunito"/>
              </a:rPr>
              <a:t>Delivery Guarantees</a:t>
            </a:r>
            <a:endParaRPr b="0" lang="en-US" sz="1800" spc="-1" strike="noStrike">
              <a:latin typeface="Arial"/>
            </a:endParaRPr>
          </a:p>
          <a:p>
            <a:pPr marL="432000" indent="-324000">
              <a:lnSpc>
                <a:spcPct val="100000"/>
              </a:lnSpc>
              <a:spcBef>
                <a:spcPts val="1412"/>
              </a:spcBef>
              <a:buClr>
                <a:srgbClr val="000000"/>
              </a:buClr>
              <a:buSzPct val="45000"/>
              <a:buFont typeface="Wingdings" charset="2"/>
              <a:buChar char=""/>
            </a:pPr>
            <a:r>
              <a:rPr b="0" lang="en-US" sz="1800" spc="-1" strike="noStrike">
                <a:solidFill>
                  <a:srgbClr val="2b3547"/>
                </a:solidFill>
                <a:latin typeface="Nunito"/>
                <a:ea typeface="Nunito"/>
              </a:rPr>
              <a:t>NATS: </a:t>
            </a:r>
            <a:r>
              <a:rPr b="0" lang="en-US" sz="1200" spc="-1" strike="noStrike">
                <a:solidFill>
                  <a:srgbClr val="2b3547"/>
                </a:solidFill>
                <a:latin typeface="Nunito"/>
                <a:ea typeface="Nunito"/>
              </a:rPr>
              <a:t>At most once, at least once, and </a:t>
            </a:r>
            <a:r>
              <a:rPr b="0" lang="en-US" sz="1200" spc="-1" strike="noStrike" u="sng">
                <a:solidFill>
                  <a:srgbClr val="2b3547"/>
                </a:solidFill>
                <a:uFillTx/>
                <a:latin typeface="Nunito"/>
                <a:ea typeface="Nunito"/>
              </a:rPr>
              <a:t>exactly once</a:t>
            </a:r>
            <a:r>
              <a:rPr b="0" lang="en-US" sz="1200" spc="-1" strike="noStrike">
                <a:solidFill>
                  <a:srgbClr val="2b3547"/>
                </a:solidFill>
                <a:latin typeface="Nunito"/>
                <a:ea typeface="Nunito"/>
              </a:rPr>
              <a:t> is available in JetStream.</a:t>
            </a:r>
            <a:endParaRPr b="0" lang="en-US" sz="1200" spc="-1" strike="noStrike">
              <a:latin typeface="Arial"/>
            </a:endParaRPr>
          </a:p>
          <a:p>
            <a:pPr marL="432000" indent="-324000">
              <a:lnSpc>
                <a:spcPct val="100000"/>
              </a:lnSpc>
              <a:spcBef>
                <a:spcPts val="1412"/>
              </a:spcBef>
              <a:buClr>
                <a:srgbClr val="000000"/>
              </a:buClr>
              <a:buSzPct val="45000"/>
              <a:buFont typeface="Wingdings" charset="2"/>
              <a:buChar char=""/>
            </a:pPr>
            <a:r>
              <a:rPr b="0" lang="en-US" sz="1800" spc="-1" strike="noStrike">
                <a:solidFill>
                  <a:srgbClr val="2b3547"/>
                </a:solidFill>
                <a:latin typeface="Nunito"/>
                <a:ea typeface="Nunito"/>
              </a:rPr>
              <a:t>Kafka: </a:t>
            </a:r>
            <a:r>
              <a:rPr b="0" lang="en-US" sz="1200" spc="-1" strike="noStrike">
                <a:solidFill>
                  <a:srgbClr val="2b3547"/>
                </a:solidFill>
                <a:latin typeface="Nunito"/>
                <a:ea typeface="Nunito"/>
              </a:rPr>
              <a:t>At least once, </a:t>
            </a:r>
            <a:r>
              <a:rPr b="0" lang="en-US" sz="1200" spc="-1" strike="noStrike" u="sng">
                <a:solidFill>
                  <a:srgbClr val="2b3547"/>
                </a:solidFill>
                <a:uFillTx/>
                <a:latin typeface="Nunito"/>
                <a:ea typeface="Nunito"/>
              </a:rPr>
              <a:t>exactly once</a:t>
            </a:r>
            <a:r>
              <a:rPr b="0" lang="en-US" sz="1200" spc="-1" strike="noStrike">
                <a:solidFill>
                  <a:srgbClr val="2b3547"/>
                </a:solidFill>
                <a:latin typeface="Nunito"/>
                <a:ea typeface="Nunito"/>
              </a:rPr>
              <a:t>.</a:t>
            </a:r>
            <a:endParaRPr b="0" lang="en-US" sz="1200" spc="-1" strike="noStrike">
              <a:latin typeface="Arial"/>
            </a:endParaRPr>
          </a:p>
          <a:p>
            <a:pPr marL="432000" indent="-324000">
              <a:lnSpc>
                <a:spcPct val="100000"/>
              </a:lnSpc>
              <a:spcBef>
                <a:spcPts val="1412"/>
              </a:spcBef>
              <a:buClr>
                <a:srgbClr val="000000"/>
              </a:buClr>
              <a:buSzPct val="45000"/>
              <a:buFont typeface="Wingdings" charset="2"/>
              <a:buChar char=""/>
            </a:pPr>
            <a:r>
              <a:rPr b="0" lang="en-US" sz="1800" spc="-1" strike="noStrike">
                <a:solidFill>
                  <a:srgbClr val="2b3547"/>
                </a:solidFill>
                <a:latin typeface="Nunito"/>
                <a:ea typeface="Nunito"/>
              </a:rPr>
              <a:t>Rabbit: </a:t>
            </a:r>
            <a:r>
              <a:rPr b="0" lang="en-US" sz="1200" spc="-1" strike="noStrike">
                <a:solidFill>
                  <a:srgbClr val="2b3547"/>
                </a:solidFill>
                <a:latin typeface="Nunito"/>
                <a:ea typeface="Nunito"/>
              </a:rPr>
              <a:t>At most once, at least once.</a:t>
            </a:r>
            <a:endParaRPr b="0" lang="en-US" sz="1200" spc="-1" strike="noStrike">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 name="PlaceHolder 1"/>
          <p:cNvSpPr>
            <a:spLocks noGrp="1"/>
          </p:cNvSpPr>
          <p:nvPr>
            <p:ph type="title"/>
          </p:nvPr>
        </p:nvSpPr>
        <p:spPr>
          <a:xfrm>
            <a:off x="883080" y="682920"/>
            <a:ext cx="6425280" cy="395280"/>
          </a:xfrm>
          <a:prstGeom prst="rect">
            <a:avLst/>
          </a:prstGeom>
          <a:noFill/>
          <a:ln w="0">
            <a:noFill/>
          </a:ln>
        </p:spPr>
        <p:txBody>
          <a:bodyPr lIns="0" rIns="0" tIns="0" bIns="0" anchor="ctr">
            <a:noAutofit/>
          </a:bodyPr>
          <a:p>
            <a:pPr>
              <a:lnSpc>
                <a:spcPct val="90000"/>
              </a:lnSpc>
              <a:buNone/>
              <a:tabLst>
                <a:tab algn="l" pos="0"/>
              </a:tabLst>
            </a:pPr>
            <a:r>
              <a:rPr b="1" lang="en" sz="3400" spc="-1" strike="noStrike">
                <a:solidFill>
                  <a:srgbClr val="2b3547"/>
                </a:solidFill>
                <a:latin typeface="Amatic SC"/>
                <a:ea typeface="Amatic SC"/>
              </a:rPr>
              <a:t>Compare NATS</a:t>
            </a:r>
            <a:endParaRPr b="0" lang="en-US" sz="3400" spc="-1" strike="noStrike">
              <a:latin typeface="Arial"/>
            </a:endParaRPr>
          </a:p>
        </p:txBody>
      </p:sp>
      <p:sp>
        <p:nvSpPr>
          <p:cNvPr id="140" name="PlaceHolder 2"/>
          <p:cNvSpPr>
            <a:spLocks noGrp="1"/>
          </p:cNvSpPr>
          <p:nvPr>
            <p:ph type="sldNum" idx="12"/>
          </p:nvPr>
        </p:nvSpPr>
        <p:spPr>
          <a:xfrm>
            <a:off x="8403840" y="4692960"/>
            <a:ext cx="547560" cy="299160"/>
          </a:xfrm>
          <a:prstGeom prst="rect">
            <a:avLst/>
          </a:prstGeom>
          <a:noFill/>
          <a:ln w="0">
            <a:noFill/>
          </a:ln>
        </p:spPr>
        <p:txBody>
          <a:bodyPr lIns="0" rIns="0" tIns="0" bIns="0" anchor="ctr">
            <a:noAutofit/>
          </a:bodyPr>
          <a:lstStyle>
            <a:lvl1pPr algn="r">
              <a:lnSpc>
                <a:spcPct val="100000"/>
              </a:lnSpc>
              <a:buNone/>
              <a:tabLst>
                <a:tab algn="l" pos="0"/>
              </a:tabLst>
              <a:defRPr b="1" lang="en" sz="1500" spc="-1" strike="noStrike">
                <a:solidFill>
                  <a:srgbClr val="7f8b91"/>
                </a:solidFill>
                <a:latin typeface="Amatic SC"/>
                <a:ea typeface="Amatic SC"/>
              </a:defRPr>
            </a:lvl1pPr>
          </a:lstStyle>
          <a:p>
            <a:pPr algn="r">
              <a:lnSpc>
                <a:spcPct val="100000"/>
              </a:lnSpc>
              <a:buNone/>
              <a:tabLst>
                <a:tab algn="l" pos="0"/>
              </a:tabLst>
            </a:pPr>
            <a:fld id="{F231164B-1D05-48A0-AFE4-DFE58AA439B1}" type="slidenum">
              <a:rPr b="1" lang="en" sz="1500" spc="-1" strike="noStrike">
                <a:solidFill>
                  <a:srgbClr val="7f8b91"/>
                </a:solidFill>
                <a:latin typeface="Amatic SC"/>
                <a:ea typeface="Amatic SC"/>
              </a:rPr>
              <a:t>&lt;number&gt;</a:t>
            </a:fld>
            <a:endParaRPr b="0" lang="en-US" sz="1500" spc="-1" strike="noStrike">
              <a:latin typeface="Times New Roman"/>
            </a:endParaRPr>
          </a:p>
        </p:txBody>
      </p:sp>
      <p:sp>
        <p:nvSpPr>
          <p:cNvPr id="141" name="Google Shape;228;p 10"/>
          <p:cNvSpPr/>
          <p:nvPr/>
        </p:nvSpPr>
        <p:spPr>
          <a:xfrm>
            <a:off x="7648200" y="3814560"/>
            <a:ext cx="936720" cy="834120"/>
          </a:xfrm>
          <a:custGeom>
            <a:avLst/>
            <a:gdLst/>
            <a:ahLst/>
            <a:rect l="l" t="t" r="r" b="b"/>
            <a:pathLst>
              <a:path w="444359" h="395938">
                <a:moveTo>
                  <a:pt x="135136" y="205311"/>
                </a:moveTo>
                <a:lnTo>
                  <a:pt x="101482" y="200356"/>
                </a:lnTo>
                <a:cubicBezTo>
                  <a:pt x="92405" y="199041"/>
                  <a:pt x="88788" y="213642"/>
                  <a:pt x="98347" y="215046"/>
                </a:cubicBezTo>
                <a:lnTo>
                  <a:pt x="132067" y="220001"/>
                </a:lnTo>
                <a:cubicBezTo>
                  <a:pt x="141056" y="221316"/>
                  <a:pt x="144673" y="206714"/>
                  <a:pt x="135136" y="205311"/>
                </a:cubicBezTo>
                <a:close/>
                <a:moveTo>
                  <a:pt x="293388" y="291650"/>
                </a:moveTo>
                <a:cubicBezTo>
                  <a:pt x="292554" y="295482"/>
                  <a:pt x="294966" y="299271"/>
                  <a:pt x="298803" y="300115"/>
                </a:cubicBezTo>
                <a:cubicBezTo>
                  <a:pt x="298869" y="300130"/>
                  <a:pt x="298935" y="300144"/>
                  <a:pt x="299001" y="300157"/>
                </a:cubicBezTo>
                <a:cubicBezTo>
                  <a:pt x="299373" y="300157"/>
                  <a:pt x="300711" y="300157"/>
                  <a:pt x="300930" y="300551"/>
                </a:cubicBezTo>
                <a:cubicBezTo>
                  <a:pt x="299921" y="300222"/>
                  <a:pt x="299790" y="300201"/>
                  <a:pt x="300535" y="300551"/>
                </a:cubicBezTo>
                <a:cubicBezTo>
                  <a:pt x="301280" y="300902"/>
                  <a:pt x="301456" y="300924"/>
                  <a:pt x="302267" y="301297"/>
                </a:cubicBezTo>
                <a:lnTo>
                  <a:pt x="302377" y="301297"/>
                </a:lnTo>
                <a:cubicBezTo>
                  <a:pt x="309919" y="308335"/>
                  <a:pt x="320267" y="297416"/>
                  <a:pt x="313142" y="290335"/>
                </a:cubicBezTo>
                <a:cubicBezTo>
                  <a:pt x="307573" y="285621"/>
                  <a:pt x="295756" y="281894"/>
                  <a:pt x="293388" y="291650"/>
                </a:cubicBezTo>
                <a:close/>
                <a:moveTo>
                  <a:pt x="285999" y="274110"/>
                </a:moveTo>
                <a:cubicBezTo>
                  <a:pt x="269973" y="263589"/>
                  <a:pt x="253310" y="254069"/>
                  <a:pt x="236099" y="245608"/>
                </a:cubicBezTo>
                <a:cubicBezTo>
                  <a:pt x="227833" y="241530"/>
                  <a:pt x="220752" y="255014"/>
                  <a:pt x="229346" y="259180"/>
                </a:cubicBezTo>
                <a:cubicBezTo>
                  <a:pt x="245439" y="267053"/>
                  <a:pt x="261027" y="275919"/>
                  <a:pt x="276002" y="285730"/>
                </a:cubicBezTo>
                <a:cubicBezTo>
                  <a:pt x="283697" y="290576"/>
                  <a:pt x="293738" y="279109"/>
                  <a:pt x="285999" y="274023"/>
                </a:cubicBezTo>
                <a:close/>
                <a:moveTo>
                  <a:pt x="433354" y="1544"/>
                </a:moveTo>
                <a:cubicBezTo>
                  <a:pt x="431162" y="3057"/>
                  <a:pt x="428970" y="4482"/>
                  <a:pt x="426908" y="5929"/>
                </a:cubicBezTo>
                <a:cubicBezTo>
                  <a:pt x="425220" y="5833"/>
                  <a:pt x="423554" y="6381"/>
                  <a:pt x="422239" y="7464"/>
                </a:cubicBezTo>
                <a:cubicBezTo>
                  <a:pt x="417854" y="10840"/>
                  <a:pt x="413469" y="14261"/>
                  <a:pt x="408952" y="17659"/>
                </a:cubicBezTo>
                <a:cubicBezTo>
                  <a:pt x="315904" y="75803"/>
                  <a:pt x="209197" y="106563"/>
                  <a:pt x="111195" y="154928"/>
                </a:cubicBezTo>
                <a:cubicBezTo>
                  <a:pt x="93853" y="163501"/>
                  <a:pt x="76773" y="172622"/>
                  <a:pt x="60089" y="182400"/>
                </a:cubicBezTo>
                <a:cubicBezTo>
                  <a:pt x="42549" y="192748"/>
                  <a:pt x="25141" y="203184"/>
                  <a:pt x="5146" y="208249"/>
                </a:cubicBezTo>
                <a:cubicBezTo>
                  <a:pt x="-1804" y="210003"/>
                  <a:pt x="-1147" y="218532"/>
                  <a:pt x="3743" y="221404"/>
                </a:cubicBezTo>
                <a:cubicBezTo>
                  <a:pt x="4707" y="222430"/>
                  <a:pt x="5979" y="223140"/>
                  <a:pt x="7360" y="223443"/>
                </a:cubicBezTo>
                <a:cubicBezTo>
                  <a:pt x="52371" y="234230"/>
                  <a:pt x="97777" y="242999"/>
                  <a:pt x="143621" y="249752"/>
                </a:cubicBezTo>
                <a:lnTo>
                  <a:pt x="143117" y="384961"/>
                </a:lnTo>
                <a:cubicBezTo>
                  <a:pt x="142854" y="387829"/>
                  <a:pt x="144717" y="390464"/>
                  <a:pt x="147502" y="391166"/>
                </a:cubicBezTo>
                <a:cubicBezTo>
                  <a:pt x="148620" y="393251"/>
                  <a:pt x="150615" y="394717"/>
                  <a:pt x="152939" y="395156"/>
                </a:cubicBezTo>
                <a:cubicBezTo>
                  <a:pt x="155855" y="396721"/>
                  <a:pt x="159473" y="395875"/>
                  <a:pt x="161402" y="393183"/>
                </a:cubicBezTo>
                <a:cubicBezTo>
                  <a:pt x="187777" y="361278"/>
                  <a:pt x="215797" y="330777"/>
                  <a:pt x="245351" y="301801"/>
                </a:cubicBezTo>
                <a:cubicBezTo>
                  <a:pt x="266464" y="313914"/>
                  <a:pt x="286394" y="328001"/>
                  <a:pt x="304854" y="343874"/>
                </a:cubicBezTo>
                <a:cubicBezTo>
                  <a:pt x="316496" y="353850"/>
                  <a:pt x="331712" y="356854"/>
                  <a:pt x="343266" y="366413"/>
                </a:cubicBezTo>
                <a:cubicBezTo>
                  <a:pt x="346533" y="371170"/>
                  <a:pt x="355500" y="370798"/>
                  <a:pt x="356553" y="363519"/>
                </a:cubicBezTo>
                <a:cubicBezTo>
                  <a:pt x="373083" y="243175"/>
                  <a:pt x="405510" y="125528"/>
                  <a:pt x="443593" y="10753"/>
                </a:cubicBezTo>
                <a:cubicBezTo>
                  <a:pt x="446618" y="4679"/>
                  <a:pt x="440173" y="-3323"/>
                  <a:pt x="433354" y="1457"/>
                </a:cubicBezTo>
                <a:close/>
                <a:moveTo>
                  <a:pt x="144959" y="232695"/>
                </a:moveTo>
                <a:cubicBezTo>
                  <a:pt x="144345" y="233234"/>
                  <a:pt x="143819" y="233863"/>
                  <a:pt x="143380" y="234558"/>
                </a:cubicBezTo>
                <a:cubicBezTo>
                  <a:pt x="106218" y="229033"/>
                  <a:pt x="69319" y="222164"/>
                  <a:pt x="32639" y="213949"/>
                </a:cubicBezTo>
                <a:cubicBezTo>
                  <a:pt x="52744" y="204895"/>
                  <a:pt x="71358" y="192134"/>
                  <a:pt x="90652" y="181720"/>
                </a:cubicBezTo>
                <a:cubicBezTo>
                  <a:pt x="170610" y="138682"/>
                  <a:pt x="257497" y="110816"/>
                  <a:pt x="339320" y="71856"/>
                </a:cubicBezTo>
                <a:cubicBezTo>
                  <a:pt x="273370" y="123978"/>
                  <a:pt x="208584" y="177592"/>
                  <a:pt x="144959" y="232695"/>
                </a:cubicBezTo>
                <a:close/>
                <a:moveTo>
                  <a:pt x="157938" y="358827"/>
                </a:moveTo>
                <a:lnTo>
                  <a:pt x="158376" y="242429"/>
                </a:lnTo>
                <a:cubicBezTo>
                  <a:pt x="158376" y="241688"/>
                  <a:pt x="158267" y="240949"/>
                  <a:pt x="158070" y="240237"/>
                </a:cubicBezTo>
                <a:cubicBezTo>
                  <a:pt x="232788" y="175691"/>
                  <a:pt x="309152" y="113147"/>
                  <a:pt x="387181" y="52607"/>
                </a:cubicBezTo>
                <a:lnTo>
                  <a:pt x="297159" y="137213"/>
                </a:lnTo>
                <a:cubicBezTo>
                  <a:pt x="259098" y="172972"/>
                  <a:pt x="217024" y="207372"/>
                  <a:pt x="189531" y="252405"/>
                </a:cubicBezTo>
                <a:cubicBezTo>
                  <a:pt x="188216" y="254240"/>
                  <a:pt x="188018" y="256658"/>
                  <a:pt x="189049" y="258675"/>
                </a:cubicBezTo>
                <a:cubicBezTo>
                  <a:pt x="189356" y="259691"/>
                  <a:pt x="189882" y="260620"/>
                  <a:pt x="190605" y="261394"/>
                </a:cubicBezTo>
                <a:cubicBezTo>
                  <a:pt x="181222" y="294369"/>
                  <a:pt x="170325" y="326817"/>
                  <a:pt x="157938" y="358739"/>
                </a:cubicBezTo>
                <a:close/>
                <a:moveTo>
                  <a:pt x="174535" y="355801"/>
                </a:moveTo>
                <a:cubicBezTo>
                  <a:pt x="184927" y="328323"/>
                  <a:pt x="194267" y="300479"/>
                  <a:pt x="202533" y="272269"/>
                </a:cubicBezTo>
                <a:cubicBezTo>
                  <a:pt x="212223" y="280124"/>
                  <a:pt x="222396" y="287379"/>
                  <a:pt x="232964" y="293996"/>
                </a:cubicBezTo>
                <a:cubicBezTo>
                  <a:pt x="212749" y="313844"/>
                  <a:pt x="193281" y="334418"/>
                  <a:pt x="174535" y="355713"/>
                </a:cubicBezTo>
                <a:close/>
                <a:moveTo>
                  <a:pt x="344143" y="348807"/>
                </a:moveTo>
                <a:cubicBezTo>
                  <a:pt x="334847" y="343743"/>
                  <a:pt x="324608" y="340432"/>
                  <a:pt x="316255" y="333460"/>
                </a:cubicBezTo>
                <a:cubicBezTo>
                  <a:pt x="304394" y="323193"/>
                  <a:pt x="291962" y="313631"/>
                  <a:pt x="278983" y="304827"/>
                </a:cubicBezTo>
                <a:cubicBezTo>
                  <a:pt x="253946" y="288581"/>
                  <a:pt x="227351" y="274637"/>
                  <a:pt x="205273" y="254400"/>
                </a:cubicBezTo>
                <a:cubicBezTo>
                  <a:pt x="232701" y="211538"/>
                  <a:pt x="274533" y="178125"/>
                  <a:pt x="311212" y="143637"/>
                </a:cubicBezTo>
                <a:cubicBezTo>
                  <a:pt x="346993" y="110020"/>
                  <a:pt x="382796" y="76401"/>
                  <a:pt x="418643" y="42784"/>
                </a:cubicBezTo>
                <a:cubicBezTo>
                  <a:pt x="385098" y="142442"/>
                  <a:pt x="360170" y="244797"/>
                  <a:pt x="344143" y="348720"/>
                </a:cubicBezTo>
                <a:close/>
                <a:moveTo>
                  <a:pt x="55923" y="163172"/>
                </a:moveTo>
                <a:cubicBezTo>
                  <a:pt x="76620" y="147430"/>
                  <a:pt x="101087" y="137608"/>
                  <a:pt x="124481" y="126668"/>
                </a:cubicBezTo>
                <a:lnTo>
                  <a:pt x="197797" y="92378"/>
                </a:lnTo>
                <a:cubicBezTo>
                  <a:pt x="206238" y="88431"/>
                  <a:pt x="202379" y="74268"/>
                  <a:pt x="193412" y="78434"/>
                </a:cubicBezTo>
                <a:lnTo>
                  <a:pt x="116237" y="114478"/>
                </a:lnTo>
                <a:cubicBezTo>
                  <a:pt x="92954" y="125440"/>
                  <a:pt x="68661" y="135306"/>
                  <a:pt x="48052" y="150960"/>
                </a:cubicBezTo>
                <a:cubicBezTo>
                  <a:pt x="40532" y="156704"/>
                  <a:pt x="48096" y="169114"/>
                  <a:pt x="55923" y="163084"/>
                </a:cubicBezTo>
                <a:close/>
                <a:moveTo>
                  <a:pt x="41760" y="133684"/>
                </a:moveTo>
                <a:cubicBezTo>
                  <a:pt x="60198" y="122794"/>
                  <a:pt x="79119" y="112805"/>
                  <a:pt x="98479" y="103713"/>
                </a:cubicBezTo>
                <a:cubicBezTo>
                  <a:pt x="106919" y="99766"/>
                  <a:pt x="103061" y="85603"/>
                  <a:pt x="94094" y="89791"/>
                </a:cubicBezTo>
                <a:cubicBezTo>
                  <a:pt x="73528" y="99409"/>
                  <a:pt x="53467" y="109990"/>
                  <a:pt x="33889" y="121537"/>
                </a:cubicBezTo>
                <a:cubicBezTo>
                  <a:pt x="25689" y="126339"/>
                  <a:pt x="33341" y="138573"/>
                  <a:pt x="41760" y="133596"/>
                </a:cubicBezTo>
                <a:close/>
              </a:path>
            </a:pathLst>
          </a:custGeom>
          <a:solidFill>
            <a:srgbClr val="2b3547"/>
          </a:solidFill>
          <a:ln w="0">
            <a:noFill/>
          </a:ln>
        </p:spPr>
        <p:style>
          <a:lnRef idx="0"/>
          <a:fillRef idx="0"/>
          <a:effectRef idx="0"/>
          <a:fontRef idx="minor"/>
        </p:style>
      </p:sp>
      <p:sp>
        <p:nvSpPr>
          <p:cNvPr id="142" name="PlaceHolder 3"/>
          <p:cNvSpPr>
            <a:spLocks noGrp="1"/>
          </p:cNvSpPr>
          <p:nvPr>
            <p:ph/>
          </p:nvPr>
        </p:nvSpPr>
        <p:spPr>
          <a:xfrm>
            <a:off x="1188000" y="1505880"/>
            <a:ext cx="6425280" cy="2839320"/>
          </a:xfrm>
          <a:prstGeom prst="rect">
            <a:avLst/>
          </a:prstGeom>
          <a:noFill/>
          <a:ln w="0">
            <a:noFill/>
          </a:ln>
        </p:spPr>
        <p:txBody>
          <a:bodyPr lIns="0" rIns="0" tIns="0" bIns="0" anchor="t">
            <a:noAutofit/>
          </a:bodyPr>
          <a:p>
            <a:pPr marL="432000" indent="-324000">
              <a:lnSpc>
                <a:spcPct val="100000"/>
              </a:lnSpc>
              <a:spcBef>
                <a:spcPts val="1412"/>
              </a:spcBef>
              <a:buClr>
                <a:srgbClr val="000000"/>
              </a:buClr>
              <a:buSzPct val="45000"/>
              <a:buFont typeface="Wingdings" charset="2"/>
              <a:buChar char=""/>
            </a:pPr>
            <a:r>
              <a:rPr b="0" lang="en-US" sz="1800" spc="-1" strike="noStrike">
                <a:solidFill>
                  <a:srgbClr val="2b3547"/>
                </a:solidFill>
                <a:latin typeface="Nunito"/>
                <a:ea typeface="Nunito"/>
              </a:rPr>
              <a:t>Multi-tenancy and Sharing</a:t>
            </a:r>
            <a:endParaRPr b="0" lang="en-US" sz="1800" spc="-1" strike="noStrike">
              <a:latin typeface="Arial"/>
            </a:endParaRPr>
          </a:p>
          <a:p>
            <a:pPr marL="432000" indent="-324000">
              <a:lnSpc>
                <a:spcPct val="100000"/>
              </a:lnSpc>
              <a:spcBef>
                <a:spcPts val="1412"/>
              </a:spcBef>
              <a:buClr>
                <a:srgbClr val="000000"/>
              </a:buClr>
              <a:buSzPct val="45000"/>
              <a:buFont typeface="Wingdings" charset="2"/>
              <a:buChar char=""/>
            </a:pPr>
            <a:r>
              <a:rPr b="0" lang="en-US" sz="1800" spc="-1" strike="noStrike">
                <a:solidFill>
                  <a:srgbClr val="2b3547"/>
                </a:solidFill>
                <a:latin typeface="Nunito"/>
                <a:ea typeface="Nunito"/>
              </a:rPr>
              <a:t>NATS: </a:t>
            </a:r>
            <a:r>
              <a:rPr b="0" lang="en-US" sz="1200" spc="-1" strike="noStrike">
                <a:solidFill>
                  <a:srgbClr val="2b3547"/>
                </a:solidFill>
                <a:latin typeface="Nunito"/>
                <a:ea typeface="Nunito"/>
              </a:rPr>
              <a:t>NATS supports true multi-tenancy and decentralized security through accounts and defining shared streams and services.</a:t>
            </a:r>
            <a:endParaRPr b="0" lang="en-US" sz="1200" spc="-1" strike="noStrike">
              <a:latin typeface="Arial"/>
            </a:endParaRPr>
          </a:p>
          <a:p>
            <a:pPr marL="432000" indent="-324000">
              <a:lnSpc>
                <a:spcPct val="100000"/>
              </a:lnSpc>
              <a:spcBef>
                <a:spcPts val="1412"/>
              </a:spcBef>
              <a:buClr>
                <a:srgbClr val="000000"/>
              </a:buClr>
              <a:buSzPct val="45000"/>
              <a:buFont typeface="Wingdings" charset="2"/>
              <a:buChar char=""/>
            </a:pPr>
            <a:r>
              <a:rPr b="0" lang="en-US" sz="1800" spc="-1" strike="noStrike">
                <a:solidFill>
                  <a:srgbClr val="2b3547"/>
                </a:solidFill>
                <a:latin typeface="Nunito"/>
                <a:ea typeface="Nunito"/>
              </a:rPr>
              <a:t>Kafka: </a:t>
            </a:r>
            <a:r>
              <a:rPr b="0" lang="en-US" sz="1200" spc="-1" strike="noStrike">
                <a:solidFill>
                  <a:srgbClr val="2b3547"/>
                </a:solidFill>
                <a:latin typeface="Nunito"/>
                <a:ea typeface="Nunito"/>
              </a:rPr>
              <a:t>Multi-tenancy is not supported.</a:t>
            </a:r>
            <a:endParaRPr b="0" lang="en-US" sz="1200" spc="-1" strike="noStrike">
              <a:latin typeface="Arial"/>
            </a:endParaRPr>
          </a:p>
          <a:p>
            <a:pPr marL="432000" indent="-324000">
              <a:lnSpc>
                <a:spcPct val="100000"/>
              </a:lnSpc>
              <a:spcBef>
                <a:spcPts val="1412"/>
              </a:spcBef>
              <a:buClr>
                <a:srgbClr val="000000"/>
              </a:buClr>
              <a:buSzPct val="45000"/>
              <a:buFont typeface="Wingdings" charset="2"/>
              <a:buChar char=""/>
            </a:pPr>
            <a:r>
              <a:rPr b="0" lang="en-US" sz="1800" spc="-1" strike="noStrike">
                <a:solidFill>
                  <a:srgbClr val="2b3547"/>
                </a:solidFill>
                <a:latin typeface="Nunito"/>
                <a:ea typeface="Nunito"/>
              </a:rPr>
              <a:t>Rabbit: </a:t>
            </a:r>
            <a:r>
              <a:rPr b="0" lang="en-US" sz="1200" spc="-1" strike="noStrike">
                <a:solidFill>
                  <a:srgbClr val="2b3547"/>
                </a:solidFill>
                <a:latin typeface="Nunito"/>
                <a:ea typeface="Nunito"/>
              </a:rPr>
              <a:t>Multi-tenancy is supported with vhosts; data sharing is not supported.</a:t>
            </a:r>
            <a:endParaRPr b="0" lang="en-US" sz="1200" spc="-1" strike="noStrike">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 name="PlaceHolder 1"/>
          <p:cNvSpPr>
            <a:spLocks noGrp="1"/>
          </p:cNvSpPr>
          <p:nvPr>
            <p:ph type="title"/>
          </p:nvPr>
        </p:nvSpPr>
        <p:spPr>
          <a:xfrm>
            <a:off x="883080" y="682920"/>
            <a:ext cx="6425280" cy="395280"/>
          </a:xfrm>
          <a:prstGeom prst="rect">
            <a:avLst/>
          </a:prstGeom>
          <a:noFill/>
          <a:ln w="0">
            <a:noFill/>
          </a:ln>
        </p:spPr>
        <p:txBody>
          <a:bodyPr lIns="0" rIns="0" tIns="0" bIns="0" anchor="ctr">
            <a:noAutofit/>
          </a:bodyPr>
          <a:p>
            <a:pPr>
              <a:lnSpc>
                <a:spcPct val="90000"/>
              </a:lnSpc>
              <a:buNone/>
              <a:tabLst>
                <a:tab algn="l" pos="0"/>
              </a:tabLst>
            </a:pPr>
            <a:r>
              <a:rPr b="1" lang="en" sz="3400" spc="-1" strike="noStrike">
                <a:solidFill>
                  <a:srgbClr val="2b3547"/>
                </a:solidFill>
                <a:latin typeface="Amatic SC"/>
                <a:ea typeface="Amatic SC"/>
              </a:rPr>
              <a:t>Compare NATS</a:t>
            </a:r>
            <a:endParaRPr b="0" lang="en-US" sz="3400" spc="-1" strike="noStrike">
              <a:latin typeface="Arial"/>
            </a:endParaRPr>
          </a:p>
        </p:txBody>
      </p:sp>
      <p:sp>
        <p:nvSpPr>
          <p:cNvPr id="144" name="PlaceHolder 2"/>
          <p:cNvSpPr>
            <a:spLocks noGrp="1"/>
          </p:cNvSpPr>
          <p:nvPr>
            <p:ph type="sldNum" idx="13"/>
          </p:nvPr>
        </p:nvSpPr>
        <p:spPr>
          <a:xfrm>
            <a:off x="8403840" y="4692960"/>
            <a:ext cx="547560" cy="299160"/>
          </a:xfrm>
          <a:prstGeom prst="rect">
            <a:avLst/>
          </a:prstGeom>
          <a:noFill/>
          <a:ln w="0">
            <a:noFill/>
          </a:ln>
        </p:spPr>
        <p:txBody>
          <a:bodyPr lIns="0" rIns="0" tIns="0" bIns="0" anchor="ctr">
            <a:noAutofit/>
          </a:bodyPr>
          <a:lstStyle>
            <a:lvl1pPr algn="r">
              <a:lnSpc>
                <a:spcPct val="100000"/>
              </a:lnSpc>
              <a:buNone/>
              <a:tabLst>
                <a:tab algn="l" pos="0"/>
              </a:tabLst>
              <a:defRPr b="1" lang="en" sz="1500" spc="-1" strike="noStrike">
                <a:solidFill>
                  <a:srgbClr val="7f8b91"/>
                </a:solidFill>
                <a:latin typeface="Amatic SC"/>
                <a:ea typeface="Amatic SC"/>
              </a:defRPr>
            </a:lvl1pPr>
          </a:lstStyle>
          <a:p>
            <a:pPr algn="r">
              <a:lnSpc>
                <a:spcPct val="100000"/>
              </a:lnSpc>
              <a:buNone/>
              <a:tabLst>
                <a:tab algn="l" pos="0"/>
              </a:tabLst>
            </a:pPr>
            <a:fld id="{07340D12-3C30-4B7A-B808-C6D437A9C04E}" type="slidenum">
              <a:rPr b="1" lang="en" sz="1500" spc="-1" strike="noStrike">
                <a:solidFill>
                  <a:srgbClr val="7f8b91"/>
                </a:solidFill>
                <a:latin typeface="Amatic SC"/>
                <a:ea typeface="Amatic SC"/>
              </a:rPr>
              <a:t>&lt;number&gt;</a:t>
            </a:fld>
            <a:endParaRPr b="0" lang="en-US" sz="1500" spc="-1" strike="noStrike">
              <a:latin typeface="Times New Roman"/>
            </a:endParaRPr>
          </a:p>
        </p:txBody>
      </p:sp>
      <p:sp>
        <p:nvSpPr>
          <p:cNvPr id="145" name="Google Shape;228;p 11"/>
          <p:cNvSpPr/>
          <p:nvPr/>
        </p:nvSpPr>
        <p:spPr>
          <a:xfrm>
            <a:off x="7648200" y="3814560"/>
            <a:ext cx="936720" cy="834120"/>
          </a:xfrm>
          <a:custGeom>
            <a:avLst/>
            <a:gdLst/>
            <a:ahLst/>
            <a:rect l="l" t="t" r="r" b="b"/>
            <a:pathLst>
              <a:path w="444359" h="395938">
                <a:moveTo>
                  <a:pt x="135136" y="205311"/>
                </a:moveTo>
                <a:lnTo>
                  <a:pt x="101482" y="200356"/>
                </a:lnTo>
                <a:cubicBezTo>
                  <a:pt x="92405" y="199041"/>
                  <a:pt x="88788" y="213642"/>
                  <a:pt x="98347" y="215046"/>
                </a:cubicBezTo>
                <a:lnTo>
                  <a:pt x="132067" y="220001"/>
                </a:lnTo>
                <a:cubicBezTo>
                  <a:pt x="141056" y="221316"/>
                  <a:pt x="144673" y="206714"/>
                  <a:pt x="135136" y="205311"/>
                </a:cubicBezTo>
                <a:close/>
                <a:moveTo>
                  <a:pt x="293388" y="291650"/>
                </a:moveTo>
                <a:cubicBezTo>
                  <a:pt x="292554" y="295482"/>
                  <a:pt x="294966" y="299271"/>
                  <a:pt x="298803" y="300115"/>
                </a:cubicBezTo>
                <a:cubicBezTo>
                  <a:pt x="298869" y="300130"/>
                  <a:pt x="298935" y="300144"/>
                  <a:pt x="299001" y="300157"/>
                </a:cubicBezTo>
                <a:cubicBezTo>
                  <a:pt x="299373" y="300157"/>
                  <a:pt x="300711" y="300157"/>
                  <a:pt x="300930" y="300551"/>
                </a:cubicBezTo>
                <a:cubicBezTo>
                  <a:pt x="299921" y="300222"/>
                  <a:pt x="299790" y="300201"/>
                  <a:pt x="300535" y="300551"/>
                </a:cubicBezTo>
                <a:cubicBezTo>
                  <a:pt x="301280" y="300902"/>
                  <a:pt x="301456" y="300924"/>
                  <a:pt x="302267" y="301297"/>
                </a:cubicBezTo>
                <a:lnTo>
                  <a:pt x="302377" y="301297"/>
                </a:lnTo>
                <a:cubicBezTo>
                  <a:pt x="309919" y="308335"/>
                  <a:pt x="320267" y="297416"/>
                  <a:pt x="313142" y="290335"/>
                </a:cubicBezTo>
                <a:cubicBezTo>
                  <a:pt x="307573" y="285621"/>
                  <a:pt x="295756" y="281894"/>
                  <a:pt x="293388" y="291650"/>
                </a:cubicBezTo>
                <a:close/>
                <a:moveTo>
                  <a:pt x="285999" y="274110"/>
                </a:moveTo>
                <a:cubicBezTo>
                  <a:pt x="269973" y="263589"/>
                  <a:pt x="253310" y="254069"/>
                  <a:pt x="236099" y="245608"/>
                </a:cubicBezTo>
                <a:cubicBezTo>
                  <a:pt x="227833" y="241530"/>
                  <a:pt x="220752" y="255014"/>
                  <a:pt x="229346" y="259180"/>
                </a:cubicBezTo>
                <a:cubicBezTo>
                  <a:pt x="245439" y="267053"/>
                  <a:pt x="261027" y="275919"/>
                  <a:pt x="276002" y="285730"/>
                </a:cubicBezTo>
                <a:cubicBezTo>
                  <a:pt x="283697" y="290576"/>
                  <a:pt x="293738" y="279109"/>
                  <a:pt x="285999" y="274023"/>
                </a:cubicBezTo>
                <a:close/>
                <a:moveTo>
                  <a:pt x="433354" y="1544"/>
                </a:moveTo>
                <a:cubicBezTo>
                  <a:pt x="431162" y="3057"/>
                  <a:pt x="428970" y="4482"/>
                  <a:pt x="426908" y="5929"/>
                </a:cubicBezTo>
                <a:cubicBezTo>
                  <a:pt x="425220" y="5833"/>
                  <a:pt x="423554" y="6381"/>
                  <a:pt x="422239" y="7464"/>
                </a:cubicBezTo>
                <a:cubicBezTo>
                  <a:pt x="417854" y="10840"/>
                  <a:pt x="413469" y="14261"/>
                  <a:pt x="408952" y="17659"/>
                </a:cubicBezTo>
                <a:cubicBezTo>
                  <a:pt x="315904" y="75803"/>
                  <a:pt x="209197" y="106563"/>
                  <a:pt x="111195" y="154928"/>
                </a:cubicBezTo>
                <a:cubicBezTo>
                  <a:pt x="93853" y="163501"/>
                  <a:pt x="76773" y="172622"/>
                  <a:pt x="60089" y="182400"/>
                </a:cubicBezTo>
                <a:cubicBezTo>
                  <a:pt x="42549" y="192748"/>
                  <a:pt x="25141" y="203184"/>
                  <a:pt x="5146" y="208249"/>
                </a:cubicBezTo>
                <a:cubicBezTo>
                  <a:pt x="-1804" y="210003"/>
                  <a:pt x="-1147" y="218532"/>
                  <a:pt x="3743" y="221404"/>
                </a:cubicBezTo>
                <a:cubicBezTo>
                  <a:pt x="4707" y="222430"/>
                  <a:pt x="5979" y="223140"/>
                  <a:pt x="7360" y="223443"/>
                </a:cubicBezTo>
                <a:cubicBezTo>
                  <a:pt x="52371" y="234230"/>
                  <a:pt x="97777" y="242999"/>
                  <a:pt x="143621" y="249752"/>
                </a:cubicBezTo>
                <a:lnTo>
                  <a:pt x="143117" y="384961"/>
                </a:lnTo>
                <a:cubicBezTo>
                  <a:pt x="142854" y="387829"/>
                  <a:pt x="144717" y="390464"/>
                  <a:pt x="147502" y="391166"/>
                </a:cubicBezTo>
                <a:cubicBezTo>
                  <a:pt x="148620" y="393251"/>
                  <a:pt x="150615" y="394717"/>
                  <a:pt x="152939" y="395156"/>
                </a:cubicBezTo>
                <a:cubicBezTo>
                  <a:pt x="155855" y="396721"/>
                  <a:pt x="159473" y="395875"/>
                  <a:pt x="161402" y="393183"/>
                </a:cubicBezTo>
                <a:cubicBezTo>
                  <a:pt x="187777" y="361278"/>
                  <a:pt x="215797" y="330777"/>
                  <a:pt x="245351" y="301801"/>
                </a:cubicBezTo>
                <a:cubicBezTo>
                  <a:pt x="266464" y="313914"/>
                  <a:pt x="286394" y="328001"/>
                  <a:pt x="304854" y="343874"/>
                </a:cubicBezTo>
                <a:cubicBezTo>
                  <a:pt x="316496" y="353850"/>
                  <a:pt x="331712" y="356854"/>
                  <a:pt x="343266" y="366413"/>
                </a:cubicBezTo>
                <a:cubicBezTo>
                  <a:pt x="346533" y="371170"/>
                  <a:pt x="355500" y="370798"/>
                  <a:pt x="356553" y="363519"/>
                </a:cubicBezTo>
                <a:cubicBezTo>
                  <a:pt x="373083" y="243175"/>
                  <a:pt x="405510" y="125528"/>
                  <a:pt x="443593" y="10753"/>
                </a:cubicBezTo>
                <a:cubicBezTo>
                  <a:pt x="446618" y="4679"/>
                  <a:pt x="440173" y="-3323"/>
                  <a:pt x="433354" y="1457"/>
                </a:cubicBezTo>
                <a:close/>
                <a:moveTo>
                  <a:pt x="144959" y="232695"/>
                </a:moveTo>
                <a:cubicBezTo>
                  <a:pt x="144345" y="233234"/>
                  <a:pt x="143819" y="233863"/>
                  <a:pt x="143380" y="234558"/>
                </a:cubicBezTo>
                <a:cubicBezTo>
                  <a:pt x="106218" y="229033"/>
                  <a:pt x="69319" y="222164"/>
                  <a:pt x="32639" y="213949"/>
                </a:cubicBezTo>
                <a:cubicBezTo>
                  <a:pt x="52744" y="204895"/>
                  <a:pt x="71358" y="192134"/>
                  <a:pt x="90652" y="181720"/>
                </a:cubicBezTo>
                <a:cubicBezTo>
                  <a:pt x="170610" y="138682"/>
                  <a:pt x="257497" y="110816"/>
                  <a:pt x="339320" y="71856"/>
                </a:cubicBezTo>
                <a:cubicBezTo>
                  <a:pt x="273370" y="123978"/>
                  <a:pt x="208584" y="177592"/>
                  <a:pt x="144959" y="232695"/>
                </a:cubicBezTo>
                <a:close/>
                <a:moveTo>
                  <a:pt x="157938" y="358827"/>
                </a:moveTo>
                <a:lnTo>
                  <a:pt x="158376" y="242429"/>
                </a:lnTo>
                <a:cubicBezTo>
                  <a:pt x="158376" y="241688"/>
                  <a:pt x="158267" y="240949"/>
                  <a:pt x="158070" y="240237"/>
                </a:cubicBezTo>
                <a:cubicBezTo>
                  <a:pt x="232788" y="175691"/>
                  <a:pt x="309152" y="113147"/>
                  <a:pt x="387181" y="52607"/>
                </a:cubicBezTo>
                <a:lnTo>
                  <a:pt x="297159" y="137213"/>
                </a:lnTo>
                <a:cubicBezTo>
                  <a:pt x="259098" y="172972"/>
                  <a:pt x="217024" y="207372"/>
                  <a:pt x="189531" y="252405"/>
                </a:cubicBezTo>
                <a:cubicBezTo>
                  <a:pt x="188216" y="254240"/>
                  <a:pt x="188018" y="256658"/>
                  <a:pt x="189049" y="258675"/>
                </a:cubicBezTo>
                <a:cubicBezTo>
                  <a:pt x="189356" y="259691"/>
                  <a:pt x="189882" y="260620"/>
                  <a:pt x="190605" y="261394"/>
                </a:cubicBezTo>
                <a:cubicBezTo>
                  <a:pt x="181222" y="294369"/>
                  <a:pt x="170325" y="326817"/>
                  <a:pt x="157938" y="358739"/>
                </a:cubicBezTo>
                <a:close/>
                <a:moveTo>
                  <a:pt x="174535" y="355801"/>
                </a:moveTo>
                <a:cubicBezTo>
                  <a:pt x="184927" y="328323"/>
                  <a:pt x="194267" y="300479"/>
                  <a:pt x="202533" y="272269"/>
                </a:cubicBezTo>
                <a:cubicBezTo>
                  <a:pt x="212223" y="280124"/>
                  <a:pt x="222396" y="287379"/>
                  <a:pt x="232964" y="293996"/>
                </a:cubicBezTo>
                <a:cubicBezTo>
                  <a:pt x="212749" y="313844"/>
                  <a:pt x="193281" y="334418"/>
                  <a:pt x="174535" y="355713"/>
                </a:cubicBezTo>
                <a:close/>
                <a:moveTo>
                  <a:pt x="344143" y="348807"/>
                </a:moveTo>
                <a:cubicBezTo>
                  <a:pt x="334847" y="343743"/>
                  <a:pt x="324608" y="340432"/>
                  <a:pt x="316255" y="333460"/>
                </a:cubicBezTo>
                <a:cubicBezTo>
                  <a:pt x="304394" y="323193"/>
                  <a:pt x="291962" y="313631"/>
                  <a:pt x="278983" y="304827"/>
                </a:cubicBezTo>
                <a:cubicBezTo>
                  <a:pt x="253946" y="288581"/>
                  <a:pt x="227351" y="274637"/>
                  <a:pt x="205273" y="254400"/>
                </a:cubicBezTo>
                <a:cubicBezTo>
                  <a:pt x="232701" y="211538"/>
                  <a:pt x="274533" y="178125"/>
                  <a:pt x="311212" y="143637"/>
                </a:cubicBezTo>
                <a:cubicBezTo>
                  <a:pt x="346993" y="110020"/>
                  <a:pt x="382796" y="76401"/>
                  <a:pt x="418643" y="42784"/>
                </a:cubicBezTo>
                <a:cubicBezTo>
                  <a:pt x="385098" y="142442"/>
                  <a:pt x="360170" y="244797"/>
                  <a:pt x="344143" y="348720"/>
                </a:cubicBezTo>
                <a:close/>
                <a:moveTo>
                  <a:pt x="55923" y="163172"/>
                </a:moveTo>
                <a:cubicBezTo>
                  <a:pt x="76620" y="147430"/>
                  <a:pt x="101087" y="137608"/>
                  <a:pt x="124481" y="126668"/>
                </a:cubicBezTo>
                <a:lnTo>
                  <a:pt x="197797" y="92378"/>
                </a:lnTo>
                <a:cubicBezTo>
                  <a:pt x="206238" y="88431"/>
                  <a:pt x="202379" y="74268"/>
                  <a:pt x="193412" y="78434"/>
                </a:cubicBezTo>
                <a:lnTo>
                  <a:pt x="116237" y="114478"/>
                </a:lnTo>
                <a:cubicBezTo>
                  <a:pt x="92954" y="125440"/>
                  <a:pt x="68661" y="135306"/>
                  <a:pt x="48052" y="150960"/>
                </a:cubicBezTo>
                <a:cubicBezTo>
                  <a:pt x="40532" y="156704"/>
                  <a:pt x="48096" y="169114"/>
                  <a:pt x="55923" y="163084"/>
                </a:cubicBezTo>
                <a:close/>
                <a:moveTo>
                  <a:pt x="41760" y="133684"/>
                </a:moveTo>
                <a:cubicBezTo>
                  <a:pt x="60198" y="122794"/>
                  <a:pt x="79119" y="112805"/>
                  <a:pt x="98479" y="103713"/>
                </a:cubicBezTo>
                <a:cubicBezTo>
                  <a:pt x="106919" y="99766"/>
                  <a:pt x="103061" y="85603"/>
                  <a:pt x="94094" y="89791"/>
                </a:cubicBezTo>
                <a:cubicBezTo>
                  <a:pt x="73528" y="99409"/>
                  <a:pt x="53467" y="109990"/>
                  <a:pt x="33889" y="121537"/>
                </a:cubicBezTo>
                <a:cubicBezTo>
                  <a:pt x="25689" y="126339"/>
                  <a:pt x="33341" y="138573"/>
                  <a:pt x="41760" y="133596"/>
                </a:cubicBezTo>
                <a:close/>
              </a:path>
            </a:pathLst>
          </a:custGeom>
          <a:solidFill>
            <a:srgbClr val="2b3547"/>
          </a:solidFill>
          <a:ln w="0">
            <a:noFill/>
          </a:ln>
        </p:spPr>
        <p:style>
          <a:lnRef idx="0"/>
          <a:fillRef idx="0"/>
          <a:effectRef idx="0"/>
          <a:fontRef idx="minor"/>
        </p:style>
      </p:sp>
      <p:sp>
        <p:nvSpPr>
          <p:cNvPr id="146" name="PlaceHolder 3"/>
          <p:cNvSpPr>
            <a:spLocks noGrp="1"/>
          </p:cNvSpPr>
          <p:nvPr>
            <p:ph/>
          </p:nvPr>
        </p:nvSpPr>
        <p:spPr>
          <a:xfrm>
            <a:off x="1188000" y="1505880"/>
            <a:ext cx="6425280" cy="2839320"/>
          </a:xfrm>
          <a:prstGeom prst="rect">
            <a:avLst/>
          </a:prstGeom>
          <a:noFill/>
          <a:ln w="0">
            <a:noFill/>
          </a:ln>
        </p:spPr>
        <p:txBody>
          <a:bodyPr lIns="0" rIns="0" tIns="0" bIns="0" anchor="t">
            <a:noAutofit/>
          </a:bodyPr>
          <a:p>
            <a:pPr marL="432000" indent="-324000">
              <a:lnSpc>
                <a:spcPct val="100000"/>
              </a:lnSpc>
              <a:spcBef>
                <a:spcPts val="1412"/>
              </a:spcBef>
              <a:buClr>
                <a:srgbClr val="000000"/>
              </a:buClr>
              <a:buSzPct val="45000"/>
              <a:buFont typeface="Wingdings" charset="2"/>
              <a:buChar char=""/>
            </a:pPr>
            <a:r>
              <a:rPr b="0" lang="en-US" sz="1800" spc="-1" strike="noStrike">
                <a:solidFill>
                  <a:srgbClr val="2b3547"/>
                </a:solidFill>
                <a:latin typeface="Nunito"/>
                <a:ea typeface="Nunito"/>
              </a:rPr>
              <a:t>Authentication</a:t>
            </a:r>
            <a:endParaRPr b="0" lang="en-US" sz="1800" spc="-1" strike="noStrike">
              <a:latin typeface="Arial"/>
            </a:endParaRPr>
          </a:p>
          <a:p>
            <a:pPr marL="432000" indent="-324000">
              <a:lnSpc>
                <a:spcPct val="100000"/>
              </a:lnSpc>
              <a:spcBef>
                <a:spcPts val="1412"/>
              </a:spcBef>
              <a:buClr>
                <a:srgbClr val="000000"/>
              </a:buClr>
              <a:buSzPct val="45000"/>
              <a:buFont typeface="Wingdings" charset="2"/>
              <a:buChar char=""/>
            </a:pPr>
            <a:r>
              <a:rPr b="0" lang="en-US" sz="1800" spc="-1" strike="noStrike">
                <a:solidFill>
                  <a:srgbClr val="2b3547"/>
                </a:solidFill>
                <a:latin typeface="Nunito"/>
                <a:ea typeface="Nunito"/>
              </a:rPr>
              <a:t>NATS: </a:t>
            </a:r>
            <a:r>
              <a:rPr b="0" lang="en-US" sz="1200" spc="-1" strike="noStrike">
                <a:solidFill>
                  <a:srgbClr val="2b3547"/>
                </a:solidFill>
                <a:latin typeface="Nunito"/>
                <a:ea typeface="Nunito"/>
              </a:rPr>
              <a:t>NATS supports TLS, NATS credentials, NKEYS (NATS ED25519 keys), username and password, or simple token.</a:t>
            </a:r>
            <a:endParaRPr b="0" lang="en-US" sz="1200" spc="-1" strike="noStrike">
              <a:latin typeface="Arial"/>
            </a:endParaRPr>
          </a:p>
          <a:p>
            <a:pPr marL="432000" indent="-324000">
              <a:lnSpc>
                <a:spcPct val="100000"/>
              </a:lnSpc>
              <a:spcBef>
                <a:spcPts val="1412"/>
              </a:spcBef>
              <a:buClr>
                <a:srgbClr val="000000"/>
              </a:buClr>
              <a:buSzPct val="45000"/>
              <a:buFont typeface="Wingdings" charset="2"/>
              <a:buChar char=""/>
            </a:pPr>
            <a:r>
              <a:rPr b="0" lang="en-US" sz="1800" spc="-1" strike="noStrike">
                <a:solidFill>
                  <a:srgbClr val="2b3547"/>
                </a:solidFill>
                <a:latin typeface="Nunito"/>
                <a:ea typeface="Nunito"/>
              </a:rPr>
              <a:t>Kafka: </a:t>
            </a:r>
            <a:r>
              <a:rPr b="0" lang="en-US" sz="1200" spc="-1" strike="noStrike">
                <a:solidFill>
                  <a:srgbClr val="2b3547"/>
                </a:solidFill>
                <a:latin typeface="Nunito"/>
                <a:ea typeface="Nunito"/>
              </a:rPr>
              <a:t>Supports Kerberos and TLS. Supports JAAS and an out-of-box authorizer implementation that uses ZooKeeper to store connection and subject.</a:t>
            </a:r>
            <a:endParaRPr b="0" lang="en-US" sz="1200" spc="-1" strike="noStrike">
              <a:latin typeface="Arial"/>
            </a:endParaRPr>
          </a:p>
          <a:p>
            <a:pPr marL="432000" indent="-324000">
              <a:lnSpc>
                <a:spcPct val="100000"/>
              </a:lnSpc>
              <a:spcBef>
                <a:spcPts val="1412"/>
              </a:spcBef>
              <a:buClr>
                <a:srgbClr val="000000"/>
              </a:buClr>
              <a:buSzPct val="45000"/>
              <a:buFont typeface="Wingdings" charset="2"/>
              <a:buChar char=""/>
            </a:pPr>
            <a:r>
              <a:rPr b="0" lang="en-US" sz="1800" spc="-1" strike="noStrike">
                <a:solidFill>
                  <a:srgbClr val="2b3547"/>
                </a:solidFill>
                <a:latin typeface="Nunito"/>
                <a:ea typeface="Nunito"/>
              </a:rPr>
              <a:t>Rabbit: </a:t>
            </a:r>
            <a:r>
              <a:rPr b="0" lang="en-US" sz="1200" spc="-1" strike="noStrike">
                <a:solidFill>
                  <a:srgbClr val="2b3547"/>
                </a:solidFill>
                <a:latin typeface="Nunito"/>
                <a:ea typeface="Nunito"/>
              </a:rPr>
              <a:t>TLS, SASL, username and password, and pluggable authorization.</a:t>
            </a:r>
            <a:endParaRPr b="0" lang="en-US" sz="1200" spc="-1" strike="noStrike">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 name="PlaceHolder 1"/>
          <p:cNvSpPr>
            <a:spLocks noGrp="1"/>
          </p:cNvSpPr>
          <p:nvPr>
            <p:ph type="title"/>
          </p:nvPr>
        </p:nvSpPr>
        <p:spPr>
          <a:xfrm>
            <a:off x="883080" y="682920"/>
            <a:ext cx="6425280" cy="395280"/>
          </a:xfrm>
          <a:prstGeom prst="rect">
            <a:avLst/>
          </a:prstGeom>
          <a:noFill/>
          <a:ln w="0">
            <a:noFill/>
          </a:ln>
        </p:spPr>
        <p:txBody>
          <a:bodyPr lIns="0" rIns="0" tIns="0" bIns="0" anchor="ctr">
            <a:noAutofit/>
          </a:bodyPr>
          <a:p>
            <a:pPr>
              <a:lnSpc>
                <a:spcPct val="90000"/>
              </a:lnSpc>
              <a:buNone/>
              <a:tabLst>
                <a:tab algn="l" pos="0"/>
              </a:tabLst>
            </a:pPr>
            <a:r>
              <a:rPr b="1" lang="en" sz="3400" spc="-1" strike="noStrike">
                <a:solidFill>
                  <a:srgbClr val="2b3547"/>
                </a:solidFill>
                <a:latin typeface="Amatic SC"/>
                <a:ea typeface="Amatic SC"/>
              </a:rPr>
              <a:t>Compare NATS</a:t>
            </a:r>
            <a:endParaRPr b="0" lang="en-US" sz="3400" spc="-1" strike="noStrike">
              <a:latin typeface="Arial"/>
            </a:endParaRPr>
          </a:p>
        </p:txBody>
      </p:sp>
      <p:sp>
        <p:nvSpPr>
          <p:cNvPr id="148" name="PlaceHolder 2"/>
          <p:cNvSpPr>
            <a:spLocks noGrp="1"/>
          </p:cNvSpPr>
          <p:nvPr>
            <p:ph type="sldNum" idx="14"/>
          </p:nvPr>
        </p:nvSpPr>
        <p:spPr>
          <a:xfrm>
            <a:off x="8403840" y="4692960"/>
            <a:ext cx="547560" cy="299160"/>
          </a:xfrm>
          <a:prstGeom prst="rect">
            <a:avLst/>
          </a:prstGeom>
          <a:noFill/>
          <a:ln w="0">
            <a:noFill/>
          </a:ln>
        </p:spPr>
        <p:txBody>
          <a:bodyPr lIns="0" rIns="0" tIns="0" bIns="0" anchor="ctr">
            <a:noAutofit/>
          </a:bodyPr>
          <a:lstStyle>
            <a:lvl1pPr algn="r">
              <a:lnSpc>
                <a:spcPct val="100000"/>
              </a:lnSpc>
              <a:buNone/>
              <a:tabLst>
                <a:tab algn="l" pos="0"/>
              </a:tabLst>
              <a:defRPr b="1" lang="en" sz="1500" spc="-1" strike="noStrike">
                <a:solidFill>
                  <a:srgbClr val="7f8b91"/>
                </a:solidFill>
                <a:latin typeface="Amatic SC"/>
                <a:ea typeface="Amatic SC"/>
              </a:defRPr>
            </a:lvl1pPr>
          </a:lstStyle>
          <a:p>
            <a:pPr algn="r">
              <a:lnSpc>
                <a:spcPct val="100000"/>
              </a:lnSpc>
              <a:buNone/>
              <a:tabLst>
                <a:tab algn="l" pos="0"/>
              </a:tabLst>
            </a:pPr>
            <a:fld id="{138323C5-DE43-48C2-913E-90AF5DEAD8B4}" type="slidenum">
              <a:rPr b="1" lang="en" sz="1500" spc="-1" strike="noStrike">
                <a:solidFill>
                  <a:srgbClr val="7f8b91"/>
                </a:solidFill>
                <a:latin typeface="Amatic SC"/>
                <a:ea typeface="Amatic SC"/>
              </a:rPr>
              <a:t>&lt;number&gt;</a:t>
            </a:fld>
            <a:endParaRPr b="0" lang="en-US" sz="1500" spc="-1" strike="noStrike">
              <a:latin typeface="Times New Roman"/>
            </a:endParaRPr>
          </a:p>
        </p:txBody>
      </p:sp>
      <p:sp>
        <p:nvSpPr>
          <p:cNvPr id="149" name="Google Shape;228;p 12"/>
          <p:cNvSpPr/>
          <p:nvPr/>
        </p:nvSpPr>
        <p:spPr>
          <a:xfrm>
            <a:off x="7648200" y="3814560"/>
            <a:ext cx="936720" cy="834120"/>
          </a:xfrm>
          <a:custGeom>
            <a:avLst/>
            <a:gdLst/>
            <a:ahLst/>
            <a:rect l="l" t="t" r="r" b="b"/>
            <a:pathLst>
              <a:path w="444359" h="395938">
                <a:moveTo>
                  <a:pt x="135136" y="205311"/>
                </a:moveTo>
                <a:lnTo>
                  <a:pt x="101482" y="200356"/>
                </a:lnTo>
                <a:cubicBezTo>
                  <a:pt x="92405" y="199041"/>
                  <a:pt x="88788" y="213642"/>
                  <a:pt x="98347" y="215046"/>
                </a:cubicBezTo>
                <a:lnTo>
                  <a:pt x="132067" y="220001"/>
                </a:lnTo>
                <a:cubicBezTo>
                  <a:pt x="141056" y="221316"/>
                  <a:pt x="144673" y="206714"/>
                  <a:pt x="135136" y="205311"/>
                </a:cubicBezTo>
                <a:close/>
                <a:moveTo>
                  <a:pt x="293388" y="291650"/>
                </a:moveTo>
                <a:cubicBezTo>
                  <a:pt x="292554" y="295482"/>
                  <a:pt x="294966" y="299271"/>
                  <a:pt x="298803" y="300115"/>
                </a:cubicBezTo>
                <a:cubicBezTo>
                  <a:pt x="298869" y="300130"/>
                  <a:pt x="298935" y="300144"/>
                  <a:pt x="299001" y="300157"/>
                </a:cubicBezTo>
                <a:cubicBezTo>
                  <a:pt x="299373" y="300157"/>
                  <a:pt x="300711" y="300157"/>
                  <a:pt x="300930" y="300551"/>
                </a:cubicBezTo>
                <a:cubicBezTo>
                  <a:pt x="299921" y="300222"/>
                  <a:pt x="299790" y="300201"/>
                  <a:pt x="300535" y="300551"/>
                </a:cubicBezTo>
                <a:cubicBezTo>
                  <a:pt x="301280" y="300902"/>
                  <a:pt x="301456" y="300924"/>
                  <a:pt x="302267" y="301297"/>
                </a:cubicBezTo>
                <a:lnTo>
                  <a:pt x="302377" y="301297"/>
                </a:lnTo>
                <a:cubicBezTo>
                  <a:pt x="309919" y="308335"/>
                  <a:pt x="320267" y="297416"/>
                  <a:pt x="313142" y="290335"/>
                </a:cubicBezTo>
                <a:cubicBezTo>
                  <a:pt x="307573" y="285621"/>
                  <a:pt x="295756" y="281894"/>
                  <a:pt x="293388" y="291650"/>
                </a:cubicBezTo>
                <a:close/>
                <a:moveTo>
                  <a:pt x="285999" y="274110"/>
                </a:moveTo>
                <a:cubicBezTo>
                  <a:pt x="269973" y="263589"/>
                  <a:pt x="253310" y="254069"/>
                  <a:pt x="236099" y="245608"/>
                </a:cubicBezTo>
                <a:cubicBezTo>
                  <a:pt x="227833" y="241530"/>
                  <a:pt x="220752" y="255014"/>
                  <a:pt x="229346" y="259180"/>
                </a:cubicBezTo>
                <a:cubicBezTo>
                  <a:pt x="245439" y="267053"/>
                  <a:pt x="261027" y="275919"/>
                  <a:pt x="276002" y="285730"/>
                </a:cubicBezTo>
                <a:cubicBezTo>
                  <a:pt x="283697" y="290576"/>
                  <a:pt x="293738" y="279109"/>
                  <a:pt x="285999" y="274023"/>
                </a:cubicBezTo>
                <a:close/>
                <a:moveTo>
                  <a:pt x="433354" y="1544"/>
                </a:moveTo>
                <a:cubicBezTo>
                  <a:pt x="431162" y="3057"/>
                  <a:pt x="428970" y="4482"/>
                  <a:pt x="426908" y="5929"/>
                </a:cubicBezTo>
                <a:cubicBezTo>
                  <a:pt x="425220" y="5833"/>
                  <a:pt x="423554" y="6381"/>
                  <a:pt x="422239" y="7464"/>
                </a:cubicBezTo>
                <a:cubicBezTo>
                  <a:pt x="417854" y="10840"/>
                  <a:pt x="413469" y="14261"/>
                  <a:pt x="408952" y="17659"/>
                </a:cubicBezTo>
                <a:cubicBezTo>
                  <a:pt x="315904" y="75803"/>
                  <a:pt x="209197" y="106563"/>
                  <a:pt x="111195" y="154928"/>
                </a:cubicBezTo>
                <a:cubicBezTo>
                  <a:pt x="93853" y="163501"/>
                  <a:pt x="76773" y="172622"/>
                  <a:pt x="60089" y="182400"/>
                </a:cubicBezTo>
                <a:cubicBezTo>
                  <a:pt x="42549" y="192748"/>
                  <a:pt x="25141" y="203184"/>
                  <a:pt x="5146" y="208249"/>
                </a:cubicBezTo>
                <a:cubicBezTo>
                  <a:pt x="-1804" y="210003"/>
                  <a:pt x="-1147" y="218532"/>
                  <a:pt x="3743" y="221404"/>
                </a:cubicBezTo>
                <a:cubicBezTo>
                  <a:pt x="4707" y="222430"/>
                  <a:pt x="5979" y="223140"/>
                  <a:pt x="7360" y="223443"/>
                </a:cubicBezTo>
                <a:cubicBezTo>
                  <a:pt x="52371" y="234230"/>
                  <a:pt x="97777" y="242999"/>
                  <a:pt x="143621" y="249752"/>
                </a:cubicBezTo>
                <a:lnTo>
                  <a:pt x="143117" y="384961"/>
                </a:lnTo>
                <a:cubicBezTo>
                  <a:pt x="142854" y="387829"/>
                  <a:pt x="144717" y="390464"/>
                  <a:pt x="147502" y="391166"/>
                </a:cubicBezTo>
                <a:cubicBezTo>
                  <a:pt x="148620" y="393251"/>
                  <a:pt x="150615" y="394717"/>
                  <a:pt x="152939" y="395156"/>
                </a:cubicBezTo>
                <a:cubicBezTo>
                  <a:pt x="155855" y="396721"/>
                  <a:pt x="159473" y="395875"/>
                  <a:pt x="161402" y="393183"/>
                </a:cubicBezTo>
                <a:cubicBezTo>
                  <a:pt x="187777" y="361278"/>
                  <a:pt x="215797" y="330777"/>
                  <a:pt x="245351" y="301801"/>
                </a:cubicBezTo>
                <a:cubicBezTo>
                  <a:pt x="266464" y="313914"/>
                  <a:pt x="286394" y="328001"/>
                  <a:pt x="304854" y="343874"/>
                </a:cubicBezTo>
                <a:cubicBezTo>
                  <a:pt x="316496" y="353850"/>
                  <a:pt x="331712" y="356854"/>
                  <a:pt x="343266" y="366413"/>
                </a:cubicBezTo>
                <a:cubicBezTo>
                  <a:pt x="346533" y="371170"/>
                  <a:pt x="355500" y="370798"/>
                  <a:pt x="356553" y="363519"/>
                </a:cubicBezTo>
                <a:cubicBezTo>
                  <a:pt x="373083" y="243175"/>
                  <a:pt x="405510" y="125528"/>
                  <a:pt x="443593" y="10753"/>
                </a:cubicBezTo>
                <a:cubicBezTo>
                  <a:pt x="446618" y="4679"/>
                  <a:pt x="440173" y="-3323"/>
                  <a:pt x="433354" y="1457"/>
                </a:cubicBezTo>
                <a:close/>
                <a:moveTo>
                  <a:pt x="144959" y="232695"/>
                </a:moveTo>
                <a:cubicBezTo>
                  <a:pt x="144345" y="233234"/>
                  <a:pt x="143819" y="233863"/>
                  <a:pt x="143380" y="234558"/>
                </a:cubicBezTo>
                <a:cubicBezTo>
                  <a:pt x="106218" y="229033"/>
                  <a:pt x="69319" y="222164"/>
                  <a:pt x="32639" y="213949"/>
                </a:cubicBezTo>
                <a:cubicBezTo>
                  <a:pt x="52744" y="204895"/>
                  <a:pt x="71358" y="192134"/>
                  <a:pt x="90652" y="181720"/>
                </a:cubicBezTo>
                <a:cubicBezTo>
                  <a:pt x="170610" y="138682"/>
                  <a:pt x="257497" y="110816"/>
                  <a:pt x="339320" y="71856"/>
                </a:cubicBezTo>
                <a:cubicBezTo>
                  <a:pt x="273370" y="123978"/>
                  <a:pt x="208584" y="177592"/>
                  <a:pt x="144959" y="232695"/>
                </a:cubicBezTo>
                <a:close/>
                <a:moveTo>
                  <a:pt x="157938" y="358827"/>
                </a:moveTo>
                <a:lnTo>
                  <a:pt x="158376" y="242429"/>
                </a:lnTo>
                <a:cubicBezTo>
                  <a:pt x="158376" y="241688"/>
                  <a:pt x="158267" y="240949"/>
                  <a:pt x="158070" y="240237"/>
                </a:cubicBezTo>
                <a:cubicBezTo>
                  <a:pt x="232788" y="175691"/>
                  <a:pt x="309152" y="113147"/>
                  <a:pt x="387181" y="52607"/>
                </a:cubicBezTo>
                <a:lnTo>
                  <a:pt x="297159" y="137213"/>
                </a:lnTo>
                <a:cubicBezTo>
                  <a:pt x="259098" y="172972"/>
                  <a:pt x="217024" y="207372"/>
                  <a:pt x="189531" y="252405"/>
                </a:cubicBezTo>
                <a:cubicBezTo>
                  <a:pt x="188216" y="254240"/>
                  <a:pt x="188018" y="256658"/>
                  <a:pt x="189049" y="258675"/>
                </a:cubicBezTo>
                <a:cubicBezTo>
                  <a:pt x="189356" y="259691"/>
                  <a:pt x="189882" y="260620"/>
                  <a:pt x="190605" y="261394"/>
                </a:cubicBezTo>
                <a:cubicBezTo>
                  <a:pt x="181222" y="294369"/>
                  <a:pt x="170325" y="326817"/>
                  <a:pt x="157938" y="358739"/>
                </a:cubicBezTo>
                <a:close/>
                <a:moveTo>
                  <a:pt x="174535" y="355801"/>
                </a:moveTo>
                <a:cubicBezTo>
                  <a:pt x="184927" y="328323"/>
                  <a:pt x="194267" y="300479"/>
                  <a:pt x="202533" y="272269"/>
                </a:cubicBezTo>
                <a:cubicBezTo>
                  <a:pt x="212223" y="280124"/>
                  <a:pt x="222396" y="287379"/>
                  <a:pt x="232964" y="293996"/>
                </a:cubicBezTo>
                <a:cubicBezTo>
                  <a:pt x="212749" y="313844"/>
                  <a:pt x="193281" y="334418"/>
                  <a:pt x="174535" y="355713"/>
                </a:cubicBezTo>
                <a:close/>
                <a:moveTo>
                  <a:pt x="344143" y="348807"/>
                </a:moveTo>
                <a:cubicBezTo>
                  <a:pt x="334847" y="343743"/>
                  <a:pt x="324608" y="340432"/>
                  <a:pt x="316255" y="333460"/>
                </a:cubicBezTo>
                <a:cubicBezTo>
                  <a:pt x="304394" y="323193"/>
                  <a:pt x="291962" y="313631"/>
                  <a:pt x="278983" y="304827"/>
                </a:cubicBezTo>
                <a:cubicBezTo>
                  <a:pt x="253946" y="288581"/>
                  <a:pt x="227351" y="274637"/>
                  <a:pt x="205273" y="254400"/>
                </a:cubicBezTo>
                <a:cubicBezTo>
                  <a:pt x="232701" y="211538"/>
                  <a:pt x="274533" y="178125"/>
                  <a:pt x="311212" y="143637"/>
                </a:cubicBezTo>
                <a:cubicBezTo>
                  <a:pt x="346993" y="110020"/>
                  <a:pt x="382796" y="76401"/>
                  <a:pt x="418643" y="42784"/>
                </a:cubicBezTo>
                <a:cubicBezTo>
                  <a:pt x="385098" y="142442"/>
                  <a:pt x="360170" y="244797"/>
                  <a:pt x="344143" y="348720"/>
                </a:cubicBezTo>
                <a:close/>
                <a:moveTo>
                  <a:pt x="55923" y="163172"/>
                </a:moveTo>
                <a:cubicBezTo>
                  <a:pt x="76620" y="147430"/>
                  <a:pt x="101087" y="137608"/>
                  <a:pt x="124481" y="126668"/>
                </a:cubicBezTo>
                <a:lnTo>
                  <a:pt x="197797" y="92378"/>
                </a:lnTo>
                <a:cubicBezTo>
                  <a:pt x="206238" y="88431"/>
                  <a:pt x="202379" y="74268"/>
                  <a:pt x="193412" y="78434"/>
                </a:cubicBezTo>
                <a:lnTo>
                  <a:pt x="116237" y="114478"/>
                </a:lnTo>
                <a:cubicBezTo>
                  <a:pt x="92954" y="125440"/>
                  <a:pt x="68661" y="135306"/>
                  <a:pt x="48052" y="150960"/>
                </a:cubicBezTo>
                <a:cubicBezTo>
                  <a:pt x="40532" y="156704"/>
                  <a:pt x="48096" y="169114"/>
                  <a:pt x="55923" y="163084"/>
                </a:cubicBezTo>
                <a:close/>
                <a:moveTo>
                  <a:pt x="41760" y="133684"/>
                </a:moveTo>
                <a:cubicBezTo>
                  <a:pt x="60198" y="122794"/>
                  <a:pt x="79119" y="112805"/>
                  <a:pt x="98479" y="103713"/>
                </a:cubicBezTo>
                <a:cubicBezTo>
                  <a:pt x="106919" y="99766"/>
                  <a:pt x="103061" y="85603"/>
                  <a:pt x="94094" y="89791"/>
                </a:cubicBezTo>
                <a:cubicBezTo>
                  <a:pt x="73528" y="99409"/>
                  <a:pt x="53467" y="109990"/>
                  <a:pt x="33889" y="121537"/>
                </a:cubicBezTo>
                <a:cubicBezTo>
                  <a:pt x="25689" y="126339"/>
                  <a:pt x="33341" y="138573"/>
                  <a:pt x="41760" y="133596"/>
                </a:cubicBezTo>
                <a:close/>
              </a:path>
            </a:pathLst>
          </a:custGeom>
          <a:solidFill>
            <a:srgbClr val="2b3547"/>
          </a:solidFill>
          <a:ln w="0">
            <a:noFill/>
          </a:ln>
        </p:spPr>
        <p:style>
          <a:lnRef idx="0"/>
          <a:fillRef idx="0"/>
          <a:effectRef idx="0"/>
          <a:fontRef idx="minor"/>
        </p:style>
      </p:sp>
      <p:sp>
        <p:nvSpPr>
          <p:cNvPr id="150" name="PlaceHolder 3"/>
          <p:cNvSpPr>
            <a:spLocks noGrp="1"/>
          </p:cNvSpPr>
          <p:nvPr>
            <p:ph/>
          </p:nvPr>
        </p:nvSpPr>
        <p:spPr>
          <a:xfrm>
            <a:off x="1188000" y="1505880"/>
            <a:ext cx="6425280" cy="2839320"/>
          </a:xfrm>
          <a:prstGeom prst="rect">
            <a:avLst/>
          </a:prstGeom>
          <a:noFill/>
          <a:ln w="0">
            <a:noFill/>
          </a:ln>
        </p:spPr>
        <p:txBody>
          <a:bodyPr lIns="0" rIns="0" tIns="0" bIns="0" anchor="t">
            <a:noAutofit/>
          </a:bodyPr>
          <a:p>
            <a:pPr marL="432000" indent="-324000">
              <a:lnSpc>
                <a:spcPct val="100000"/>
              </a:lnSpc>
              <a:spcBef>
                <a:spcPts val="1412"/>
              </a:spcBef>
              <a:buClr>
                <a:srgbClr val="000000"/>
              </a:buClr>
              <a:buSzPct val="45000"/>
              <a:buFont typeface="Wingdings" charset="2"/>
              <a:buChar char=""/>
            </a:pPr>
            <a:r>
              <a:rPr b="0" lang="en-US" sz="1800" spc="-1" strike="noStrike">
                <a:solidFill>
                  <a:srgbClr val="2b3547"/>
                </a:solidFill>
                <a:latin typeface="Nunito"/>
                <a:ea typeface="Nunito"/>
              </a:rPr>
              <a:t>Authorization</a:t>
            </a:r>
            <a:endParaRPr b="0" lang="en-US" sz="1800" spc="-1" strike="noStrike">
              <a:latin typeface="Arial"/>
            </a:endParaRPr>
          </a:p>
          <a:p>
            <a:pPr marL="432000" indent="-324000">
              <a:lnSpc>
                <a:spcPct val="100000"/>
              </a:lnSpc>
              <a:spcBef>
                <a:spcPts val="1412"/>
              </a:spcBef>
              <a:buClr>
                <a:srgbClr val="000000"/>
              </a:buClr>
              <a:buSzPct val="45000"/>
              <a:buFont typeface="Wingdings" charset="2"/>
              <a:buChar char=""/>
            </a:pPr>
            <a:r>
              <a:rPr b="0" lang="en-US" sz="1800" spc="-1" strike="noStrike">
                <a:solidFill>
                  <a:srgbClr val="2b3547"/>
                </a:solidFill>
                <a:latin typeface="Nunito"/>
                <a:ea typeface="Nunito"/>
              </a:rPr>
              <a:t>NATS: </a:t>
            </a:r>
            <a:r>
              <a:rPr b="0" lang="en-US" sz="1200" spc="-1" strike="noStrike">
                <a:solidFill>
                  <a:srgbClr val="2b3547"/>
                </a:solidFill>
                <a:latin typeface="Nunito"/>
                <a:ea typeface="Nunito"/>
              </a:rPr>
              <a:t>Account limits including number of connections, message size, number of imports and exports. User-level publish and subscribe permissions, connection restrictions, CIDR address restrictions, and time of day restrictions.</a:t>
            </a:r>
            <a:endParaRPr b="0" lang="en-US" sz="1200" spc="-1" strike="noStrike">
              <a:latin typeface="Arial"/>
            </a:endParaRPr>
          </a:p>
          <a:p>
            <a:pPr marL="432000" indent="-324000">
              <a:lnSpc>
                <a:spcPct val="100000"/>
              </a:lnSpc>
              <a:spcBef>
                <a:spcPts val="1412"/>
              </a:spcBef>
              <a:buClr>
                <a:srgbClr val="000000"/>
              </a:buClr>
              <a:buSzPct val="45000"/>
              <a:buFont typeface="Wingdings" charset="2"/>
              <a:buChar char=""/>
            </a:pPr>
            <a:r>
              <a:rPr b="0" lang="en-US" sz="1800" spc="-1" strike="noStrike">
                <a:solidFill>
                  <a:srgbClr val="2b3547"/>
                </a:solidFill>
                <a:latin typeface="Nunito"/>
                <a:ea typeface="Nunito"/>
              </a:rPr>
              <a:t>Kafka: </a:t>
            </a:r>
            <a:r>
              <a:rPr b="0" lang="en-US" sz="1200" spc="-1" strike="noStrike">
                <a:solidFill>
                  <a:srgbClr val="2b3547"/>
                </a:solidFill>
                <a:latin typeface="Nunito"/>
                <a:ea typeface="Nunito"/>
              </a:rPr>
              <a:t>Supports JAAS, ACLs for a rich set of Kafka resources including topics, clusters, groups, and others.</a:t>
            </a:r>
            <a:endParaRPr b="0" lang="en-US" sz="1200" spc="-1" strike="noStrike">
              <a:latin typeface="Arial"/>
            </a:endParaRPr>
          </a:p>
          <a:p>
            <a:pPr marL="432000" indent="-324000">
              <a:lnSpc>
                <a:spcPct val="100000"/>
              </a:lnSpc>
              <a:spcBef>
                <a:spcPts val="1412"/>
              </a:spcBef>
              <a:buClr>
                <a:srgbClr val="000000"/>
              </a:buClr>
              <a:buSzPct val="45000"/>
              <a:buFont typeface="Wingdings" charset="2"/>
              <a:buChar char=""/>
            </a:pPr>
            <a:r>
              <a:rPr b="0" lang="en-US" sz="1800" spc="-1" strike="noStrike">
                <a:solidFill>
                  <a:srgbClr val="2b3547"/>
                </a:solidFill>
                <a:latin typeface="Nunito"/>
                <a:ea typeface="Nunito"/>
              </a:rPr>
              <a:t>Rabbit:</a:t>
            </a:r>
            <a:r>
              <a:rPr b="0" lang="en-US" sz="1200" spc="-1" strike="noStrike">
                <a:solidFill>
                  <a:srgbClr val="2b3547"/>
                </a:solidFill>
                <a:latin typeface="Nunito"/>
                <a:ea typeface="Nunito"/>
              </a:rPr>
              <a:t> ACLs dictate permissions for configure, write, and read operations on resources like exchanges, queues, transactions, and others. Authentication is pluggable.</a:t>
            </a:r>
            <a:endParaRPr b="0" lang="en-US" sz="1200" spc="-1" strike="noStrike">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 name="PlaceHolder 1"/>
          <p:cNvSpPr>
            <a:spLocks noGrp="1"/>
          </p:cNvSpPr>
          <p:nvPr>
            <p:ph type="title"/>
          </p:nvPr>
        </p:nvSpPr>
        <p:spPr>
          <a:xfrm>
            <a:off x="883080" y="682920"/>
            <a:ext cx="6425280" cy="395280"/>
          </a:xfrm>
          <a:prstGeom prst="rect">
            <a:avLst/>
          </a:prstGeom>
          <a:noFill/>
          <a:ln w="0">
            <a:noFill/>
          </a:ln>
        </p:spPr>
        <p:txBody>
          <a:bodyPr lIns="0" rIns="0" tIns="0" bIns="0" anchor="ctr">
            <a:noAutofit/>
          </a:bodyPr>
          <a:p>
            <a:pPr>
              <a:lnSpc>
                <a:spcPct val="90000"/>
              </a:lnSpc>
              <a:buNone/>
              <a:tabLst>
                <a:tab algn="l" pos="0"/>
              </a:tabLst>
            </a:pPr>
            <a:r>
              <a:rPr b="1" lang="en" sz="3400" spc="-1" strike="noStrike">
                <a:solidFill>
                  <a:srgbClr val="2b3547"/>
                </a:solidFill>
                <a:latin typeface="Amatic SC"/>
                <a:ea typeface="Amatic SC"/>
              </a:rPr>
              <a:t>Compare NATS</a:t>
            </a:r>
            <a:endParaRPr b="0" lang="en-US" sz="3400" spc="-1" strike="noStrike">
              <a:latin typeface="Arial"/>
            </a:endParaRPr>
          </a:p>
        </p:txBody>
      </p:sp>
      <p:sp>
        <p:nvSpPr>
          <p:cNvPr id="152" name="PlaceHolder 2"/>
          <p:cNvSpPr>
            <a:spLocks noGrp="1"/>
          </p:cNvSpPr>
          <p:nvPr>
            <p:ph type="sldNum" idx="15"/>
          </p:nvPr>
        </p:nvSpPr>
        <p:spPr>
          <a:xfrm>
            <a:off x="8403840" y="4692960"/>
            <a:ext cx="547560" cy="299160"/>
          </a:xfrm>
          <a:prstGeom prst="rect">
            <a:avLst/>
          </a:prstGeom>
          <a:noFill/>
          <a:ln w="0">
            <a:noFill/>
          </a:ln>
        </p:spPr>
        <p:txBody>
          <a:bodyPr lIns="0" rIns="0" tIns="0" bIns="0" anchor="ctr">
            <a:noAutofit/>
          </a:bodyPr>
          <a:lstStyle>
            <a:lvl1pPr algn="r">
              <a:lnSpc>
                <a:spcPct val="100000"/>
              </a:lnSpc>
              <a:buNone/>
              <a:tabLst>
                <a:tab algn="l" pos="0"/>
              </a:tabLst>
              <a:defRPr b="1" lang="en" sz="1500" spc="-1" strike="noStrike">
                <a:solidFill>
                  <a:srgbClr val="7f8b91"/>
                </a:solidFill>
                <a:latin typeface="Amatic SC"/>
                <a:ea typeface="Amatic SC"/>
              </a:defRPr>
            </a:lvl1pPr>
          </a:lstStyle>
          <a:p>
            <a:pPr algn="r">
              <a:lnSpc>
                <a:spcPct val="100000"/>
              </a:lnSpc>
              <a:buNone/>
              <a:tabLst>
                <a:tab algn="l" pos="0"/>
              </a:tabLst>
            </a:pPr>
            <a:fld id="{46474115-A6A6-49CB-8DBA-4FCE9F638A99}" type="slidenum">
              <a:rPr b="1" lang="en" sz="1500" spc="-1" strike="noStrike">
                <a:solidFill>
                  <a:srgbClr val="7f8b91"/>
                </a:solidFill>
                <a:latin typeface="Amatic SC"/>
                <a:ea typeface="Amatic SC"/>
              </a:rPr>
              <a:t>&lt;number&gt;</a:t>
            </a:fld>
            <a:endParaRPr b="0" lang="en-US" sz="1500" spc="-1" strike="noStrike">
              <a:latin typeface="Times New Roman"/>
            </a:endParaRPr>
          </a:p>
        </p:txBody>
      </p:sp>
      <p:sp>
        <p:nvSpPr>
          <p:cNvPr id="153" name="Google Shape;228;p 13"/>
          <p:cNvSpPr/>
          <p:nvPr/>
        </p:nvSpPr>
        <p:spPr>
          <a:xfrm>
            <a:off x="7648200" y="3814560"/>
            <a:ext cx="936720" cy="834120"/>
          </a:xfrm>
          <a:custGeom>
            <a:avLst/>
            <a:gdLst/>
            <a:ahLst/>
            <a:rect l="l" t="t" r="r" b="b"/>
            <a:pathLst>
              <a:path w="444359" h="395938">
                <a:moveTo>
                  <a:pt x="135136" y="205311"/>
                </a:moveTo>
                <a:lnTo>
                  <a:pt x="101482" y="200356"/>
                </a:lnTo>
                <a:cubicBezTo>
                  <a:pt x="92405" y="199041"/>
                  <a:pt x="88788" y="213642"/>
                  <a:pt x="98347" y="215046"/>
                </a:cubicBezTo>
                <a:lnTo>
                  <a:pt x="132067" y="220001"/>
                </a:lnTo>
                <a:cubicBezTo>
                  <a:pt x="141056" y="221316"/>
                  <a:pt x="144673" y="206714"/>
                  <a:pt x="135136" y="205311"/>
                </a:cubicBezTo>
                <a:close/>
                <a:moveTo>
                  <a:pt x="293388" y="291650"/>
                </a:moveTo>
                <a:cubicBezTo>
                  <a:pt x="292554" y="295482"/>
                  <a:pt x="294966" y="299271"/>
                  <a:pt x="298803" y="300115"/>
                </a:cubicBezTo>
                <a:cubicBezTo>
                  <a:pt x="298869" y="300130"/>
                  <a:pt x="298935" y="300144"/>
                  <a:pt x="299001" y="300157"/>
                </a:cubicBezTo>
                <a:cubicBezTo>
                  <a:pt x="299373" y="300157"/>
                  <a:pt x="300711" y="300157"/>
                  <a:pt x="300930" y="300551"/>
                </a:cubicBezTo>
                <a:cubicBezTo>
                  <a:pt x="299921" y="300222"/>
                  <a:pt x="299790" y="300201"/>
                  <a:pt x="300535" y="300551"/>
                </a:cubicBezTo>
                <a:cubicBezTo>
                  <a:pt x="301280" y="300902"/>
                  <a:pt x="301456" y="300924"/>
                  <a:pt x="302267" y="301297"/>
                </a:cubicBezTo>
                <a:lnTo>
                  <a:pt x="302377" y="301297"/>
                </a:lnTo>
                <a:cubicBezTo>
                  <a:pt x="309919" y="308335"/>
                  <a:pt x="320267" y="297416"/>
                  <a:pt x="313142" y="290335"/>
                </a:cubicBezTo>
                <a:cubicBezTo>
                  <a:pt x="307573" y="285621"/>
                  <a:pt x="295756" y="281894"/>
                  <a:pt x="293388" y="291650"/>
                </a:cubicBezTo>
                <a:close/>
                <a:moveTo>
                  <a:pt x="285999" y="274110"/>
                </a:moveTo>
                <a:cubicBezTo>
                  <a:pt x="269973" y="263589"/>
                  <a:pt x="253310" y="254069"/>
                  <a:pt x="236099" y="245608"/>
                </a:cubicBezTo>
                <a:cubicBezTo>
                  <a:pt x="227833" y="241530"/>
                  <a:pt x="220752" y="255014"/>
                  <a:pt x="229346" y="259180"/>
                </a:cubicBezTo>
                <a:cubicBezTo>
                  <a:pt x="245439" y="267053"/>
                  <a:pt x="261027" y="275919"/>
                  <a:pt x="276002" y="285730"/>
                </a:cubicBezTo>
                <a:cubicBezTo>
                  <a:pt x="283697" y="290576"/>
                  <a:pt x="293738" y="279109"/>
                  <a:pt x="285999" y="274023"/>
                </a:cubicBezTo>
                <a:close/>
                <a:moveTo>
                  <a:pt x="433354" y="1544"/>
                </a:moveTo>
                <a:cubicBezTo>
                  <a:pt x="431162" y="3057"/>
                  <a:pt x="428970" y="4482"/>
                  <a:pt x="426908" y="5929"/>
                </a:cubicBezTo>
                <a:cubicBezTo>
                  <a:pt x="425220" y="5833"/>
                  <a:pt x="423554" y="6381"/>
                  <a:pt x="422239" y="7464"/>
                </a:cubicBezTo>
                <a:cubicBezTo>
                  <a:pt x="417854" y="10840"/>
                  <a:pt x="413469" y="14261"/>
                  <a:pt x="408952" y="17659"/>
                </a:cubicBezTo>
                <a:cubicBezTo>
                  <a:pt x="315904" y="75803"/>
                  <a:pt x="209197" y="106563"/>
                  <a:pt x="111195" y="154928"/>
                </a:cubicBezTo>
                <a:cubicBezTo>
                  <a:pt x="93853" y="163501"/>
                  <a:pt x="76773" y="172622"/>
                  <a:pt x="60089" y="182400"/>
                </a:cubicBezTo>
                <a:cubicBezTo>
                  <a:pt x="42549" y="192748"/>
                  <a:pt x="25141" y="203184"/>
                  <a:pt x="5146" y="208249"/>
                </a:cubicBezTo>
                <a:cubicBezTo>
                  <a:pt x="-1804" y="210003"/>
                  <a:pt x="-1147" y="218532"/>
                  <a:pt x="3743" y="221404"/>
                </a:cubicBezTo>
                <a:cubicBezTo>
                  <a:pt x="4707" y="222430"/>
                  <a:pt x="5979" y="223140"/>
                  <a:pt x="7360" y="223443"/>
                </a:cubicBezTo>
                <a:cubicBezTo>
                  <a:pt x="52371" y="234230"/>
                  <a:pt x="97777" y="242999"/>
                  <a:pt x="143621" y="249752"/>
                </a:cubicBezTo>
                <a:lnTo>
                  <a:pt x="143117" y="384961"/>
                </a:lnTo>
                <a:cubicBezTo>
                  <a:pt x="142854" y="387829"/>
                  <a:pt x="144717" y="390464"/>
                  <a:pt x="147502" y="391166"/>
                </a:cubicBezTo>
                <a:cubicBezTo>
                  <a:pt x="148620" y="393251"/>
                  <a:pt x="150615" y="394717"/>
                  <a:pt x="152939" y="395156"/>
                </a:cubicBezTo>
                <a:cubicBezTo>
                  <a:pt x="155855" y="396721"/>
                  <a:pt x="159473" y="395875"/>
                  <a:pt x="161402" y="393183"/>
                </a:cubicBezTo>
                <a:cubicBezTo>
                  <a:pt x="187777" y="361278"/>
                  <a:pt x="215797" y="330777"/>
                  <a:pt x="245351" y="301801"/>
                </a:cubicBezTo>
                <a:cubicBezTo>
                  <a:pt x="266464" y="313914"/>
                  <a:pt x="286394" y="328001"/>
                  <a:pt x="304854" y="343874"/>
                </a:cubicBezTo>
                <a:cubicBezTo>
                  <a:pt x="316496" y="353850"/>
                  <a:pt x="331712" y="356854"/>
                  <a:pt x="343266" y="366413"/>
                </a:cubicBezTo>
                <a:cubicBezTo>
                  <a:pt x="346533" y="371170"/>
                  <a:pt x="355500" y="370798"/>
                  <a:pt x="356553" y="363519"/>
                </a:cubicBezTo>
                <a:cubicBezTo>
                  <a:pt x="373083" y="243175"/>
                  <a:pt x="405510" y="125528"/>
                  <a:pt x="443593" y="10753"/>
                </a:cubicBezTo>
                <a:cubicBezTo>
                  <a:pt x="446618" y="4679"/>
                  <a:pt x="440173" y="-3323"/>
                  <a:pt x="433354" y="1457"/>
                </a:cubicBezTo>
                <a:close/>
                <a:moveTo>
                  <a:pt x="144959" y="232695"/>
                </a:moveTo>
                <a:cubicBezTo>
                  <a:pt x="144345" y="233234"/>
                  <a:pt x="143819" y="233863"/>
                  <a:pt x="143380" y="234558"/>
                </a:cubicBezTo>
                <a:cubicBezTo>
                  <a:pt x="106218" y="229033"/>
                  <a:pt x="69319" y="222164"/>
                  <a:pt x="32639" y="213949"/>
                </a:cubicBezTo>
                <a:cubicBezTo>
                  <a:pt x="52744" y="204895"/>
                  <a:pt x="71358" y="192134"/>
                  <a:pt x="90652" y="181720"/>
                </a:cubicBezTo>
                <a:cubicBezTo>
                  <a:pt x="170610" y="138682"/>
                  <a:pt x="257497" y="110816"/>
                  <a:pt x="339320" y="71856"/>
                </a:cubicBezTo>
                <a:cubicBezTo>
                  <a:pt x="273370" y="123978"/>
                  <a:pt x="208584" y="177592"/>
                  <a:pt x="144959" y="232695"/>
                </a:cubicBezTo>
                <a:close/>
                <a:moveTo>
                  <a:pt x="157938" y="358827"/>
                </a:moveTo>
                <a:lnTo>
                  <a:pt x="158376" y="242429"/>
                </a:lnTo>
                <a:cubicBezTo>
                  <a:pt x="158376" y="241688"/>
                  <a:pt x="158267" y="240949"/>
                  <a:pt x="158070" y="240237"/>
                </a:cubicBezTo>
                <a:cubicBezTo>
                  <a:pt x="232788" y="175691"/>
                  <a:pt x="309152" y="113147"/>
                  <a:pt x="387181" y="52607"/>
                </a:cubicBezTo>
                <a:lnTo>
                  <a:pt x="297159" y="137213"/>
                </a:lnTo>
                <a:cubicBezTo>
                  <a:pt x="259098" y="172972"/>
                  <a:pt x="217024" y="207372"/>
                  <a:pt x="189531" y="252405"/>
                </a:cubicBezTo>
                <a:cubicBezTo>
                  <a:pt x="188216" y="254240"/>
                  <a:pt x="188018" y="256658"/>
                  <a:pt x="189049" y="258675"/>
                </a:cubicBezTo>
                <a:cubicBezTo>
                  <a:pt x="189356" y="259691"/>
                  <a:pt x="189882" y="260620"/>
                  <a:pt x="190605" y="261394"/>
                </a:cubicBezTo>
                <a:cubicBezTo>
                  <a:pt x="181222" y="294369"/>
                  <a:pt x="170325" y="326817"/>
                  <a:pt x="157938" y="358739"/>
                </a:cubicBezTo>
                <a:close/>
                <a:moveTo>
                  <a:pt x="174535" y="355801"/>
                </a:moveTo>
                <a:cubicBezTo>
                  <a:pt x="184927" y="328323"/>
                  <a:pt x="194267" y="300479"/>
                  <a:pt x="202533" y="272269"/>
                </a:cubicBezTo>
                <a:cubicBezTo>
                  <a:pt x="212223" y="280124"/>
                  <a:pt x="222396" y="287379"/>
                  <a:pt x="232964" y="293996"/>
                </a:cubicBezTo>
                <a:cubicBezTo>
                  <a:pt x="212749" y="313844"/>
                  <a:pt x="193281" y="334418"/>
                  <a:pt x="174535" y="355713"/>
                </a:cubicBezTo>
                <a:close/>
                <a:moveTo>
                  <a:pt x="344143" y="348807"/>
                </a:moveTo>
                <a:cubicBezTo>
                  <a:pt x="334847" y="343743"/>
                  <a:pt x="324608" y="340432"/>
                  <a:pt x="316255" y="333460"/>
                </a:cubicBezTo>
                <a:cubicBezTo>
                  <a:pt x="304394" y="323193"/>
                  <a:pt x="291962" y="313631"/>
                  <a:pt x="278983" y="304827"/>
                </a:cubicBezTo>
                <a:cubicBezTo>
                  <a:pt x="253946" y="288581"/>
                  <a:pt x="227351" y="274637"/>
                  <a:pt x="205273" y="254400"/>
                </a:cubicBezTo>
                <a:cubicBezTo>
                  <a:pt x="232701" y="211538"/>
                  <a:pt x="274533" y="178125"/>
                  <a:pt x="311212" y="143637"/>
                </a:cubicBezTo>
                <a:cubicBezTo>
                  <a:pt x="346993" y="110020"/>
                  <a:pt x="382796" y="76401"/>
                  <a:pt x="418643" y="42784"/>
                </a:cubicBezTo>
                <a:cubicBezTo>
                  <a:pt x="385098" y="142442"/>
                  <a:pt x="360170" y="244797"/>
                  <a:pt x="344143" y="348720"/>
                </a:cubicBezTo>
                <a:close/>
                <a:moveTo>
                  <a:pt x="55923" y="163172"/>
                </a:moveTo>
                <a:cubicBezTo>
                  <a:pt x="76620" y="147430"/>
                  <a:pt x="101087" y="137608"/>
                  <a:pt x="124481" y="126668"/>
                </a:cubicBezTo>
                <a:lnTo>
                  <a:pt x="197797" y="92378"/>
                </a:lnTo>
                <a:cubicBezTo>
                  <a:pt x="206238" y="88431"/>
                  <a:pt x="202379" y="74268"/>
                  <a:pt x="193412" y="78434"/>
                </a:cubicBezTo>
                <a:lnTo>
                  <a:pt x="116237" y="114478"/>
                </a:lnTo>
                <a:cubicBezTo>
                  <a:pt x="92954" y="125440"/>
                  <a:pt x="68661" y="135306"/>
                  <a:pt x="48052" y="150960"/>
                </a:cubicBezTo>
                <a:cubicBezTo>
                  <a:pt x="40532" y="156704"/>
                  <a:pt x="48096" y="169114"/>
                  <a:pt x="55923" y="163084"/>
                </a:cubicBezTo>
                <a:close/>
                <a:moveTo>
                  <a:pt x="41760" y="133684"/>
                </a:moveTo>
                <a:cubicBezTo>
                  <a:pt x="60198" y="122794"/>
                  <a:pt x="79119" y="112805"/>
                  <a:pt x="98479" y="103713"/>
                </a:cubicBezTo>
                <a:cubicBezTo>
                  <a:pt x="106919" y="99766"/>
                  <a:pt x="103061" y="85603"/>
                  <a:pt x="94094" y="89791"/>
                </a:cubicBezTo>
                <a:cubicBezTo>
                  <a:pt x="73528" y="99409"/>
                  <a:pt x="53467" y="109990"/>
                  <a:pt x="33889" y="121537"/>
                </a:cubicBezTo>
                <a:cubicBezTo>
                  <a:pt x="25689" y="126339"/>
                  <a:pt x="33341" y="138573"/>
                  <a:pt x="41760" y="133596"/>
                </a:cubicBezTo>
                <a:close/>
              </a:path>
            </a:pathLst>
          </a:custGeom>
          <a:solidFill>
            <a:srgbClr val="2b3547"/>
          </a:solidFill>
          <a:ln w="0">
            <a:noFill/>
          </a:ln>
        </p:spPr>
        <p:style>
          <a:lnRef idx="0"/>
          <a:fillRef idx="0"/>
          <a:effectRef idx="0"/>
          <a:fontRef idx="minor"/>
        </p:style>
      </p:sp>
      <p:sp>
        <p:nvSpPr>
          <p:cNvPr id="154" name="PlaceHolder 3"/>
          <p:cNvSpPr>
            <a:spLocks noGrp="1"/>
          </p:cNvSpPr>
          <p:nvPr>
            <p:ph/>
          </p:nvPr>
        </p:nvSpPr>
        <p:spPr>
          <a:xfrm>
            <a:off x="1188000" y="1505880"/>
            <a:ext cx="6425280" cy="2839320"/>
          </a:xfrm>
          <a:prstGeom prst="rect">
            <a:avLst/>
          </a:prstGeom>
          <a:noFill/>
          <a:ln w="0">
            <a:noFill/>
          </a:ln>
        </p:spPr>
        <p:txBody>
          <a:bodyPr lIns="0" rIns="0" tIns="0" bIns="0" anchor="t">
            <a:noAutofit/>
          </a:bodyPr>
          <a:p>
            <a:pPr marL="432000" indent="-324000">
              <a:lnSpc>
                <a:spcPct val="100000"/>
              </a:lnSpc>
              <a:spcBef>
                <a:spcPts val="1412"/>
              </a:spcBef>
              <a:buClr>
                <a:srgbClr val="000000"/>
              </a:buClr>
              <a:buSzPct val="45000"/>
              <a:buFont typeface="Wingdings" charset="2"/>
              <a:buChar char=""/>
            </a:pPr>
            <a:r>
              <a:rPr b="0" lang="en-US" sz="1800" spc="-1" strike="noStrike">
                <a:solidFill>
                  <a:srgbClr val="2b3547"/>
                </a:solidFill>
                <a:latin typeface="Nunito"/>
                <a:ea typeface="Nunito"/>
              </a:rPr>
              <a:t>Message Retention and Persistence</a:t>
            </a:r>
            <a:endParaRPr b="0" lang="en-US" sz="1800" spc="-1" strike="noStrike">
              <a:latin typeface="Arial"/>
            </a:endParaRPr>
          </a:p>
          <a:p>
            <a:pPr marL="432000" indent="-324000">
              <a:lnSpc>
                <a:spcPct val="100000"/>
              </a:lnSpc>
              <a:spcBef>
                <a:spcPts val="1412"/>
              </a:spcBef>
              <a:buClr>
                <a:srgbClr val="000000"/>
              </a:buClr>
              <a:buSzPct val="45000"/>
              <a:buFont typeface="Wingdings" charset="2"/>
              <a:buChar char=""/>
            </a:pPr>
            <a:r>
              <a:rPr b="0" lang="en-US" sz="1800" spc="-1" strike="noStrike">
                <a:solidFill>
                  <a:srgbClr val="2b3547"/>
                </a:solidFill>
                <a:latin typeface="Nunito"/>
                <a:ea typeface="Nunito"/>
              </a:rPr>
              <a:t>NATS: </a:t>
            </a:r>
            <a:r>
              <a:rPr b="0" lang="en-US" sz="1200" spc="-1" strike="noStrike">
                <a:solidFill>
                  <a:srgbClr val="2b3547"/>
                </a:solidFill>
                <a:latin typeface="Nunito"/>
                <a:ea typeface="Nunito"/>
              </a:rPr>
              <a:t>Supports memory and file persistence. Messages can be replayed by time, count, or sequence number, and durable subscriptions are supported. With NATS streaming, scripts can archive old log segments to cold storage.</a:t>
            </a:r>
            <a:endParaRPr b="0" lang="en-US" sz="1200" spc="-1" strike="noStrike">
              <a:latin typeface="Arial"/>
            </a:endParaRPr>
          </a:p>
          <a:p>
            <a:pPr marL="432000" indent="-324000">
              <a:lnSpc>
                <a:spcPct val="100000"/>
              </a:lnSpc>
              <a:spcBef>
                <a:spcPts val="1412"/>
              </a:spcBef>
              <a:buClr>
                <a:srgbClr val="000000"/>
              </a:buClr>
              <a:buSzPct val="45000"/>
              <a:buFont typeface="Wingdings" charset="2"/>
              <a:buChar char=""/>
            </a:pPr>
            <a:r>
              <a:rPr b="0" lang="en-US" sz="1800" spc="-1" strike="noStrike">
                <a:solidFill>
                  <a:srgbClr val="2b3547"/>
                </a:solidFill>
                <a:latin typeface="Nunito"/>
                <a:ea typeface="Nunito"/>
              </a:rPr>
              <a:t>Kafka: </a:t>
            </a:r>
            <a:r>
              <a:rPr b="0" lang="en-US" sz="1200" spc="-1" strike="noStrike">
                <a:solidFill>
                  <a:srgbClr val="2b3547"/>
                </a:solidFill>
                <a:latin typeface="Nunito"/>
                <a:ea typeface="Nunito"/>
              </a:rPr>
              <a:t>Supports file-based persistence. Messages can be replayed by specifying an offset, and durable subscriptions are supported. Log compaction is supported as well as KSQL.</a:t>
            </a:r>
            <a:endParaRPr b="0" lang="en-US" sz="1200" spc="-1" strike="noStrike">
              <a:latin typeface="Arial"/>
            </a:endParaRPr>
          </a:p>
          <a:p>
            <a:pPr marL="432000" indent="-324000">
              <a:lnSpc>
                <a:spcPct val="100000"/>
              </a:lnSpc>
              <a:spcBef>
                <a:spcPts val="1412"/>
              </a:spcBef>
              <a:buClr>
                <a:srgbClr val="000000"/>
              </a:buClr>
              <a:buSzPct val="45000"/>
              <a:buFont typeface="Wingdings" charset="2"/>
              <a:buChar char=""/>
            </a:pPr>
            <a:r>
              <a:rPr b="0" lang="en-US" sz="1800" spc="-1" strike="noStrike">
                <a:solidFill>
                  <a:srgbClr val="2b3547"/>
                </a:solidFill>
                <a:latin typeface="Nunito"/>
                <a:ea typeface="Nunito"/>
              </a:rPr>
              <a:t>Rabbit: </a:t>
            </a:r>
            <a:r>
              <a:rPr b="0" lang="en-US" sz="1200" spc="-1" strike="noStrike">
                <a:solidFill>
                  <a:srgbClr val="2b3547"/>
                </a:solidFill>
                <a:latin typeface="Nunito"/>
                <a:ea typeface="Nunito"/>
              </a:rPr>
              <a:t>Supports file-based persistence. Rabbit supported queue-based semantics (vs log), so no message replay is available.</a:t>
            </a:r>
            <a:endParaRPr b="0" lang="en-US" sz="1200" spc="-1" strike="noStrike">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 name="PlaceHolder 1"/>
          <p:cNvSpPr>
            <a:spLocks noGrp="1"/>
          </p:cNvSpPr>
          <p:nvPr>
            <p:ph type="title"/>
          </p:nvPr>
        </p:nvSpPr>
        <p:spPr>
          <a:xfrm>
            <a:off x="883080" y="682920"/>
            <a:ext cx="6425280" cy="395280"/>
          </a:xfrm>
          <a:prstGeom prst="rect">
            <a:avLst/>
          </a:prstGeom>
          <a:noFill/>
          <a:ln w="0">
            <a:noFill/>
          </a:ln>
        </p:spPr>
        <p:txBody>
          <a:bodyPr lIns="0" rIns="0" tIns="0" bIns="0" anchor="ctr">
            <a:noAutofit/>
          </a:bodyPr>
          <a:p>
            <a:pPr>
              <a:lnSpc>
                <a:spcPct val="90000"/>
              </a:lnSpc>
              <a:buNone/>
              <a:tabLst>
                <a:tab algn="l" pos="0"/>
              </a:tabLst>
            </a:pPr>
            <a:r>
              <a:rPr b="1" lang="en" sz="3400" spc="-1" strike="noStrike">
                <a:solidFill>
                  <a:srgbClr val="2b3547"/>
                </a:solidFill>
                <a:latin typeface="Amatic SC"/>
                <a:ea typeface="Amatic SC"/>
              </a:rPr>
              <a:t>Compare NATS</a:t>
            </a:r>
            <a:endParaRPr b="0" lang="en-US" sz="3400" spc="-1" strike="noStrike">
              <a:latin typeface="Arial"/>
            </a:endParaRPr>
          </a:p>
        </p:txBody>
      </p:sp>
      <p:sp>
        <p:nvSpPr>
          <p:cNvPr id="156" name="PlaceHolder 2"/>
          <p:cNvSpPr>
            <a:spLocks noGrp="1"/>
          </p:cNvSpPr>
          <p:nvPr>
            <p:ph type="sldNum" idx="16"/>
          </p:nvPr>
        </p:nvSpPr>
        <p:spPr>
          <a:xfrm>
            <a:off x="8403840" y="4692960"/>
            <a:ext cx="547560" cy="299160"/>
          </a:xfrm>
          <a:prstGeom prst="rect">
            <a:avLst/>
          </a:prstGeom>
          <a:noFill/>
          <a:ln w="0">
            <a:noFill/>
          </a:ln>
        </p:spPr>
        <p:txBody>
          <a:bodyPr lIns="0" rIns="0" tIns="0" bIns="0" anchor="ctr">
            <a:noAutofit/>
          </a:bodyPr>
          <a:lstStyle>
            <a:lvl1pPr algn="r">
              <a:lnSpc>
                <a:spcPct val="100000"/>
              </a:lnSpc>
              <a:buNone/>
              <a:tabLst>
                <a:tab algn="l" pos="0"/>
              </a:tabLst>
              <a:defRPr b="1" lang="en" sz="1500" spc="-1" strike="noStrike">
                <a:solidFill>
                  <a:srgbClr val="7f8b91"/>
                </a:solidFill>
                <a:latin typeface="Amatic SC"/>
                <a:ea typeface="Amatic SC"/>
              </a:defRPr>
            </a:lvl1pPr>
          </a:lstStyle>
          <a:p>
            <a:pPr algn="r">
              <a:lnSpc>
                <a:spcPct val="100000"/>
              </a:lnSpc>
              <a:buNone/>
              <a:tabLst>
                <a:tab algn="l" pos="0"/>
              </a:tabLst>
            </a:pPr>
            <a:fld id="{CEADEAEC-B9D7-4E01-9AC9-9977406691D1}" type="slidenum">
              <a:rPr b="1" lang="en" sz="1500" spc="-1" strike="noStrike">
                <a:solidFill>
                  <a:srgbClr val="7f8b91"/>
                </a:solidFill>
                <a:latin typeface="Amatic SC"/>
                <a:ea typeface="Amatic SC"/>
              </a:rPr>
              <a:t>&lt;number&gt;</a:t>
            </a:fld>
            <a:endParaRPr b="0" lang="en-US" sz="1500" spc="-1" strike="noStrike">
              <a:latin typeface="Times New Roman"/>
            </a:endParaRPr>
          </a:p>
        </p:txBody>
      </p:sp>
      <p:sp>
        <p:nvSpPr>
          <p:cNvPr id="157" name="Google Shape;228;p 14"/>
          <p:cNvSpPr/>
          <p:nvPr/>
        </p:nvSpPr>
        <p:spPr>
          <a:xfrm>
            <a:off x="7648200" y="3814560"/>
            <a:ext cx="936720" cy="834120"/>
          </a:xfrm>
          <a:custGeom>
            <a:avLst/>
            <a:gdLst/>
            <a:ahLst/>
            <a:rect l="l" t="t" r="r" b="b"/>
            <a:pathLst>
              <a:path w="444359" h="395938">
                <a:moveTo>
                  <a:pt x="135136" y="205311"/>
                </a:moveTo>
                <a:lnTo>
                  <a:pt x="101482" y="200356"/>
                </a:lnTo>
                <a:cubicBezTo>
                  <a:pt x="92405" y="199041"/>
                  <a:pt x="88788" y="213642"/>
                  <a:pt x="98347" y="215046"/>
                </a:cubicBezTo>
                <a:lnTo>
                  <a:pt x="132067" y="220001"/>
                </a:lnTo>
                <a:cubicBezTo>
                  <a:pt x="141056" y="221316"/>
                  <a:pt x="144673" y="206714"/>
                  <a:pt x="135136" y="205311"/>
                </a:cubicBezTo>
                <a:close/>
                <a:moveTo>
                  <a:pt x="293388" y="291650"/>
                </a:moveTo>
                <a:cubicBezTo>
                  <a:pt x="292554" y="295482"/>
                  <a:pt x="294966" y="299271"/>
                  <a:pt x="298803" y="300115"/>
                </a:cubicBezTo>
                <a:cubicBezTo>
                  <a:pt x="298869" y="300130"/>
                  <a:pt x="298935" y="300144"/>
                  <a:pt x="299001" y="300157"/>
                </a:cubicBezTo>
                <a:cubicBezTo>
                  <a:pt x="299373" y="300157"/>
                  <a:pt x="300711" y="300157"/>
                  <a:pt x="300930" y="300551"/>
                </a:cubicBezTo>
                <a:cubicBezTo>
                  <a:pt x="299921" y="300222"/>
                  <a:pt x="299790" y="300201"/>
                  <a:pt x="300535" y="300551"/>
                </a:cubicBezTo>
                <a:cubicBezTo>
                  <a:pt x="301280" y="300902"/>
                  <a:pt x="301456" y="300924"/>
                  <a:pt x="302267" y="301297"/>
                </a:cubicBezTo>
                <a:lnTo>
                  <a:pt x="302377" y="301297"/>
                </a:lnTo>
                <a:cubicBezTo>
                  <a:pt x="309919" y="308335"/>
                  <a:pt x="320267" y="297416"/>
                  <a:pt x="313142" y="290335"/>
                </a:cubicBezTo>
                <a:cubicBezTo>
                  <a:pt x="307573" y="285621"/>
                  <a:pt x="295756" y="281894"/>
                  <a:pt x="293388" y="291650"/>
                </a:cubicBezTo>
                <a:close/>
                <a:moveTo>
                  <a:pt x="285999" y="274110"/>
                </a:moveTo>
                <a:cubicBezTo>
                  <a:pt x="269973" y="263589"/>
                  <a:pt x="253310" y="254069"/>
                  <a:pt x="236099" y="245608"/>
                </a:cubicBezTo>
                <a:cubicBezTo>
                  <a:pt x="227833" y="241530"/>
                  <a:pt x="220752" y="255014"/>
                  <a:pt x="229346" y="259180"/>
                </a:cubicBezTo>
                <a:cubicBezTo>
                  <a:pt x="245439" y="267053"/>
                  <a:pt x="261027" y="275919"/>
                  <a:pt x="276002" y="285730"/>
                </a:cubicBezTo>
                <a:cubicBezTo>
                  <a:pt x="283697" y="290576"/>
                  <a:pt x="293738" y="279109"/>
                  <a:pt x="285999" y="274023"/>
                </a:cubicBezTo>
                <a:close/>
                <a:moveTo>
                  <a:pt x="433354" y="1544"/>
                </a:moveTo>
                <a:cubicBezTo>
                  <a:pt x="431162" y="3057"/>
                  <a:pt x="428970" y="4482"/>
                  <a:pt x="426908" y="5929"/>
                </a:cubicBezTo>
                <a:cubicBezTo>
                  <a:pt x="425220" y="5833"/>
                  <a:pt x="423554" y="6381"/>
                  <a:pt x="422239" y="7464"/>
                </a:cubicBezTo>
                <a:cubicBezTo>
                  <a:pt x="417854" y="10840"/>
                  <a:pt x="413469" y="14261"/>
                  <a:pt x="408952" y="17659"/>
                </a:cubicBezTo>
                <a:cubicBezTo>
                  <a:pt x="315904" y="75803"/>
                  <a:pt x="209197" y="106563"/>
                  <a:pt x="111195" y="154928"/>
                </a:cubicBezTo>
                <a:cubicBezTo>
                  <a:pt x="93853" y="163501"/>
                  <a:pt x="76773" y="172622"/>
                  <a:pt x="60089" y="182400"/>
                </a:cubicBezTo>
                <a:cubicBezTo>
                  <a:pt x="42549" y="192748"/>
                  <a:pt x="25141" y="203184"/>
                  <a:pt x="5146" y="208249"/>
                </a:cubicBezTo>
                <a:cubicBezTo>
                  <a:pt x="-1804" y="210003"/>
                  <a:pt x="-1147" y="218532"/>
                  <a:pt x="3743" y="221404"/>
                </a:cubicBezTo>
                <a:cubicBezTo>
                  <a:pt x="4707" y="222430"/>
                  <a:pt x="5979" y="223140"/>
                  <a:pt x="7360" y="223443"/>
                </a:cubicBezTo>
                <a:cubicBezTo>
                  <a:pt x="52371" y="234230"/>
                  <a:pt x="97777" y="242999"/>
                  <a:pt x="143621" y="249752"/>
                </a:cubicBezTo>
                <a:lnTo>
                  <a:pt x="143117" y="384961"/>
                </a:lnTo>
                <a:cubicBezTo>
                  <a:pt x="142854" y="387829"/>
                  <a:pt x="144717" y="390464"/>
                  <a:pt x="147502" y="391166"/>
                </a:cubicBezTo>
                <a:cubicBezTo>
                  <a:pt x="148620" y="393251"/>
                  <a:pt x="150615" y="394717"/>
                  <a:pt x="152939" y="395156"/>
                </a:cubicBezTo>
                <a:cubicBezTo>
                  <a:pt x="155855" y="396721"/>
                  <a:pt x="159473" y="395875"/>
                  <a:pt x="161402" y="393183"/>
                </a:cubicBezTo>
                <a:cubicBezTo>
                  <a:pt x="187777" y="361278"/>
                  <a:pt x="215797" y="330777"/>
                  <a:pt x="245351" y="301801"/>
                </a:cubicBezTo>
                <a:cubicBezTo>
                  <a:pt x="266464" y="313914"/>
                  <a:pt x="286394" y="328001"/>
                  <a:pt x="304854" y="343874"/>
                </a:cubicBezTo>
                <a:cubicBezTo>
                  <a:pt x="316496" y="353850"/>
                  <a:pt x="331712" y="356854"/>
                  <a:pt x="343266" y="366413"/>
                </a:cubicBezTo>
                <a:cubicBezTo>
                  <a:pt x="346533" y="371170"/>
                  <a:pt x="355500" y="370798"/>
                  <a:pt x="356553" y="363519"/>
                </a:cubicBezTo>
                <a:cubicBezTo>
                  <a:pt x="373083" y="243175"/>
                  <a:pt x="405510" y="125528"/>
                  <a:pt x="443593" y="10753"/>
                </a:cubicBezTo>
                <a:cubicBezTo>
                  <a:pt x="446618" y="4679"/>
                  <a:pt x="440173" y="-3323"/>
                  <a:pt x="433354" y="1457"/>
                </a:cubicBezTo>
                <a:close/>
                <a:moveTo>
                  <a:pt x="144959" y="232695"/>
                </a:moveTo>
                <a:cubicBezTo>
                  <a:pt x="144345" y="233234"/>
                  <a:pt x="143819" y="233863"/>
                  <a:pt x="143380" y="234558"/>
                </a:cubicBezTo>
                <a:cubicBezTo>
                  <a:pt x="106218" y="229033"/>
                  <a:pt x="69319" y="222164"/>
                  <a:pt x="32639" y="213949"/>
                </a:cubicBezTo>
                <a:cubicBezTo>
                  <a:pt x="52744" y="204895"/>
                  <a:pt x="71358" y="192134"/>
                  <a:pt x="90652" y="181720"/>
                </a:cubicBezTo>
                <a:cubicBezTo>
                  <a:pt x="170610" y="138682"/>
                  <a:pt x="257497" y="110816"/>
                  <a:pt x="339320" y="71856"/>
                </a:cubicBezTo>
                <a:cubicBezTo>
                  <a:pt x="273370" y="123978"/>
                  <a:pt x="208584" y="177592"/>
                  <a:pt x="144959" y="232695"/>
                </a:cubicBezTo>
                <a:close/>
                <a:moveTo>
                  <a:pt x="157938" y="358827"/>
                </a:moveTo>
                <a:lnTo>
                  <a:pt x="158376" y="242429"/>
                </a:lnTo>
                <a:cubicBezTo>
                  <a:pt x="158376" y="241688"/>
                  <a:pt x="158267" y="240949"/>
                  <a:pt x="158070" y="240237"/>
                </a:cubicBezTo>
                <a:cubicBezTo>
                  <a:pt x="232788" y="175691"/>
                  <a:pt x="309152" y="113147"/>
                  <a:pt x="387181" y="52607"/>
                </a:cubicBezTo>
                <a:lnTo>
                  <a:pt x="297159" y="137213"/>
                </a:lnTo>
                <a:cubicBezTo>
                  <a:pt x="259098" y="172972"/>
                  <a:pt x="217024" y="207372"/>
                  <a:pt x="189531" y="252405"/>
                </a:cubicBezTo>
                <a:cubicBezTo>
                  <a:pt x="188216" y="254240"/>
                  <a:pt x="188018" y="256658"/>
                  <a:pt x="189049" y="258675"/>
                </a:cubicBezTo>
                <a:cubicBezTo>
                  <a:pt x="189356" y="259691"/>
                  <a:pt x="189882" y="260620"/>
                  <a:pt x="190605" y="261394"/>
                </a:cubicBezTo>
                <a:cubicBezTo>
                  <a:pt x="181222" y="294369"/>
                  <a:pt x="170325" y="326817"/>
                  <a:pt x="157938" y="358739"/>
                </a:cubicBezTo>
                <a:close/>
                <a:moveTo>
                  <a:pt x="174535" y="355801"/>
                </a:moveTo>
                <a:cubicBezTo>
                  <a:pt x="184927" y="328323"/>
                  <a:pt x="194267" y="300479"/>
                  <a:pt x="202533" y="272269"/>
                </a:cubicBezTo>
                <a:cubicBezTo>
                  <a:pt x="212223" y="280124"/>
                  <a:pt x="222396" y="287379"/>
                  <a:pt x="232964" y="293996"/>
                </a:cubicBezTo>
                <a:cubicBezTo>
                  <a:pt x="212749" y="313844"/>
                  <a:pt x="193281" y="334418"/>
                  <a:pt x="174535" y="355713"/>
                </a:cubicBezTo>
                <a:close/>
                <a:moveTo>
                  <a:pt x="344143" y="348807"/>
                </a:moveTo>
                <a:cubicBezTo>
                  <a:pt x="334847" y="343743"/>
                  <a:pt x="324608" y="340432"/>
                  <a:pt x="316255" y="333460"/>
                </a:cubicBezTo>
                <a:cubicBezTo>
                  <a:pt x="304394" y="323193"/>
                  <a:pt x="291962" y="313631"/>
                  <a:pt x="278983" y="304827"/>
                </a:cubicBezTo>
                <a:cubicBezTo>
                  <a:pt x="253946" y="288581"/>
                  <a:pt x="227351" y="274637"/>
                  <a:pt x="205273" y="254400"/>
                </a:cubicBezTo>
                <a:cubicBezTo>
                  <a:pt x="232701" y="211538"/>
                  <a:pt x="274533" y="178125"/>
                  <a:pt x="311212" y="143637"/>
                </a:cubicBezTo>
                <a:cubicBezTo>
                  <a:pt x="346993" y="110020"/>
                  <a:pt x="382796" y="76401"/>
                  <a:pt x="418643" y="42784"/>
                </a:cubicBezTo>
                <a:cubicBezTo>
                  <a:pt x="385098" y="142442"/>
                  <a:pt x="360170" y="244797"/>
                  <a:pt x="344143" y="348720"/>
                </a:cubicBezTo>
                <a:close/>
                <a:moveTo>
                  <a:pt x="55923" y="163172"/>
                </a:moveTo>
                <a:cubicBezTo>
                  <a:pt x="76620" y="147430"/>
                  <a:pt x="101087" y="137608"/>
                  <a:pt x="124481" y="126668"/>
                </a:cubicBezTo>
                <a:lnTo>
                  <a:pt x="197797" y="92378"/>
                </a:lnTo>
                <a:cubicBezTo>
                  <a:pt x="206238" y="88431"/>
                  <a:pt x="202379" y="74268"/>
                  <a:pt x="193412" y="78434"/>
                </a:cubicBezTo>
                <a:lnTo>
                  <a:pt x="116237" y="114478"/>
                </a:lnTo>
                <a:cubicBezTo>
                  <a:pt x="92954" y="125440"/>
                  <a:pt x="68661" y="135306"/>
                  <a:pt x="48052" y="150960"/>
                </a:cubicBezTo>
                <a:cubicBezTo>
                  <a:pt x="40532" y="156704"/>
                  <a:pt x="48096" y="169114"/>
                  <a:pt x="55923" y="163084"/>
                </a:cubicBezTo>
                <a:close/>
                <a:moveTo>
                  <a:pt x="41760" y="133684"/>
                </a:moveTo>
                <a:cubicBezTo>
                  <a:pt x="60198" y="122794"/>
                  <a:pt x="79119" y="112805"/>
                  <a:pt x="98479" y="103713"/>
                </a:cubicBezTo>
                <a:cubicBezTo>
                  <a:pt x="106919" y="99766"/>
                  <a:pt x="103061" y="85603"/>
                  <a:pt x="94094" y="89791"/>
                </a:cubicBezTo>
                <a:cubicBezTo>
                  <a:pt x="73528" y="99409"/>
                  <a:pt x="53467" y="109990"/>
                  <a:pt x="33889" y="121537"/>
                </a:cubicBezTo>
                <a:cubicBezTo>
                  <a:pt x="25689" y="126339"/>
                  <a:pt x="33341" y="138573"/>
                  <a:pt x="41760" y="133596"/>
                </a:cubicBezTo>
                <a:close/>
              </a:path>
            </a:pathLst>
          </a:custGeom>
          <a:solidFill>
            <a:srgbClr val="2b3547"/>
          </a:solidFill>
          <a:ln w="0">
            <a:noFill/>
          </a:ln>
        </p:spPr>
        <p:style>
          <a:lnRef idx="0"/>
          <a:fillRef idx="0"/>
          <a:effectRef idx="0"/>
          <a:fontRef idx="minor"/>
        </p:style>
      </p:sp>
      <p:sp>
        <p:nvSpPr>
          <p:cNvPr id="158" name="PlaceHolder 3"/>
          <p:cNvSpPr>
            <a:spLocks noGrp="1"/>
          </p:cNvSpPr>
          <p:nvPr>
            <p:ph/>
          </p:nvPr>
        </p:nvSpPr>
        <p:spPr>
          <a:xfrm>
            <a:off x="1188000" y="1505880"/>
            <a:ext cx="6425280" cy="2839320"/>
          </a:xfrm>
          <a:prstGeom prst="rect">
            <a:avLst/>
          </a:prstGeom>
          <a:noFill/>
          <a:ln w="0">
            <a:noFill/>
          </a:ln>
        </p:spPr>
        <p:txBody>
          <a:bodyPr lIns="0" rIns="0" tIns="0" bIns="0" anchor="t">
            <a:noAutofit/>
          </a:bodyPr>
          <a:p>
            <a:pPr marL="432000" indent="-324000">
              <a:lnSpc>
                <a:spcPct val="100000"/>
              </a:lnSpc>
              <a:spcBef>
                <a:spcPts val="1412"/>
              </a:spcBef>
              <a:buClr>
                <a:srgbClr val="000000"/>
              </a:buClr>
              <a:buSzPct val="45000"/>
              <a:buFont typeface="Wingdings" charset="2"/>
              <a:buChar char=""/>
            </a:pPr>
            <a:r>
              <a:rPr b="0" lang="en-US" sz="1800" spc="-1" strike="noStrike">
                <a:solidFill>
                  <a:srgbClr val="2b3547"/>
                </a:solidFill>
                <a:latin typeface="Nunito"/>
                <a:ea typeface="Nunito"/>
              </a:rPr>
              <a:t>High Availability and Fault Tolerance</a:t>
            </a:r>
            <a:endParaRPr b="0" lang="en-US" sz="1800" spc="-1" strike="noStrike">
              <a:latin typeface="Arial"/>
            </a:endParaRPr>
          </a:p>
          <a:p>
            <a:pPr marL="432000" indent="-324000">
              <a:lnSpc>
                <a:spcPct val="100000"/>
              </a:lnSpc>
              <a:spcBef>
                <a:spcPts val="1412"/>
              </a:spcBef>
              <a:buClr>
                <a:srgbClr val="000000"/>
              </a:buClr>
              <a:buSzPct val="45000"/>
              <a:buFont typeface="Wingdings" charset="2"/>
              <a:buChar char=""/>
            </a:pPr>
            <a:r>
              <a:rPr b="0" lang="en-US" sz="1800" spc="-1" strike="noStrike">
                <a:solidFill>
                  <a:srgbClr val="2b3547"/>
                </a:solidFill>
                <a:latin typeface="Nunito"/>
                <a:ea typeface="Nunito"/>
              </a:rPr>
              <a:t>NATS: </a:t>
            </a:r>
            <a:r>
              <a:rPr b="0" lang="en-US" sz="1200" spc="-1" strike="noStrike">
                <a:solidFill>
                  <a:srgbClr val="2b3547"/>
                </a:solidFill>
                <a:latin typeface="Nunito"/>
                <a:ea typeface="Nunito"/>
              </a:rPr>
              <a:t>Core NATS supports full mesh clustering with self-healing features to </a:t>
            </a:r>
            <a:r>
              <a:rPr b="0" lang="en-US" sz="1200" spc="-1" strike="noStrike">
                <a:solidFill>
                  <a:srgbClr val="2b3547"/>
                </a:solidFill>
                <a:latin typeface="Nunito"/>
                <a:ea typeface="Nunito"/>
              </a:rPr>
              <a:t>provide high availability to clients. NATS streaming has warm fail-over backup </a:t>
            </a:r>
            <a:r>
              <a:rPr b="0" lang="en-US" sz="1200" spc="-1" strike="noStrike">
                <a:solidFill>
                  <a:srgbClr val="2b3547"/>
                </a:solidFill>
                <a:latin typeface="Nunito"/>
                <a:ea typeface="Nunito"/>
              </a:rPr>
              <a:t>servers with two modes (FT and full clustering). JetStream supports horizontal </a:t>
            </a:r>
            <a:r>
              <a:rPr b="0" lang="en-US" sz="1200" spc="-1" strike="noStrike">
                <a:solidFill>
                  <a:srgbClr val="2b3547"/>
                </a:solidFill>
                <a:latin typeface="Nunito"/>
                <a:ea typeface="Nunito"/>
              </a:rPr>
              <a:t>scalability with built-in mirroring.</a:t>
            </a:r>
            <a:endParaRPr b="0" lang="en-US" sz="1200" spc="-1" strike="noStrike">
              <a:latin typeface="Arial"/>
            </a:endParaRPr>
          </a:p>
          <a:p>
            <a:pPr marL="432000" indent="-324000">
              <a:lnSpc>
                <a:spcPct val="100000"/>
              </a:lnSpc>
              <a:spcBef>
                <a:spcPts val="1412"/>
              </a:spcBef>
              <a:buClr>
                <a:srgbClr val="000000"/>
              </a:buClr>
              <a:buSzPct val="45000"/>
              <a:buFont typeface="Wingdings" charset="2"/>
              <a:buChar char=""/>
            </a:pPr>
            <a:r>
              <a:rPr b="0" lang="en-US" sz="1800" spc="-1" strike="noStrike">
                <a:solidFill>
                  <a:srgbClr val="2b3547"/>
                </a:solidFill>
                <a:latin typeface="Nunito"/>
                <a:ea typeface="Nunito"/>
              </a:rPr>
              <a:t>Kafka: </a:t>
            </a:r>
            <a:r>
              <a:rPr b="0" lang="en-US" sz="1200" spc="-1" strike="noStrike">
                <a:solidFill>
                  <a:srgbClr val="2b3547"/>
                </a:solidFill>
                <a:latin typeface="Nunito"/>
                <a:ea typeface="Nunito"/>
              </a:rPr>
              <a:t>Fully replicated cluster members are coordinated via Zookeeper.</a:t>
            </a:r>
            <a:endParaRPr b="0" lang="en-US" sz="1200" spc="-1" strike="noStrike">
              <a:latin typeface="Arial"/>
            </a:endParaRPr>
          </a:p>
          <a:p>
            <a:pPr marL="432000" indent="-324000">
              <a:lnSpc>
                <a:spcPct val="100000"/>
              </a:lnSpc>
              <a:spcBef>
                <a:spcPts val="1412"/>
              </a:spcBef>
              <a:buClr>
                <a:srgbClr val="000000"/>
              </a:buClr>
              <a:buSzPct val="45000"/>
              <a:buFont typeface="Wingdings" charset="2"/>
              <a:buChar char=""/>
            </a:pPr>
            <a:r>
              <a:rPr b="0" lang="en-US" sz="1800" spc="-1" strike="noStrike">
                <a:solidFill>
                  <a:srgbClr val="2b3547"/>
                </a:solidFill>
                <a:latin typeface="Nunito"/>
                <a:ea typeface="Nunito"/>
              </a:rPr>
              <a:t>Rabbit: </a:t>
            </a:r>
            <a:r>
              <a:rPr b="0" lang="en-US" sz="1200" spc="-1" strike="noStrike">
                <a:solidFill>
                  <a:srgbClr val="2b3547"/>
                </a:solidFill>
                <a:latin typeface="Nunito"/>
                <a:ea typeface="Nunito"/>
              </a:rPr>
              <a:t>Clustering Support with full data replication via federation plugins. </a:t>
            </a:r>
            <a:r>
              <a:rPr b="0" lang="en-US" sz="1200" spc="-1" strike="noStrike">
                <a:solidFill>
                  <a:srgbClr val="2b3547"/>
                </a:solidFill>
                <a:latin typeface="Nunito"/>
                <a:ea typeface="Nunito"/>
              </a:rPr>
              <a:t>Clusters require low-latency networks where network partitions are rare.</a:t>
            </a:r>
            <a:endParaRPr b="0" lang="en-US" sz="1200" spc="-1" strike="noStrike">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 name="PlaceHolder 1"/>
          <p:cNvSpPr>
            <a:spLocks noGrp="1"/>
          </p:cNvSpPr>
          <p:nvPr>
            <p:ph type="title"/>
          </p:nvPr>
        </p:nvSpPr>
        <p:spPr>
          <a:xfrm>
            <a:off x="883080" y="682920"/>
            <a:ext cx="6425280" cy="395280"/>
          </a:xfrm>
          <a:prstGeom prst="rect">
            <a:avLst/>
          </a:prstGeom>
          <a:noFill/>
          <a:ln w="0">
            <a:noFill/>
          </a:ln>
        </p:spPr>
        <p:txBody>
          <a:bodyPr lIns="0" rIns="0" tIns="0" bIns="0" anchor="ctr">
            <a:noAutofit/>
          </a:bodyPr>
          <a:p>
            <a:pPr>
              <a:lnSpc>
                <a:spcPct val="90000"/>
              </a:lnSpc>
              <a:buNone/>
              <a:tabLst>
                <a:tab algn="l" pos="0"/>
              </a:tabLst>
            </a:pPr>
            <a:r>
              <a:rPr b="1" lang="en" sz="3400" spc="-1" strike="noStrike">
                <a:solidFill>
                  <a:srgbClr val="2b3547"/>
                </a:solidFill>
                <a:latin typeface="Amatic SC"/>
                <a:ea typeface="Amatic SC"/>
              </a:rPr>
              <a:t>Compare NATS</a:t>
            </a:r>
            <a:endParaRPr b="0" lang="en-US" sz="3400" spc="-1" strike="noStrike">
              <a:latin typeface="Arial"/>
            </a:endParaRPr>
          </a:p>
        </p:txBody>
      </p:sp>
      <p:sp>
        <p:nvSpPr>
          <p:cNvPr id="160" name="PlaceHolder 2"/>
          <p:cNvSpPr>
            <a:spLocks noGrp="1"/>
          </p:cNvSpPr>
          <p:nvPr>
            <p:ph type="sldNum" idx="17"/>
          </p:nvPr>
        </p:nvSpPr>
        <p:spPr>
          <a:xfrm>
            <a:off x="8403840" y="4692960"/>
            <a:ext cx="547560" cy="299160"/>
          </a:xfrm>
          <a:prstGeom prst="rect">
            <a:avLst/>
          </a:prstGeom>
          <a:noFill/>
          <a:ln w="0">
            <a:noFill/>
          </a:ln>
        </p:spPr>
        <p:txBody>
          <a:bodyPr lIns="0" rIns="0" tIns="0" bIns="0" anchor="ctr">
            <a:noAutofit/>
          </a:bodyPr>
          <a:lstStyle>
            <a:lvl1pPr algn="r">
              <a:lnSpc>
                <a:spcPct val="100000"/>
              </a:lnSpc>
              <a:buNone/>
              <a:tabLst>
                <a:tab algn="l" pos="0"/>
              </a:tabLst>
              <a:defRPr b="1" lang="en" sz="1500" spc="-1" strike="noStrike">
                <a:solidFill>
                  <a:srgbClr val="7f8b91"/>
                </a:solidFill>
                <a:latin typeface="Amatic SC"/>
                <a:ea typeface="Amatic SC"/>
              </a:defRPr>
            </a:lvl1pPr>
          </a:lstStyle>
          <a:p>
            <a:pPr algn="r">
              <a:lnSpc>
                <a:spcPct val="100000"/>
              </a:lnSpc>
              <a:buNone/>
              <a:tabLst>
                <a:tab algn="l" pos="0"/>
              </a:tabLst>
            </a:pPr>
            <a:fld id="{1A50DFF4-BBB7-42A1-8115-F900B33932F3}" type="slidenum">
              <a:rPr b="1" lang="en" sz="1500" spc="-1" strike="noStrike">
                <a:solidFill>
                  <a:srgbClr val="7f8b91"/>
                </a:solidFill>
                <a:latin typeface="Amatic SC"/>
                <a:ea typeface="Amatic SC"/>
              </a:rPr>
              <a:t>&lt;number&gt;</a:t>
            </a:fld>
            <a:endParaRPr b="0" lang="en-US" sz="1500" spc="-1" strike="noStrike">
              <a:latin typeface="Times New Roman"/>
            </a:endParaRPr>
          </a:p>
        </p:txBody>
      </p:sp>
      <p:sp>
        <p:nvSpPr>
          <p:cNvPr id="161" name="Google Shape;228;p 15"/>
          <p:cNvSpPr/>
          <p:nvPr/>
        </p:nvSpPr>
        <p:spPr>
          <a:xfrm>
            <a:off x="7648200" y="3814560"/>
            <a:ext cx="936720" cy="834120"/>
          </a:xfrm>
          <a:custGeom>
            <a:avLst/>
            <a:gdLst/>
            <a:ahLst/>
            <a:rect l="l" t="t" r="r" b="b"/>
            <a:pathLst>
              <a:path w="444359" h="395938">
                <a:moveTo>
                  <a:pt x="135136" y="205311"/>
                </a:moveTo>
                <a:lnTo>
                  <a:pt x="101482" y="200356"/>
                </a:lnTo>
                <a:cubicBezTo>
                  <a:pt x="92405" y="199041"/>
                  <a:pt x="88788" y="213642"/>
                  <a:pt x="98347" y="215046"/>
                </a:cubicBezTo>
                <a:lnTo>
                  <a:pt x="132067" y="220001"/>
                </a:lnTo>
                <a:cubicBezTo>
                  <a:pt x="141056" y="221316"/>
                  <a:pt x="144673" y="206714"/>
                  <a:pt x="135136" y="205311"/>
                </a:cubicBezTo>
                <a:close/>
                <a:moveTo>
                  <a:pt x="293388" y="291650"/>
                </a:moveTo>
                <a:cubicBezTo>
                  <a:pt x="292554" y="295482"/>
                  <a:pt x="294966" y="299271"/>
                  <a:pt x="298803" y="300115"/>
                </a:cubicBezTo>
                <a:cubicBezTo>
                  <a:pt x="298869" y="300130"/>
                  <a:pt x="298935" y="300144"/>
                  <a:pt x="299001" y="300157"/>
                </a:cubicBezTo>
                <a:cubicBezTo>
                  <a:pt x="299373" y="300157"/>
                  <a:pt x="300711" y="300157"/>
                  <a:pt x="300930" y="300551"/>
                </a:cubicBezTo>
                <a:cubicBezTo>
                  <a:pt x="299921" y="300222"/>
                  <a:pt x="299790" y="300201"/>
                  <a:pt x="300535" y="300551"/>
                </a:cubicBezTo>
                <a:cubicBezTo>
                  <a:pt x="301280" y="300902"/>
                  <a:pt x="301456" y="300924"/>
                  <a:pt x="302267" y="301297"/>
                </a:cubicBezTo>
                <a:lnTo>
                  <a:pt x="302377" y="301297"/>
                </a:lnTo>
                <a:cubicBezTo>
                  <a:pt x="309919" y="308335"/>
                  <a:pt x="320267" y="297416"/>
                  <a:pt x="313142" y="290335"/>
                </a:cubicBezTo>
                <a:cubicBezTo>
                  <a:pt x="307573" y="285621"/>
                  <a:pt x="295756" y="281894"/>
                  <a:pt x="293388" y="291650"/>
                </a:cubicBezTo>
                <a:close/>
                <a:moveTo>
                  <a:pt x="285999" y="274110"/>
                </a:moveTo>
                <a:cubicBezTo>
                  <a:pt x="269973" y="263589"/>
                  <a:pt x="253310" y="254069"/>
                  <a:pt x="236099" y="245608"/>
                </a:cubicBezTo>
                <a:cubicBezTo>
                  <a:pt x="227833" y="241530"/>
                  <a:pt x="220752" y="255014"/>
                  <a:pt x="229346" y="259180"/>
                </a:cubicBezTo>
                <a:cubicBezTo>
                  <a:pt x="245439" y="267053"/>
                  <a:pt x="261027" y="275919"/>
                  <a:pt x="276002" y="285730"/>
                </a:cubicBezTo>
                <a:cubicBezTo>
                  <a:pt x="283697" y="290576"/>
                  <a:pt x="293738" y="279109"/>
                  <a:pt x="285999" y="274023"/>
                </a:cubicBezTo>
                <a:close/>
                <a:moveTo>
                  <a:pt x="433354" y="1544"/>
                </a:moveTo>
                <a:cubicBezTo>
                  <a:pt x="431162" y="3057"/>
                  <a:pt x="428970" y="4482"/>
                  <a:pt x="426908" y="5929"/>
                </a:cubicBezTo>
                <a:cubicBezTo>
                  <a:pt x="425220" y="5833"/>
                  <a:pt x="423554" y="6381"/>
                  <a:pt x="422239" y="7464"/>
                </a:cubicBezTo>
                <a:cubicBezTo>
                  <a:pt x="417854" y="10840"/>
                  <a:pt x="413469" y="14261"/>
                  <a:pt x="408952" y="17659"/>
                </a:cubicBezTo>
                <a:cubicBezTo>
                  <a:pt x="315904" y="75803"/>
                  <a:pt x="209197" y="106563"/>
                  <a:pt x="111195" y="154928"/>
                </a:cubicBezTo>
                <a:cubicBezTo>
                  <a:pt x="93853" y="163501"/>
                  <a:pt x="76773" y="172622"/>
                  <a:pt x="60089" y="182400"/>
                </a:cubicBezTo>
                <a:cubicBezTo>
                  <a:pt x="42549" y="192748"/>
                  <a:pt x="25141" y="203184"/>
                  <a:pt x="5146" y="208249"/>
                </a:cubicBezTo>
                <a:cubicBezTo>
                  <a:pt x="-1804" y="210003"/>
                  <a:pt x="-1147" y="218532"/>
                  <a:pt x="3743" y="221404"/>
                </a:cubicBezTo>
                <a:cubicBezTo>
                  <a:pt x="4707" y="222430"/>
                  <a:pt x="5979" y="223140"/>
                  <a:pt x="7360" y="223443"/>
                </a:cubicBezTo>
                <a:cubicBezTo>
                  <a:pt x="52371" y="234230"/>
                  <a:pt x="97777" y="242999"/>
                  <a:pt x="143621" y="249752"/>
                </a:cubicBezTo>
                <a:lnTo>
                  <a:pt x="143117" y="384961"/>
                </a:lnTo>
                <a:cubicBezTo>
                  <a:pt x="142854" y="387829"/>
                  <a:pt x="144717" y="390464"/>
                  <a:pt x="147502" y="391166"/>
                </a:cubicBezTo>
                <a:cubicBezTo>
                  <a:pt x="148620" y="393251"/>
                  <a:pt x="150615" y="394717"/>
                  <a:pt x="152939" y="395156"/>
                </a:cubicBezTo>
                <a:cubicBezTo>
                  <a:pt x="155855" y="396721"/>
                  <a:pt x="159473" y="395875"/>
                  <a:pt x="161402" y="393183"/>
                </a:cubicBezTo>
                <a:cubicBezTo>
                  <a:pt x="187777" y="361278"/>
                  <a:pt x="215797" y="330777"/>
                  <a:pt x="245351" y="301801"/>
                </a:cubicBezTo>
                <a:cubicBezTo>
                  <a:pt x="266464" y="313914"/>
                  <a:pt x="286394" y="328001"/>
                  <a:pt x="304854" y="343874"/>
                </a:cubicBezTo>
                <a:cubicBezTo>
                  <a:pt x="316496" y="353850"/>
                  <a:pt x="331712" y="356854"/>
                  <a:pt x="343266" y="366413"/>
                </a:cubicBezTo>
                <a:cubicBezTo>
                  <a:pt x="346533" y="371170"/>
                  <a:pt x="355500" y="370798"/>
                  <a:pt x="356553" y="363519"/>
                </a:cubicBezTo>
                <a:cubicBezTo>
                  <a:pt x="373083" y="243175"/>
                  <a:pt x="405510" y="125528"/>
                  <a:pt x="443593" y="10753"/>
                </a:cubicBezTo>
                <a:cubicBezTo>
                  <a:pt x="446618" y="4679"/>
                  <a:pt x="440173" y="-3323"/>
                  <a:pt x="433354" y="1457"/>
                </a:cubicBezTo>
                <a:close/>
                <a:moveTo>
                  <a:pt x="144959" y="232695"/>
                </a:moveTo>
                <a:cubicBezTo>
                  <a:pt x="144345" y="233234"/>
                  <a:pt x="143819" y="233863"/>
                  <a:pt x="143380" y="234558"/>
                </a:cubicBezTo>
                <a:cubicBezTo>
                  <a:pt x="106218" y="229033"/>
                  <a:pt x="69319" y="222164"/>
                  <a:pt x="32639" y="213949"/>
                </a:cubicBezTo>
                <a:cubicBezTo>
                  <a:pt x="52744" y="204895"/>
                  <a:pt x="71358" y="192134"/>
                  <a:pt x="90652" y="181720"/>
                </a:cubicBezTo>
                <a:cubicBezTo>
                  <a:pt x="170610" y="138682"/>
                  <a:pt x="257497" y="110816"/>
                  <a:pt x="339320" y="71856"/>
                </a:cubicBezTo>
                <a:cubicBezTo>
                  <a:pt x="273370" y="123978"/>
                  <a:pt x="208584" y="177592"/>
                  <a:pt x="144959" y="232695"/>
                </a:cubicBezTo>
                <a:close/>
                <a:moveTo>
                  <a:pt x="157938" y="358827"/>
                </a:moveTo>
                <a:lnTo>
                  <a:pt x="158376" y="242429"/>
                </a:lnTo>
                <a:cubicBezTo>
                  <a:pt x="158376" y="241688"/>
                  <a:pt x="158267" y="240949"/>
                  <a:pt x="158070" y="240237"/>
                </a:cubicBezTo>
                <a:cubicBezTo>
                  <a:pt x="232788" y="175691"/>
                  <a:pt x="309152" y="113147"/>
                  <a:pt x="387181" y="52607"/>
                </a:cubicBezTo>
                <a:lnTo>
                  <a:pt x="297159" y="137213"/>
                </a:lnTo>
                <a:cubicBezTo>
                  <a:pt x="259098" y="172972"/>
                  <a:pt x="217024" y="207372"/>
                  <a:pt x="189531" y="252405"/>
                </a:cubicBezTo>
                <a:cubicBezTo>
                  <a:pt x="188216" y="254240"/>
                  <a:pt x="188018" y="256658"/>
                  <a:pt x="189049" y="258675"/>
                </a:cubicBezTo>
                <a:cubicBezTo>
                  <a:pt x="189356" y="259691"/>
                  <a:pt x="189882" y="260620"/>
                  <a:pt x="190605" y="261394"/>
                </a:cubicBezTo>
                <a:cubicBezTo>
                  <a:pt x="181222" y="294369"/>
                  <a:pt x="170325" y="326817"/>
                  <a:pt x="157938" y="358739"/>
                </a:cubicBezTo>
                <a:close/>
                <a:moveTo>
                  <a:pt x="174535" y="355801"/>
                </a:moveTo>
                <a:cubicBezTo>
                  <a:pt x="184927" y="328323"/>
                  <a:pt x="194267" y="300479"/>
                  <a:pt x="202533" y="272269"/>
                </a:cubicBezTo>
                <a:cubicBezTo>
                  <a:pt x="212223" y="280124"/>
                  <a:pt x="222396" y="287379"/>
                  <a:pt x="232964" y="293996"/>
                </a:cubicBezTo>
                <a:cubicBezTo>
                  <a:pt x="212749" y="313844"/>
                  <a:pt x="193281" y="334418"/>
                  <a:pt x="174535" y="355713"/>
                </a:cubicBezTo>
                <a:close/>
                <a:moveTo>
                  <a:pt x="344143" y="348807"/>
                </a:moveTo>
                <a:cubicBezTo>
                  <a:pt x="334847" y="343743"/>
                  <a:pt x="324608" y="340432"/>
                  <a:pt x="316255" y="333460"/>
                </a:cubicBezTo>
                <a:cubicBezTo>
                  <a:pt x="304394" y="323193"/>
                  <a:pt x="291962" y="313631"/>
                  <a:pt x="278983" y="304827"/>
                </a:cubicBezTo>
                <a:cubicBezTo>
                  <a:pt x="253946" y="288581"/>
                  <a:pt x="227351" y="274637"/>
                  <a:pt x="205273" y="254400"/>
                </a:cubicBezTo>
                <a:cubicBezTo>
                  <a:pt x="232701" y="211538"/>
                  <a:pt x="274533" y="178125"/>
                  <a:pt x="311212" y="143637"/>
                </a:cubicBezTo>
                <a:cubicBezTo>
                  <a:pt x="346993" y="110020"/>
                  <a:pt x="382796" y="76401"/>
                  <a:pt x="418643" y="42784"/>
                </a:cubicBezTo>
                <a:cubicBezTo>
                  <a:pt x="385098" y="142442"/>
                  <a:pt x="360170" y="244797"/>
                  <a:pt x="344143" y="348720"/>
                </a:cubicBezTo>
                <a:close/>
                <a:moveTo>
                  <a:pt x="55923" y="163172"/>
                </a:moveTo>
                <a:cubicBezTo>
                  <a:pt x="76620" y="147430"/>
                  <a:pt x="101087" y="137608"/>
                  <a:pt x="124481" y="126668"/>
                </a:cubicBezTo>
                <a:lnTo>
                  <a:pt x="197797" y="92378"/>
                </a:lnTo>
                <a:cubicBezTo>
                  <a:pt x="206238" y="88431"/>
                  <a:pt x="202379" y="74268"/>
                  <a:pt x="193412" y="78434"/>
                </a:cubicBezTo>
                <a:lnTo>
                  <a:pt x="116237" y="114478"/>
                </a:lnTo>
                <a:cubicBezTo>
                  <a:pt x="92954" y="125440"/>
                  <a:pt x="68661" y="135306"/>
                  <a:pt x="48052" y="150960"/>
                </a:cubicBezTo>
                <a:cubicBezTo>
                  <a:pt x="40532" y="156704"/>
                  <a:pt x="48096" y="169114"/>
                  <a:pt x="55923" y="163084"/>
                </a:cubicBezTo>
                <a:close/>
                <a:moveTo>
                  <a:pt x="41760" y="133684"/>
                </a:moveTo>
                <a:cubicBezTo>
                  <a:pt x="60198" y="122794"/>
                  <a:pt x="79119" y="112805"/>
                  <a:pt x="98479" y="103713"/>
                </a:cubicBezTo>
                <a:cubicBezTo>
                  <a:pt x="106919" y="99766"/>
                  <a:pt x="103061" y="85603"/>
                  <a:pt x="94094" y="89791"/>
                </a:cubicBezTo>
                <a:cubicBezTo>
                  <a:pt x="73528" y="99409"/>
                  <a:pt x="53467" y="109990"/>
                  <a:pt x="33889" y="121537"/>
                </a:cubicBezTo>
                <a:cubicBezTo>
                  <a:pt x="25689" y="126339"/>
                  <a:pt x="33341" y="138573"/>
                  <a:pt x="41760" y="133596"/>
                </a:cubicBezTo>
                <a:close/>
              </a:path>
            </a:pathLst>
          </a:custGeom>
          <a:solidFill>
            <a:srgbClr val="2b3547"/>
          </a:solidFill>
          <a:ln w="0">
            <a:noFill/>
          </a:ln>
        </p:spPr>
        <p:style>
          <a:lnRef idx="0"/>
          <a:fillRef idx="0"/>
          <a:effectRef idx="0"/>
          <a:fontRef idx="minor"/>
        </p:style>
      </p:sp>
      <p:sp>
        <p:nvSpPr>
          <p:cNvPr id="162" name="PlaceHolder 3"/>
          <p:cNvSpPr>
            <a:spLocks noGrp="1"/>
          </p:cNvSpPr>
          <p:nvPr>
            <p:ph/>
          </p:nvPr>
        </p:nvSpPr>
        <p:spPr>
          <a:xfrm>
            <a:off x="1188000" y="1307520"/>
            <a:ext cx="6425280" cy="2839320"/>
          </a:xfrm>
          <a:prstGeom prst="rect">
            <a:avLst/>
          </a:prstGeom>
          <a:noFill/>
          <a:ln w="0">
            <a:noFill/>
          </a:ln>
        </p:spPr>
        <p:txBody>
          <a:bodyPr lIns="0" rIns="0" tIns="0" bIns="0" anchor="t">
            <a:noAutofit/>
          </a:bodyPr>
          <a:p>
            <a:pPr marL="432000" indent="-324000">
              <a:lnSpc>
                <a:spcPct val="100000"/>
              </a:lnSpc>
              <a:spcBef>
                <a:spcPts val="1412"/>
              </a:spcBef>
              <a:buClr>
                <a:srgbClr val="000000"/>
              </a:buClr>
              <a:buSzPct val="45000"/>
              <a:buFont typeface="Wingdings" charset="2"/>
              <a:buChar char=""/>
            </a:pPr>
            <a:r>
              <a:rPr b="0" lang="en-US" sz="1800" spc="-1" strike="noStrike">
                <a:solidFill>
                  <a:srgbClr val="2b3547"/>
                </a:solidFill>
                <a:latin typeface="Nunito"/>
                <a:ea typeface="Nunito"/>
              </a:rPr>
              <a:t>Deployment</a:t>
            </a:r>
            <a:endParaRPr b="0" lang="en-US" sz="1800" spc="-1" strike="noStrike">
              <a:latin typeface="Arial"/>
            </a:endParaRPr>
          </a:p>
          <a:p>
            <a:pPr marL="432000" indent="-324000">
              <a:lnSpc>
                <a:spcPct val="100000"/>
              </a:lnSpc>
              <a:spcBef>
                <a:spcPts val="1412"/>
              </a:spcBef>
              <a:buClr>
                <a:srgbClr val="000000"/>
              </a:buClr>
              <a:buSzPct val="45000"/>
              <a:buFont typeface="Wingdings" charset="2"/>
              <a:buChar char=""/>
            </a:pPr>
            <a:r>
              <a:rPr b="1" lang="en-US" sz="1200" spc="-1" strike="noStrike">
                <a:solidFill>
                  <a:srgbClr val="2b3547"/>
                </a:solidFill>
                <a:latin typeface="Nunito"/>
                <a:ea typeface="Nunito"/>
              </a:rPr>
              <a:t>NATS</a:t>
            </a:r>
            <a:r>
              <a:rPr b="0" lang="en-US" sz="1200" spc="-1" strike="noStrike">
                <a:solidFill>
                  <a:srgbClr val="2b3547"/>
                </a:solidFill>
                <a:latin typeface="Nunito"/>
                <a:ea typeface="Nunito"/>
              </a:rPr>
              <a:t>: The NATS network element (server) is </a:t>
            </a:r>
            <a:r>
              <a:rPr b="0" lang="en-US" sz="1200" spc="-1" strike="noStrike" u="sng">
                <a:solidFill>
                  <a:srgbClr val="2b3547"/>
                </a:solidFill>
                <a:uFillTx/>
                <a:latin typeface="Nunito"/>
                <a:ea typeface="Nunito"/>
              </a:rPr>
              <a:t>a small static binary that can be deployed anywhere from large instances</a:t>
            </a:r>
            <a:r>
              <a:rPr b="0" lang="en-US" sz="1200" spc="-1" strike="noStrike">
                <a:solidFill>
                  <a:srgbClr val="2b3547"/>
                </a:solidFill>
                <a:latin typeface="Nunito"/>
                <a:ea typeface="Nunito"/>
              </a:rPr>
              <a:t> in the cloud to resource constrained devices like a Raspberry PI. NATS supports the Adaptive Edge architecture which allows for large, flexible deployments. Single servers, leaf nodes, clusters, and superclusters (cluster of clusters) can be combined in any fashion for an extremely flexible deployment amenable to cloud, on-premise, edge and IoT. Clients are unaware of topology and can connect to any NATS server in a deployment.</a:t>
            </a:r>
            <a:endParaRPr b="0" lang="en-US" sz="1200" spc="-1" strike="noStrike">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 name="PlaceHolder 1"/>
          <p:cNvSpPr>
            <a:spLocks noGrp="1"/>
          </p:cNvSpPr>
          <p:nvPr>
            <p:ph type="title"/>
          </p:nvPr>
        </p:nvSpPr>
        <p:spPr>
          <a:xfrm>
            <a:off x="883080" y="682920"/>
            <a:ext cx="6425280" cy="395280"/>
          </a:xfrm>
          <a:prstGeom prst="rect">
            <a:avLst/>
          </a:prstGeom>
          <a:noFill/>
          <a:ln w="0">
            <a:noFill/>
          </a:ln>
        </p:spPr>
        <p:txBody>
          <a:bodyPr lIns="0" rIns="0" tIns="0" bIns="0" anchor="ctr">
            <a:noAutofit/>
          </a:bodyPr>
          <a:p>
            <a:pPr>
              <a:lnSpc>
                <a:spcPct val="90000"/>
              </a:lnSpc>
              <a:buNone/>
              <a:tabLst>
                <a:tab algn="l" pos="0"/>
              </a:tabLst>
            </a:pPr>
            <a:r>
              <a:rPr b="1" lang="en" sz="3400" spc="-1" strike="noStrike">
                <a:solidFill>
                  <a:srgbClr val="2b3547"/>
                </a:solidFill>
                <a:latin typeface="Amatic SC"/>
                <a:ea typeface="Amatic SC"/>
              </a:rPr>
              <a:t>Compare NATS</a:t>
            </a:r>
            <a:endParaRPr b="0" lang="en-US" sz="3400" spc="-1" strike="noStrike">
              <a:latin typeface="Arial"/>
            </a:endParaRPr>
          </a:p>
        </p:txBody>
      </p:sp>
      <p:sp>
        <p:nvSpPr>
          <p:cNvPr id="164" name="PlaceHolder 2"/>
          <p:cNvSpPr>
            <a:spLocks noGrp="1"/>
          </p:cNvSpPr>
          <p:nvPr>
            <p:ph type="sldNum" idx="18"/>
          </p:nvPr>
        </p:nvSpPr>
        <p:spPr>
          <a:xfrm>
            <a:off x="8403840" y="4692960"/>
            <a:ext cx="547560" cy="299160"/>
          </a:xfrm>
          <a:prstGeom prst="rect">
            <a:avLst/>
          </a:prstGeom>
          <a:noFill/>
          <a:ln w="0">
            <a:noFill/>
          </a:ln>
        </p:spPr>
        <p:txBody>
          <a:bodyPr lIns="0" rIns="0" tIns="0" bIns="0" anchor="ctr">
            <a:noAutofit/>
          </a:bodyPr>
          <a:lstStyle>
            <a:lvl1pPr algn="r">
              <a:lnSpc>
                <a:spcPct val="100000"/>
              </a:lnSpc>
              <a:buNone/>
              <a:tabLst>
                <a:tab algn="l" pos="0"/>
              </a:tabLst>
              <a:defRPr b="1" lang="en" sz="1500" spc="-1" strike="noStrike">
                <a:solidFill>
                  <a:srgbClr val="7f8b91"/>
                </a:solidFill>
                <a:latin typeface="Amatic SC"/>
                <a:ea typeface="Amatic SC"/>
              </a:defRPr>
            </a:lvl1pPr>
          </a:lstStyle>
          <a:p>
            <a:pPr algn="r">
              <a:lnSpc>
                <a:spcPct val="100000"/>
              </a:lnSpc>
              <a:buNone/>
              <a:tabLst>
                <a:tab algn="l" pos="0"/>
              </a:tabLst>
            </a:pPr>
            <a:fld id="{7182FB94-35A0-451F-9363-D883CD3791C1}" type="slidenum">
              <a:rPr b="1" lang="en" sz="1500" spc="-1" strike="noStrike">
                <a:solidFill>
                  <a:srgbClr val="7f8b91"/>
                </a:solidFill>
                <a:latin typeface="Amatic SC"/>
                <a:ea typeface="Amatic SC"/>
              </a:rPr>
              <a:t>&lt;number&gt;</a:t>
            </a:fld>
            <a:endParaRPr b="0" lang="en-US" sz="1500" spc="-1" strike="noStrike">
              <a:latin typeface="Times New Roman"/>
            </a:endParaRPr>
          </a:p>
        </p:txBody>
      </p:sp>
      <p:sp>
        <p:nvSpPr>
          <p:cNvPr id="165" name="Google Shape;228;p 25"/>
          <p:cNvSpPr/>
          <p:nvPr/>
        </p:nvSpPr>
        <p:spPr>
          <a:xfrm>
            <a:off x="7648200" y="3814560"/>
            <a:ext cx="936720" cy="834120"/>
          </a:xfrm>
          <a:custGeom>
            <a:avLst/>
            <a:gdLst/>
            <a:ahLst/>
            <a:rect l="l" t="t" r="r" b="b"/>
            <a:pathLst>
              <a:path w="444359" h="395938">
                <a:moveTo>
                  <a:pt x="135136" y="205311"/>
                </a:moveTo>
                <a:lnTo>
                  <a:pt x="101482" y="200356"/>
                </a:lnTo>
                <a:cubicBezTo>
                  <a:pt x="92405" y="199041"/>
                  <a:pt x="88788" y="213642"/>
                  <a:pt x="98347" y="215046"/>
                </a:cubicBezTo>
                <a:lnTo>
                  <a:pt x="132067" y="220001"/>
                </a:lnTo>
                <a:cubicBezTo>
                  <a:pt x="141056" y="221316"/>
                  <a:pt x="144673" y="206714"/>
                  <a:pt x="135136" y="205311"/>
                </a:cubicBezTo>
                <a:close/>
                <a:moveTo>
                  <a:pt x="293388" y="291650"/>
                </a:moveTo>
                <a:cubicBezTo>
                  <a:pt x="292554" y="295482"/>
                  <a:pt x="294966" y="299271"/>
                  <a:pt x="298803" y="300115"/>
                </a:cubicBezTo>
                <a:cubicBezTo>
                  <a:pt x="298869" y="300130"/>
                  <a:pt x="298935" y="300144"/>
                  <a:pt x="299001" y="300157"/>
                </a:cubicBezTo>
                <a:cubicBezTo>
                  <a:pt x="299373" y="300157"/>
                  <a:pt x="300711" y="300157"/>
                  <a:pt x="300930" y="300551"/>
                </a:cubicBezTo>
                <a:cubicBezTo>
                  <a:pt x="299921" y="300222"/>
                  <a:pt x="299790" y="300201"/>
                  <a:pt x="300535" y="300551"/>
                </a:cubicBezTo>
                <a:cubicBezTo>
                  <a:pt x="301280" y="300902"/>
                  <a:pt x="301456" y="300924"/>
                  <a:pt x="302267" y="301297"/>
                </a:cubicBezTo>
                <a:lnTo>
                  <a:pt x="302377" y="301297"/>
                </a:lnTo>
                <a:cubicBezTo>
                  <a:pt x="309919" y="308335"/>
                  <a:pt x="320267" y="297416"/>
                  <a:pt x="313142" y="290335"/>
                </a:cubicBezTo>
                <a:cubicBezTo>
                  <a:pt x="307573" y="285621"/>
                  <a:pt x="295756" y="281894"/>
                  <a:pt x="293388" y="291650"/>
                </a:cubicBezTo>
                <a:close/>
                <a:moveTo>
                  <a:pt x="285999" y="274110"/>
                </a:moveTo>
                <a:cubicBezTo>
                  <a:pt x="269973" y="263589"/>
                  <a:pt x="253310" y="254069"/>
                  <a:pt x="236099" y="245608"/>
                </a:cubicBezTo>
                <a:cubicBezTo>
                  <a:pt x="227833" y="241530"/>
                  <a:pt x="220752" y="255014"/>
                  <a:pt x="229346" y="259180"/>
                </a:cubicBezTo>
                <a:cubicBezTo>
                  <a:pt x="245439" y="267053"/>
                  <a:pt x="261027" y="275919"/>
                  <a:pt x="276002" y="285730"/>
                </a:cubicBezTo>
                <a:cubicBezTo>
                  <a:pt x="283697" y="290576"/>
                  <a:pt x="293738" y="279109"/>
                  <a:pt x="285999" y="274023"/>
                </a:cubicBezTo>
                <a:close/>
                <a:moveTo>
                  <a:pt x="433354" y="1544"/>
                </a:moveTo>
                <a:cubicBezTo>
                  <a:pt x="431162" y="3057"/>
                  <a:pt x="428970" y="4482"/>
                  <a:pt x="426908" y="5929"/>
                </a:cubicBezTo>
                <a:cubicBezTo>
                  <a:pt x="425220" y="5833"/>
                  <a:pt x="423554" y="6381"/>
                  <a:pt x="422239" y="7464"/>
                </a:cubicBezTo>
                <a:cubicBezTo>
                  <a:pt x="417854" y="10840"/>
                  <a:pt x="413469" y="14261"/>
                  <a:pt x="408952" y="17659"/>
                </a:cubicBezTo>
                <a:cubicBezTo>
                  <a:pt x="315904" y="75803"/>
                  <a:pt x="209197" y="106563"/>
                  <a:pt x="111195" y="154928"/>
                </a:cubicBezTo>
                <a:cubicBezTo>
                  <a:pt x="93853" y="163501"/>
                  <a:pt x="76773" y="172622"/>
                  <a:pt x="60089" y="182400"/>
                </a:cubicBezTo>
                <a:cubicBezTo>
                  <a:pt x="42549" y="192748"/>
                  <a:pt x="25141" y="203184"/>
                  <a:pt x="5146" y="208249"/>
                </a:cubicBezTo>
                <a:cubicBezTo>
                  <a:pt x="-1804" y="210003"/>
                  <a:pt x="-1147" y="218532"/>
                  <a:pt x="3743" y="221404"/>
                </a:cubicBezTo>
                <a:cubicBezTo>
                  <a:pt x="4707" y="222430"/>
                  <a:pt x="5979" y="223140"/>
                  <a:pt x="7360" y="223443"/>
                </a:cubicBezTo>
                <a:cubicBezTo>
                  <a:pt x="52371" y="234230"/>
                  <a:pt x="97777" y="242999"/>
                  <a:pt x="143621" y="249752"/>
                </a:cubicBezTo>
                <a:lnTo>
                  <a:pt x="143117" y="384961"/>
                </a:lnTo>
                <a:cubicBezTo>
                  <a:pt x="142854" y="387829"/>
                  <a:pt x="144717" y="390464"/>
                  <a:pt x="147502" y="391166"/>
                </a:cubicBezTo>
                <a:cubicBezTo>
                  <a:pt x="148620" y="393251"/>
                  <a:pt x="150615" y="394717"/>
                  <a:pt x="152939" y="395156"/>
                </a:cubicBezTo>
                <a:cubicBezTo>
                  <a:pt x="155855" y="396721"/>
                  <a:pt x="159473" y="395875"/>
                  <a:pt x="161402" y="393183"/>
                </a:cubicBezTo>
                <a:cubicBezTo>
                  <a:pt x="187777" y="361278"/>
                  <a:pt x="215797" y="330777"/>
                  <a:pt x="245351" y="301801"/>
                </a:cubicBezTo>
                <a:cubicBezTo>
                  <a:pt x="266464" y="313914"/>
                  <a:pt x="286394" y="328001"/>
                  <a:pt x="304854" y="343874"/>
                </a:cubicBezTo>
                <a:cubicBezTo>
                  <a:pt x="316496" y="353850"/>
                  <a:pt x="331712" y="356854"/>
                  <a:pt x="343266" y="366413"/>
                </a:cubicBezTo>
                <a:cubicBezTo>
                  <a:pt x="346533" y="371170"/>
                  <a:pt x="355500" y="370798"/>
                  <a:pt x="356553" y="363519"/>
                </a:cubicBezTo>
                <a:cubicBezTo>
                  <a:pt x="373083" y="243175"/>
                  <a:pt x="405510" y="125528"/>
                  <a:pt x="443593" y="10753"/>
                </a:cubicBezTo>
                <a:cubicBezTo>
                  <a:pt x="446618" y="4679"/>
                  <a:pt x="440173" y="-3323"/>
                  <a:pt x="433354" y="1457"/>
                </a:cubicBezTo>
                <a:close/>
                <a:moveTo>
                  <a:pt x="144959" y="232695"/>
                </a:moveTo>
                <a:cubicBezTo>
                  <a:pt x="144345" y="233234"/>
                  <a:pt x="143819" y="233863"/>
                  <a:pt x="143380" y="234558"/>
                </a:cubicBezTo>
                <a:cubicBezTo>
                  <a:pt x="106218" y="229033"/>
                  <a:pt x="69319" y="222164"/>
                  <a:pt x="32639" y="213949"/>
                </a:cubicBezTo>
                <a:cubicBezTo>
                  <a:pt x="52744" y="204895"/>
                  <a:pt x="71358" y="192134"/>
                  <a:pt x="90652" y="181720"/>
                </a:cubicBezTo>
                <a:cubicBezTo>
                  <a:pt x="170610" y="138682"/>
                  <a:pt x="257497" y="110816"/>
                  <a:pt x="339320" y="71856"/>
                </a:cubicBezTo>
                <a:cubicBezTo>
                  <a:pt x="273370" y="123978"/>
                  <a:pt x="208584" y="177592"/>
                  <a:pt x="144959" y="232695"/>
                </a:cubicBezTo>
                <a:close/>
                <a:moveTo>
                  <a:pt x="157938" y="358827"/>
                </a:moveTo>
                <a:lnTo>
                  <a:pt x="158376" y="242429"/>
                </a:lnTo>
                <a:cubicBezTo>
                  <a:pt x="158376" y="241688"/>
                  <a:pt x="158267" y="240949"/>
                  <a:pt x="158070" y="240237"/>
                </a:cubicBezTo>
                <a:cubicBezTo>
                  <a:pt x="232788" y="175691"/>
                  <a:pt x="309152" y="113147"/>
                  <a:pt x="387181" y="52607"/>
                </a:cubicBezTo>
                <a:lnTo>
                  <a:pt x="297159" y="137213"/>
                </a:lnTo>
                <a:cubicBezTo>
                  <a:pt x="259098" y="172972"/>
                  <a:pt x="217024" y="207372"/>
                  <a:pt x="189531" y="252405"/>
                </a:cubicBezTo>
                <a:cubicBezTo>
                  <a:pt x="188216" y="254240"/>
                  <a:pt x="188018" y="256658"/>
                  <a:pt x="189049" y="258675"/>
                </a:cubicBezTo>
                <a:cubicBezTo>
                  <a:pt x="189356" y="259691"/>
                  <a:pt x="189882" y="260620"/>
                  <a:pt x="190605" y="261394"/>
                </a:cubicBezTo>
                <a:cubicBezTo>
                  <a:pt x="181222" y="294369"/>
                  <a:pt x="170325" y="326817"/>
                  <a:pt x="157938" y="358739"/>
                </a:cubicBezTo>
                <a:close/>
                <a:moveTo>
                  <a:pt x="174535" y="355801"/>
                </a:moveTo>
                <a:cubicBezTo>
                  <a:pt x="184927" y="328323"/>
                  <a:pt x="194267" y="300479"/>
                  <a:pt x="202533" y="272269"/>
                </a:cubicBezTo>
                <a:cubicBezTo>
                  <a:pt x="212223" y="280124"/>
                  <a:pt x="222396" y="287379"/>
                  <a:pt x="232964" y="293996"/>
                </a:cubicBezTo>
                <a:cubicBezTo>
                  <a:pt x="212749" y="313844"/>
                  <a:pt x="193281" y="334418"/>
                  <a:pt x="174535" y="355713"/>
                </a:cubicBezTo>
                <a:close/>
                <a:moveTo>
                  <a:pt x="344143" y="348807"/>
                </a:moveTo>
                <a:cubicBezTo>
                  <a:pt x="334847" y="343743"/>
                  <a:pt x="324608" y="340432"/>
                  <a:pt x="316255" y="333460"/>
                </a:cubicBezTo>
                <a:cubicBezTo>
                  <a:pt x="304394" y="323193"/>
                  <a:pt x="291962" y="313631"/>
                  <a:pt x="278983" y="304827"/>
                </a:cubicBezTo>
                <a:cubicBezTo>
                  <a:pt x="253946" y="288581"/>
                  <a:pt x="227351" y="274637"/>
                  <a:pt x="205273" y="254400"/>
                </a:cubicBezTo>
                <a:cubicBezTo>
                  <a:pt x="232701" y="211538"/>
                  <a:pt x="274533" y="178125"/>
                  <a:pt x="311212" y="143637"/>
                </a:cubicBezTo>
                <a:cubicBezTo>
                  <a:pt x="346993" y="110020"/>
                  <a:pt x="382796" y="76401"/>
                  <a:pt x="418643" y="42784"/>
                </a:cubicBezTo>
                <a:cubicBezTo>
                  <a:pt x="385098" y="142442"/>
                  <a:pt x="360170" y="244797"/>
                  <a:pt x="344143" y="348720"/>
                </a:cubicBezTo>
                <a:close/>
                <a:moveTo>
                  <a:pt x="55923" y="163172"/>
                </a:moveTo>
                <a:cubicBezTo>
                  <a:pt x="76620" y="147430"/>
                  <a:pt x="101087" y="137608"/>
                  <a:pt x="124481" y="126668"/>
                </a:cubicBezTo>
                <a:lnTo>
                  <a:pt x="197797" y="92378"/>
                </a:lnTo>
                <a:cubicBezTo>
                  <a:pt x="206238" y="88431"/>
                  <a:pt x="202379" y="74268"/>
                  <a:pt x="193412" y="78434"/>
                </a:cubicBezTo>
                <a:lnTo>
                  <a:pt x="116237" y="114478"/>
                </a:lnTo>
                <a:cubicBezTo>
                  <a:pt x="92954" y="125440"/>
                  <a:pt x="68661" y="135306"/>
                  <a:pt x="48052" y="150960"/>
                </a:cubicBezTo>
                <a:cubicBezTo>
                  <a:pt x="40532" y="156704"/>
                  <a:pt x="48096" y="169114"/>
                  <a:pt x="55923" y="163084"/>
                </a:cubicBezTo>
                <a:close/>
                <a:moveTo>
                  <a:pt x="41760" y="133684"/>
                </a:moveTo>
                <a:cubicBezTo>
                  <a:pt x="60198" y="122794"/>
                  <a:pt x="79119" y="112805"/>
                  <a:pt x="98479" y="103713"/>
                </a:cubicBezTo>
                <a:cubicBezTo>
                  <a:pt x="106919" y="99766"/>
                  <a:pt x="103061" y="85603"/>
                  <a:pt x="94094" y="89791"/>
                </a:cubicBezTo>
                <a:cubicBezTo>
                  <a:pt x="73528" y="99409"/>
                  <a:pt x="53467" y="109990"/>
                  <a:pt x="33889" y="121537"/>
                </a:cubicBezTo>
                <a:cubicBezTo>
                  <a:pt x="25689" y="126339"/>
                  <a:pt x="33341" y="138573"/>
                  <a:pt x="41760" y="133596"/>
                </a:cubicBezTo>
                <a:close/>
              </a:path>
            </a:pathLst>
          </a:custGeom>
          <a:solidFill>
            <a:srgbClr val="2b3547"/>
          </a:solidFill>
          <a:ln w="0">
            <a:noFill/>
          </a:ln>
        </p:spPr>
        <p:style>
          <a:lnRef idx="0"/>
          <a:fillRef idx="0"/>
          <a:effectRef idx="0"/>
          <a:fontRef idx="minor"/>
        </p:style>
      </p:sp>
      <p:sp>
        <p:nvSpPr>
          <p:cNvPr id="166" name="PlaceHolder 3"/>
          <p:cNvSpPr>
            <a:spLocks noGrp="1"/>
          </p:cNvSpPr>
          <p:nvPr>
            <p:ph/>
          </p:nvPr>
        </p:nvSpPr>
        <p:spPr>
          <a:xfrm>
            <a:off x="1188000" y="1307520"/>
            <a:ext cx="6425280" cy="2839320"/>
          </a:xfrm>
          <a:prstGeom prst="rect">
            <a:avLst/>
          </a:prstGeom>
          <a:noFill/>
          <a:ln w="0">
            <a:noFill/>
          </a:ln>
        </p:spPr>
        <p:txBody>
          <a:bodyPr lIns="0" rIns="0" tIns="0" bIns="0" anchor="t">
            <a:noAutofit/>
          </a:bodyPr>
          <a:p>
            <a:pPr marL="432000" indent="-324000">
              <a:lnSpc>
                <a:spcPct val="100000"/>
              </a:lnSpc>
              <a:spcBef>
                <a:spcPts val="1412"/>
              </a:spcBef>
              <a:buClr>
                <a:srgbClr val="000000"/>
              </a:buClr>
              <a:buSzPct val="45000"/>
              <a:buFont typeface="Wingdings" charset="2"/>
              <a:buChar char=""/>
            </a:pPr>
            <a:r>
              <a:rPr b="0" lang="en-US" sz="1800" spc="-1" strike="noStrike">
                <a:solidFill>
                  <a:srgbClr val="2b3547"/>
                </a:solidFill>
                <a:latin typeface="Nunito"/>
                <a:ea typeface="Nunito"/>
              </a:rPr>
              <a:t>Deployment</a:t>
            </a:r>
            <a:endParaRPr b="0" lang="en-US" sz="1800" spc="-1" strike="noStrike">
              <a:latin typeface="Arial"/>
            </a:endParaRPr>
          </a:p>
          <a:p>
            <a:pPr marL="432000" indent="-324000">
              <a:lnSpc>
                <a:spcPct val="100000"/>
              </a:lnSpc>
              <a:spcBef>
                <a:spcPts val="1412"/>
              </a:spcBef>
              <a:buClr>
                <a:srgbClr val="000000"/>
              </a:buClr>
              <a:buSzPct val="45000"/>
              <a:buFont typeface="Wingdings" charset="2"/>
              <a:buChar char=""/>
            </a:pPr>
            <a:r>
              <a:rPr b="1" lang="en-US" sz="1200" spc="-1" strike="noStrike">
                <a:solidFill>
                  <a:srgbClr val="2b3547"/>
                </a:solidFill>
                <a:latin typeface="Nunito"/>
                <a:ea typeface="Nunito"/>
              </a:rPr>
              <a:t>Kafka</a:t>
            </a:r>
            <a:r>
              <a:rPr b="0" lang="en-US" sz="1200" spc="-1" strike="noStrike">
                <a:solidFill>
                  <a:srgbClr val="2b3547"/>
                </a:solidFill>
                <a:latin typeface="Nunito"/>
                <a:ea typeface="Nunito"/>
              </a:rPr>
              <a:t>: Kafka supports clustering with mirroring to loosely coupled remote clusters. Clients are tied to partitions defined within clusters. Kafka servers require a JVM, eight cores, 64 GB to128 GB of RAM, two or more 8-TB SAS/SSD disks, and a 10-Gig NIC.</a:t>
            </a:r>
            <a:endParaRPr b="0" lang="en-US" sz="1200" spc="-1" strike="noStrike">
              <a:latin typeface="Arial"/>
            </a:endParaRPr>
          </a:p>
          <a:p>
            <a:pPr marL="432000" indent="-324000">
              <a:lnSpc>
                <a:spcPct val="100000"/>
              </a:lnSpc>
              <a:spcBef>
                <a:spcPts val="1412"/>
              </a:spcBef>
              <a:buClr>
                <a:srgbClr val="000000"/>
              </a:buClr>
              <a:buSzPct val="45000"/>
              <a:buFont typeface="Wingdings" charset="2"/>
              <a:buChar char=""/>
            </a:pPr>
            <a:r>
              <a:rPr b="1" lang="en-US" sz="1200" spc="-1" strike="noStrike">
                <a:solidFill>
                  <a:srgbClr val="2b3547"/>
                </a:solidFill>
                <a:latin typeface="Nunito"/>
                <a:ea typeface="Nunito"/>
              </a:rPr>
              <a:t>Rabbit</a:t>
            </a:r>
            <a:r>
              <a:rPr b="0" lang="en-US" sz="1200" spc="-1" strike="noStrike">
                <a:solidFill>
                  <a:srgbClr val="2b3547"/>
                </a:solidFill>
                <a:latin typeface="Nunito"/>
                <a:ea typeface="Nunito"/>
              </a:rPr>
              <a:t>: Rabbit supports clusters and cross-cluster message propagation through a federation plugin. Clients are unaware of topology and may connect to any cluster. The server requires the Erlang VM and dependencies.</a:t>
            </a:r>
            <a:endParaRPr b="0" lang="en-US" sz="1200" spc="-1" strike="noStrike">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7" name="PlaceHolder 1"/>
          <p:cNvSpPr>
            <a:spLocks noGrp="1"/>
          </p:cNvSpPr>
          <p:nvPr>
            <p:ph type="title"/>
          </p:nvPr>
        </p:nvSpPr>
        <p:spPr>
          <a:xfrm>
            <a:off x="883080" y="682920"/>
            <a:ext cx="6425280" cy="395280"/>
          </a:xfrm>
          <a:prstGeom prst="rect">
            <a:avLst/>
          </a:prstGeom>
          <a:noFill/>
          <a:ln w="0">
            <a:noFill/>
          </a:ln>
        </p:spPr>
        <p:txBody>
          <a:bodyPr lIns="0" rIns="0" tIns="0" bIns="0" anchor="ctr">
            <a:noAutofit/>
          </a:bodyPr>
          <a:p>
            <a:pPr>
              <a:lnSpc>
                <a:spcPct val="90000"/>
              </a:lnSpc>
              <a:buNone/>
              <a:tabLst>
                <a:tab algn="l" pos="0"/>
              </a:tabLst>
            </a:pPr>
            <a:r>
              <a:rPr b="1" lang="en" sz="3400" spc="-1" strike="noStrike">
                <a:solidFill>
                  <a:srgbClr val="2b3547"/>
                </a:solidFill>
                <a:latin typeface="Amatic SC"/>
                <a:ea typeface="Amatic SC"/>
              </a:rPr>
              <a:t>Compare NATS</a:t>
            </a:r>
            <a:endParaRPr b="0" lang="en-US" sz="3400" spc="-1" strike="noStrike">
              <a:latin typeface="Arial"/>
            </a:endParaRPr>
          </a:p>
        </p:txBody>
      </p:sp>
      <p:sp>
        <p:nvSpPr>
          <p:cNvPr id="168" name="PlaceHolder 2"/>
          <p:cNvSpPr>
            <a:spLocks noGrp="1"/>
          </p:cNvSpPr>
          <p:nvPr>
            <p:ph type="sldNum" idx="19"/>
          </p:nvPr>
        </p:nvSpPr>
        <p:spPr>
          <a:xfrm>
            <a:off x="8403840" y="4692960"/>
            <a:ext cx="547560" cy="299160"/>
          </a:xfrm>
          <a:prstGeom prst="rect">
            <a:avLst/>
          </a:prstGeom>
          <a:noFill/>
          <a:ln w="0">
            <a:noFill/>
          </a:ln>
        </p:spPr>
        <p:txBody>
          <a:bodyPr lIns="0" rIns="0" tIns="0" bIns="0" anchor="ctr">
            <a:noAutofit/>
          </a:bodyPr>
          <a:lstStyle>
            <a:lvl1pPr algn="r">
              <a:lnSpc>
                <a:spcPct val="100000"/>
              </a:lnSpc>
              <a:buNone/>
              <a:tabLst>
                <a:tab algn="l" pos="0"/>
              </a:tabLst>
              <a:defRPr b="1" lang="en" sz="1500" spc="-1" strike="noStrike">
                <a:solidFill>
                  <a:srgbClr val="7f8b91"/>
                </a:solidFill>
                <a:latin typeface="Amatic SC"/>
                <a:ea typeface="Amatic SC"/>
              </a:defRPr>
            </a:lvl1pPr>
          </a:lstStyle>
          <a:p>
            <a:pPr algn="r">
              <a:lnSpc>
                <a:spcPct val="100000"/>
              </a:lnSpc>
              <a:buNone/>
              <a:tabLst>
                <a:tab algn="l" pos="0"/>
              </a:tabLst>
            </a:pPr>
            <a:fld id="{90936728-7E70-4F96-B45A-D67BA534EF90}" type="slidenum">
              <a:rPr b="1" lang="en" sz="1500" spc="-1" strike="noStrike">
                <a:solidFill>
                  <a:srgbClr val="7f8b91"/>
                </a:solidFill>
                <a:latin typeface="Amatic SC"/>
                <a:ea typeface="Amatic SC"/>
              </a:rPr>
              <a:t>&lt;number&gt;</a:t>
            </a:fld>
            <a:endParaRPr b="0" lang="en-US" sz="1500" spc="-1" strike="noStrike">
              <a:latin typeface="Times New Roman"/>
            </a:endParaRPr>
          </a:p>
        </p:txBody>
      </p:sp>
      <p:sp>
        <p:nvSpPr>
          <p:cNvPr id="169" name="Google Shape;228;p 16"/>
          <p:cNvSpPr/>
          <p:nvPr/>
        </p:nvSpPr>
        <p:spPr>
          <a:xfrm>
            <a:off x="7648200" y="3814560"/>
            <a:ext cx="936720" cy="834120"/>
          </a:xfrm>
          <a:custGeom>
            <a:avLst/>
            <a:gdLst/>
            <a:ahLst/>
            <a:rect l="l" t="t" r="r" b="b"/>
            <a:pathLst>
              <a:path w="444359" h="395938">
                <a:moveTo>
                  <a:pt x="135136" y="205311"/>
                </a:moveTo>
                <a:lnTo>
                  <a:pt x="101482" y="200356"/>
                </a:lnTo>
                <a:cubicBezTo>
                  <a:pt x="92405" y="199041"/>
                  <a:pt x="88788" y="213642"/>
                  <a:pt x="98347" y="215046"/>
                </a:cubicBezTo>
                <a:lnTo>
                  <a:pt x="132067" y="220001"/>
                </a:lnTo>
                <a:cubicBezTo>
                  <a:pt x="141056" y="221316"/>
                  <a:pt x="144673" y="206714"/>
                  <a:pt x="135136" y="205311"/>
                </a:cubicBezTo>
                <a:close/>
                <a:moveTo>
                  <a:pt x="293388" y="291650"/>
                </a:moveTo>
                <a:cubicBezTo>
                  <a:pt x="292554" y="295482"/>
                  <a:pt x="294966" y="299271"/>
                  <a:pt x="298803" y="300115"/>
                </a:cubicBezTo>
                <a:cubicBezTo>
                  <a:pt x="298869" y="300130"/>
                  <a:pt x="298935" y="300144"/>
                  <a:pt x="299001" y="300157"/>
                </a:cubicBezTo>
                <a:cubicBezTo>
                  <a:pt x="299373" y="300157"/>
                  <a:pt x="300711" y="300157"/>
                  <a:pt x="300930" y="300551"/>
                </a:cubicBezTo>
                <a:cubicBezTo>
                  <a:pt x="299921" y="300222"/>
                  <a:pt x="299790" y="300201"/>
                  <a:pt x="300535" y="300551"/>
                </a:cubicBezTo>
                <a:cubicBezTo>
                  <a:pt x="301280" y="300902"/>
                  <a:pt x="301456" y="300924"/>
                  <a:pt x="302267" y="301297"/>
                </a:cubicBezTo>
                <a:lnTo>
                  <a:pt x="302377" y="301297"/>
                </a:lnTo>
                <a:cubicBezTo>
                  <a:pt x="309919" y="308335"/>
                  <a:pt x="320267" y="297416"/>
                  <a:pt x="313142" y="290335"/>
                </a:cubicBezTo>
                <a:cubicBezTo>
                  <a:pt x="307573" y="285621"/>
                  <a:pt x="295756" y="281894"/>
                  <a:pt x="293388" y="291650"/>
                </a:cubicBezTo>
                <a:close/>
                <a:moveTo>
                  <a:pt x="285999" y="274110"/>
                </a:moveTo>
                <a:cubicBezTo>
                  <a:pt x="269973" y="263589"/>
                  <a:pt x="253310" y="254069"/>
                  <a:pt x="236099" y="245608"/>
                </a:cubicBezTo>
                <a:cubicBezTo>
                  <a:pt x="227833" y="241530"/>
                  <a:pt x="220752" y="255014"/>
                  <a:pt x="229346" y="259180"/>
                </a:cubicBezTo>
                <a:cubicBezTo>
                  <a:pt x="245439" y="267053"/>
                  <a:pt x="261027" y="275919"/>
                  <a:pt x="276002" y="285730"/>
                </a:cubicBezTo>
                <a:cubicBezTo>
                  <a:pt x="283697" y="290576"/>
                  <a:pt x="293738" y="279109"/>
                  <a:pt x="285999" y="274023"/>
                </a:cubicBezTo>
                <a:close/>
                <a:moveTo>
                  <a:pt x="433354" y="1544"/>
                </a:moveTo>
                <a:cubicBezTo>
                  <a:pt x="431162" y="3057"/>
                  <a:pt x="428970" y="4482"/>
                  <a:pt x="426908" y="5929"/>
                </a:cubicBezTo>
                <a:cubicBezTo>
                  <a:pt x="425220" y="5833"/>
                  <a:pt x="423554" y="6381"/>
                  <a:pt x="422239" y="7464"/>
                </a:cubicBezTo>
                <a:cubicBezTo>
                  <a:pt x="417854" y="10840"/>
                  <a:pt x="413469" y="14261"/>
                  <a:pt x="408952" y="17659"/>
                </a:cubicBezTo>
                <a:cubicBezTo>
                  <a:pt x="315904" y="75803"/>
                  <a:pt x="209197" y="106563"/>
                  <a:pt x="111195" y="154928"/>
                </a:cubicBezTo>
                <a:cubicBezTo>
                  <a:pt x="93853" y="163501"/>
                  <a:pt x="76773" y="172622"/>
                  <a:pt x="60089" y="182400"/>
                </a:cubicBezTo>
                <a:cubicBezTo>
                  <a:pt x="42549" y="192748"/>
                  <a:pt x="25141" y="203184"/>
                  <a:pt x="5146" y="208249"/>
                </a:cubicBezTo>
                <a:cubicBezTo>
                  <a:pt x="-1804" y="210003"/>
                  <a:pt x="-1147" y="218532"/>
                  <a:pt x="3743" y="221404"/>
                </a:cubicBezTo>
                <a:cubicBezTo>
                  <a:pt x="4707" y="222430"/>
                  <a:pt x="5979" y="223140"/>
                  <a:pt x="7360" y="223443"/>
                </a:cubicBezTo>
                <a:cubicBezTo>
                  <a:pt x="52371" y="234230"/>
                  <a:pt x="97777" y="242999"/>
                  <a:pt x="143621" y="249752"/>
                </a:cubicBezTo>
                <a:lnTo>
                  <a:pt x="143117" y="384961"/>
                </a:lnTo>
                <a:cubicBezTo>
                  <a:pt x="142854" y="387829"/>
                  <a:pt x="144717" y="390464"/>
                  <a:pt x="147502" y="391166"/>
                </a:cubicBezTo>
                <a:cubicBezTo>
                  <a:pt x="148620" y="393251"/>
                  <a:pt x="150615" y="394717"/>
                  <a:pt x="152939" y="395156"/>
                </a:cubicBezTo>
                <a:cubicBezTo>
                  <a:pt x="155855" y="396721"/>
                  <a:pt x="159473" y="395875"/>
                  <a:pt x="161402" y="393183"/>
                </a:cubicBezTo>
                <a:cubicBezTo>
                  <a:pt x="187777" y="361278"/>
                  <a:pt x="215797" y="330777"/>
                  <a:pt x="245351" y="301801"/>
                </a:cubicBezTo>
                <a:cubicBezTo>
                  <a:pt x="266464" y="313914"/>
                  <a:pt x="286394" y="328001"/>
                  <a:pt x="304854" y="343874"/>
                </a:cubicBezTo>
                <a:cubicBezTo>
                  <a:pt x="316496" y="353850"/>
                  <a:pt x="331712" y="356854"/>
                  <a:pt x="343266" y="366413"/>
                </a:cubicBezTo>
                <a:cubicBezTo>
                  <a:pt x="346533" y="371170"/>
                  <a:pt x="355500" y="370798"/>
                  <a:pt x="356553" y="363519"/>
                </a:cubicBezTo>
                <a:cubicBezTo>
                  <a:pt x="373083" y="243175"/>
                  <a:pt x="405510" y="125528"/>
                  <a:pt x="443593" y="10753"/>
                </a:cubicBezTo>
                <a:cubicBezTo>
                  <a:pt x="446618" y="4679"/>
                  <a:pt x="440173" y="-3323"/>
                  <a:pt x="433354" y="1457"/>
                </a:cubicBezTo>
                <a:close/>
                <a:moveTo>
                  <a:pt x="144959" y="232695"/>
                </a:moveTo>
                <a:cubicBezTo>
                  <a:pt x="144345" y="233234"/>
                  <a:pt x="143819" y="233863"/>
                  <a:pt x="143380" y="234558"/>
                </a:cubicBezTo>
                <a:cubicBezTo>
                  <a:pt x="106218" y="229033"/>
                  <a:pt x="69319" y="222164"/>
                  <a:pt x="32639" y="213949"/>
                </a:cubicBezTo>
                <a:cubicBezTo>
                  <a:pt x="52744" y="204895"/>
                  <a:pt x="71358" y="192134"/>
                  <a:pt x="90652" y="181720"/>
                </a:cubicBezTo>
                <a:cubicBezTo>
                  <a:pt x="170610" y="138682"/>
                  <a:pt x="257497" y="110816"/>
                  <a:pt x="339320" y="71856"/>
                </a:cubicBezTo>
                <a:cubicBezTo>
                  <a:pt x="273370" y="123978"/>
                  <a:pt x="208584" y="177592"/>
                  <a:pt x="144959" y="232695"/>
                </a:cubicBezTo>
                <a:close/>
                <a:moveTo>
                  <a:pt x="157938" y="358827"/>
                </a:moveTo>
                <a:lnTo>
                  <a:pt x="158376" y="242429"/>
                </a:lnTo>
                <a:cubicBezTo>
                  <a:pt x="158376" y="241688"/>
                  <a:pt x="158267" y="240949"/>
                  <a:pt x="158070" y="240237"/>
                </a:cubicBezTo>
                <a:cubicBezTo>
                  <a:pt x="232788" y="175691"/>
                  <a:pt x="309152" y="113147"/>
                  <a:pt x="387181" y="52607"/>
                </a:cubicBezTo>
                <a:lnTo>
                  <a:pt x="297159" y="137213"/>
                </a:lnTo>
                <a:cubicBezTo>
                  <a:pt x="259098" y="172972"/>
                  <a:pt x="217024" y="207372"/>
                  <a:pt x="189531" y="252405"/>
                </a:cubicBezTo>
                <a:cubicBezTo>
                  <a:pt x="188216" y="254240"/>
                  <a:pt x="188018" y="256658"/>
                  <a:pt x="189049" y="258675"/>
                </a:cubicBezTo>
                <a:cubicBezTo>
                  <a:pt x="189356" y="259691"/>
                  <a:pt x="189882" y="260620"/>
                  <a:pt x="190605" y="261394"/>
                </a:cubicBezTo>
                <a:cubicBezTo>
                  <a:pt x="181222" y="294369"/>
                  <a:pt x="170325" y="326817"/>
                  <a:pt x="157938" y="358739"/>
                </a:cubicBezTo>
                <a:close/>
                <a:moveTo>
                  <a:pt x="174535" y="355801"/>
                </a:moveTo>
                <a:cubicBezTo>
                  <a:pt x="184927" y="328323"/>
                  <a:pt x="194267" y="300479"/>
                  <a:pt x="202533" y="272269"/>
                </a:cubicBezTo>
                <a:cubicBezTo>
                  <a:pt x="212223" y="280124"/>
                  <a:pt x="222396" y="287379"/>
                  <a:pt x="232964" y="293996"/>
                </a:cubicBezTo>
                <a:cubicBezTo>
                  <a:pt x="212749" y="313844"/>
                  <a:pt x="193281" y="334418"/>
                  <a:pt x="174535" y="355713"/>
                </a:cubicBezTo>
                <a:close/>
                <a:moveTo>
                  <a:pt x="344143" y="348807"/>
                </a:moveTo>
                <a:cubicBezTo>
                  <a:pt x="334847" y="343743"/>
                  <a:pt x="324608" y="340432"/>
                  <a:pt x="316255" y="333460"/>
                </a:cubicBezTo>
                <a:cubicBezTo>
                  <a:pt x="304394" y="323193"/>
                  <a:pt x="291962" y="313631"/>
                  <a:pt x="278983" y="304827"/>
                </a:cubicBezTo>
                <a:cubicBezTo>
                  <a:pt x="253946" y="288581"/>
                  <a:pt x="227351" y="274637"/>
                  <a:pt x="205273" y="254400"/>
                </a:cubicBezTo>
                <a:cubicBezTo>
                  <a:pt x="232701" y="211538"/>
                  <a:pt x="274533" y="178125"/>
                  <a:pt x="311212" y="143637"/>
                </a:cubicBezTo>
                <a:cubicBezTo>
                  <a:pt x="346993" y="110020"/>
                  <a:pt x="382796" y="76401"/>
                  <a:pt x="418643" y="42784"/>
                </a:cubicBezTo>
                <a:cubicBezTo>
                  <a:pt x="385098" y="142442"/>
                  <a:pt x="360170" y="244797"/>
                  <a:pt x="344143" y="348720"/>
                </a:cubicBezTo>
                <a:close/>
                <a:moveTo>
                  <a:pt x="55923" y="163172"/>
                </a:moveTo>
                <a:cubicBezTo>
                  <a:pt x="76620" y="147430"/>
                  <a:pt x="101087" y="137608"/>
                  <a:pt x="124481" y="126668"/>
                </a:cubicBezTo>
                <a:lnTo>
                  <a:pt x="197797" y="92378"/>
                </a:lnTo>
                <a:cubicBezTo>
                  <a:pt x="206238" y="88431"/>
                  <a:pt x="202379" y="74268"/>
                  <a:pt x="193412" y="78434"/>
                </a:cubicBezTo>
                <a:lnTo>
                  <a:pt x="116237" y="114478"/>
                </a:lnTo>
                <a:cubicBezTo>
                  <a:pt x="92954" y="125440"/>
                  <a:pt x="68661" y="135306"/>
                  <a:pt x="48052" y="150960"/>
                </a:cubicBezTo>
                <a:cubicBezTo>
                  <a:pt x="40532" y="156704"/>
                  <a:pt x="48096" y="169114"/>
                  <a:pt x="55923" y="163084"/>
                </a:cubicBezTo>
                <a:close/>
                <a:moveTo>
                  <a:pt x="41760" y="133684"/>
                </a:moveTo>
                <a:cubicBezTo>
                  <a:pt x="60198" y="122794"/>
                  <a:pt x="79119" y="112805"/>
                  <a:pt x="98479" y="103713"/>
                </a:cubicBezTo>
                <a:cubicBezTo>
                  <a:pt x="106919" y="99766"/>
                  <a:pt x="103061" y="85603"/>
                  <a:pt x="94094" y="89791"/>
                </a:cubicBezTo>
                <a:cubicBezTo>
                  <a:pt x="73528" y="99409"/>
                  <a:pt x="53467" y="109990"/>
                  <a:pt x="33889" y="121537"/>
                </a:cubicBezTo>
                <a:cubicBezTo>
                  <a:pt x="25689" y="126339"/>
                  <a:pt x="33341" y="138573"/>
                  <a:pt x="41760" y="133596"/>
                </a:cubicBezTo>
                <a:close/>
              </a:path>
            </a:pathLst>
          </a:custGeom>
          <a:solidFill>
            <a:srgbClr val="2b3547"/>
          </a:solidFill>
          <a:ln w="0">
            <a:noFill/>
          </a:ln>
        </p:spPr>
        <p:style>
          <a:lnRef idx="0"/>
          <a:fillRef idx="0"/>
          <a:effectRef idx="0"/>
          <a:fontRef idx="minor"/>
        </p:style>
      </p:sp>
      <p:sp>
        <p:nvSpPr>
          <p:cNvPr id="170" name="PlaceHolder 3"/>
          <p:cNvSpPr>
            <a:spLocks noGrp="1"/>
          </p:cNvSpPr>
          <p:nvPr>
            <p:ph/>
          </p:nvPr>
        </p:nvSpPr>
        <p:spPr>
          <a:xfrm>
            <a:off x="1188000" y="1307520"/>
            <a:ext cx="6425280" cy="2839320"/>
          </a:xfrm>
          <a:prstGeom prst="rect">
            <a:avLst/>
          </a:prstGeom>
          <a:noFill/>
          <a:ln w="0">
            <a:noFill/>
          </a:ln>
        </p:spPr>
        <p:txBody>
          <a:bodyPr lIns="0" rIns="0" tIns="0" bIns="0" anchor="t">
            <a:noAutofit/>
          </a:bodyPr>
          <a:p>
            <a:pPr marL="432000" indent="-324000">
              <a:lnSpc>
                <a:spcPct val="100000"/>
              </a:lnSpc>
              <a:spcBef>
                <a:spcPts val="1412"/>
              </a:spcBef>
              <a:buClr>
                <a:srgbClr val="000000"/>
              </a:buClr>
              <a:buSzPct val="45000"/>
              <a:buFont typeface="Wingdings" charset="2"/>
              <a:buChar char=""/>
            </a:pPr>
            <a:r>
              <a:rPr b="0" lang="en-US" sz="1800" spc="-1" strike="noStrike">
                <a:solidFill>
                  <a:srgbClr val="2b3547"/>
                </a:solidFill>
                <a:latin typeface="Nunito"/>
                <a:ea typeface="Nunito"/>
              </a:rPr>
              <a:t>Monitoring</a:t>
            </a:r>
            <a:endParaRPr b="0" lang="en-US" sz="1800" spc="-1" strike="noStrike">
              <a:latin typeface="Arial"/>
            </a:endParaRPr>
          </a:p>
          <a:p>
            <a:pPr marL="432000" indent="-324000">
              <a:lnSpc>
                <a:spcPct val="100000"/>
              </a:lnSpc>
              <a:spcBef>
                <a:spcPts val="1412"/>
              </a:spcBef>
              <a:buClr>
                <a:srgbClr val="000000"/>
              </a:buClr>
              <a:buSzPct val="45000"/>
              <a:buFont typeface="Wingdings" charset="2"/>
              <a:buChar char=""/>
            </a:pPr>
            <a:r>
              <a:rPr b="0" lang="en-US" sz="1800" spc="-1" strike="noStrike">
                <a:solidFill>
                  <a:srgbClr val="2b3547"/>
                </a:solidFill>
                <a:latin typeface="Nunito"/>
                <a:ea typeface="Nunito"/>
              </a:rPr>
              <a:t>NATS: </a:t>
            </a:r>
            <a:r>
              <a:rPr b="0" lang="en-US" sz="1200" spc="-1" strike="noStrike">
                <a:solidFill>
                  <a:srgbClr val="2b3547"/>
                </a:solidFill>
                <a:latin typeface="Nunito"/>
                <a:ea typeface="Nunito"/>
              </a:rPr>
              <a:t>NATS supports exporting monitoring data to Prometheus and has </a:t>
            </a:r>
            <a:r>
              <a:rPr b="0" lang="en-US" sz="1200" spc="-1" strike="noStrike">
                <a:solidFill>
                  <a:srgbClr val="2b3547"/>
                </a:solidFill>
                <a:latin typeface="Nunito"/>
                <a:ea typeface="Nunito"/>
              </a:rPr>
              <a:t>Grafana dashboards to monitor and configure alerts. There are also </a:t>
            </a:r>
            <a:r>
              <a:rPr b="0" lang="en-US" sz="1200" spc="-1" strike="noStrike">
                <a:solidFill>
                  <a:srgbClr val="2b3547"/>
                </a:solidFill>
                <a:latin typeface="Nunito"/>
                <a:ea typeface="Nunito"/>
              </a:rPr>
              <a:t>development monitoring tools such as nats-top. Robust side car deployment </a:t>
            </a:r>
            <a:r>
              <a:rPr b="0" lang="en-US" sz="1200" spc="-1" strike="noStrike">
                <a:solidFill>
                  <a:srgbClr val="2b3547"/>
                </a:solidFill>
                <a:latin typeface="Nunito"/>
                <a:ea typeface="Nunito"/>
              </a:rPr>
              <a:t>or a simple connect-and-view model with NATS surveyor is supported.</a:t>
            </a:r>
            <a:endParaRPr b="0" lang="en-US" sz="1200" spc="-1" strike="noStrike">
              <a:latin typeface="Arial"/>
            </a:endParaRPr>
          </a:p>
          <a:p>
            <a:pPr marL="432000" indent="-324000">
              <a:lnSpc>
                <a:spcPct val="100000"/>
              </a:lnSpc>
              <a:spcBef>
                <a:spcPts val="1412"/>
              </a:spcBef>
              <a:buClr>
                <a:srgbClr val="000000"/>
              </a:buClr>
              <a:buSzPct val="45000"/>
              <a:buFont typeface="Wingdings" charset="2"/>
              <a:buChar char=""/>
            </a:pPr>
            <a:r>
              <a:rPr b="0" lang="en-US" sz="1800" spc="-1" strike="noStrike">
                <a:solidFill>
                  <a:srgbClr val="2b3547"/>
                </a:solidFill>
                <a:latin typeface="Nunito"/>
                <a:ea typeface="Nunito"/>
              </a:rPr>
              <a:t>Kafka: </a:t>
            </a:r>
            <a:r>
              <a:rPr b="0" lang="en-US" sz="1200" spc="-1" strike="noStrike">
                <a:solidFill>
                  <a:srgbClr val="2b3547"/>
                </a:solidFill>
                <a:latin typeface="Nunito"/>
                <a:ea typeface="Nunito"/>
              </a:rPr>
              <a:t>Kafka has a number of management tools and consoles including </a:t>
            </a:r>
            <a:r>
              <a:rPr b="0" lang="en-US" sz="1200" spc="-1" strike="noStrike">
                <a:solidFill>
                  <a:srgbClr val="2b3547"/>
                </a:solidFill>
                <a:latin typeface="Nunito"/>
                <a:ea typeface="Nunito"/>
              </a:rPr>
              <a:t>Confluent Control Center, Kafka, Kafka Web Console, Kafka Offset Monitor.</a:t>
            </a:r>
            <a:endParaRPr b="0" lang="en-US" sz="1200" spc="-1" strike="noStrike">
              <a:latin typeface="Arial"/>
            </a:endParaRPr>
          </a:p>
          <a:p>
            <a:pPr marL="432000" indent="-324000">
              <a:lnSpc>
                <a:spcPct val="100000"/>
              </a:lnSpc>
              <a:spcBef>
                <a:spcPts val="1412"/>
              </a:spcBef>
              <a:buClr>
                <a:srgbClr val="000000"/>
              </a:buClr>
              <a:buSzPct val="45000"/>
              <a:buFont typeface="Wingdings" charset="2"/>
              <a:buChar char=""/>
            </a:pPr>
            <a:r>
              <a:rPr b="0" lang="en-US" sz="1800" spc="-1" strike="noStrike">
                <a:solidFill>
                  <a:srgbClr val="2b3547"/>
                </a:solidFill>
                <a:latin typeface="Nunito"/>
                <a:ea typeface="Nunito"/>
              </a:rPr>
              <a:t>Rabbit: </a:t>
            </a:r>
            <a:r>
              <a:rPr b="0" lang="en-US" sz="1200" spc="-1" strike="noStrike">
                <a:solidFill>
                  <a:srgbClr val="2b3547"/>
                </a:solidFill>
                <a:latin typeface="Nunito"/>
                <a:ea typeface="Nunito"/>
              </a:rPr>
              <a:t>CLI tools, a plugin-based management system with dashboards </a:t>
            </a:r>
            <a:r>
              <a:rPr b="0" lang="en-US" sz="1200" spc="-1" strike="noStrike">
                <a:solidFill>
                  <a:srgbClr val="2b3547"/>
                </a:solidFill>
                <a:latin typeface="Nunito"/>
                <a:ea typeface="Nunito"/>
              </a:rPr>
              <a:t>and third-party tools.</a:t>
            </a:r>
            <a:endParaRPr b="0" lang="en-US" sz="1200" spc="-1" strike="noStrike">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 name="PlaceHolder 1"/>
          <p:cNvSpPr>
            <a:spLocks noGrp="1"/>
          </p:cNvSpPr>
          <p:nvPr>
            <p:ph type="title"/>
          </p:nvPr>
        </p:nvSpPr>
        <p:spPr>
          <a:xfrm>
            <a:off x="883080" y="682920"/>
            <a:ext cx="6425280" cy="395280"/>
          </a:xfrm>
          <a:prstGeom prst="rect">
            <a:avLst/>
          </a:prstGeom>
          <a:noFill/>
          <a:ln w="0">
            <a:noFill/>
          </a:ln>
        </p:spPr>
        <p:txBody>
          <a:bodyPr lIns="0" rIns="0" tIns="0" bIns="0" anchor="ctr">
            <a:noAutofit/>
          </a:bodyPr>
          <a:p>
            <a:pPr>
              <a:lnSpc>
                <a:spcPct val="90000"/>
              </a:lnSpc>
              <a:buNone/>
              <a:tabLst>
                <a:tab algn="l" pos="0"/>
              </a:tabLst>
            </a:pPr>
            <a:r>
              <a:rPr b="1" lang="en" sz="3400" spc="-1" strike="noStrike">
                <a:solidFill>
                  <a:srgbClr val="2b3547"/>
                </a:solidFill>
                <a:latin typeface="Amatic SC"/>
                <a:ea typeface="Amatic SC"/>
              </a:rPr>
              <a:t>Compare NATS</a:t>
            </a:r>
            <a:endParaRPr b="0" lang="en-US" sz="3400" spc="-1" strike="noStrike">
              <a:latin typeface="Arial"/>
            </a:endParaRPr>
          </a:p>
        </p:txBody>
      </p:sp>
      <p:sp>
        <p:nvSpPr>
          <p:cNvPr id="172" name="PlaceHolder 2"/>
          <p:cNvSpPr>
            <a:spLocks noGrp="1"/>
          </p:cNvSpPr>
          <p:nvPr>
            <p:ph type="sldNum" idx="20"/>
          </p:nvPr>
        </p:nvSpPr>
        <p:spPr>
          <a:xfrm>
            <a:off x="8403840" y="4692960"/>
            <a:ext cx="547560" cy="299160"/>
          </a:xfrm>
          <a:prstGeom prst="rect">
            <a:avLst/>
          </a:prstGeom>
          <a:noFill/>
          <a:ln w="0">
            <a:noFill/>
          </a:ln>
        </p:spPr>
        <p:txBody>
          <a:bodyPr lIns="0" rIns="0" tIns="0" bIns="0" anchor="ctr">
            <a:noAutofit/>
          </a:bodyPr>
          <a:lstStyle>
            <a:lvl1pPr algn="r">
              <a:lnSpc>
                <a:spcPct val="100000"/>
              </a:lnSpc>
              <a:buNone/>
              <a:tabLst>
                <a:tab algn="l" pos="0"/>
              </a:tabLst>
              <a:defRPr b="1" lang="en" sz="1500" spc="-1" strike="noStrike">
                <a:solidFill>
                  <a:srgbClr val="7f8b91"/>
                </a:solidFill>
                <a:latin typeface="Amatic SC"/>
                <a:ea typeface="Amatic SC"/>
              </a:defRPr>
            </a:lvl1pPr>
          </a:lstStyle>
          <a:p>
            <a:pPr algn="r">
              <a:lnSpc>
                <a:spcPct val="100000"/>
              </a:lnSpc>
              <a:buNone/>
              <a:tabLst>
                <a:tab algn="l" pos="0"/>
              </a:tabLst>
            </a:pPr>
            <a:fld id="{AB2AB396-81AA-4C36-A932-14B02D4A2A02}" type="slidenum">
              <a:rPr b="1" lang="en" sz="1500" spc="-1" strike="noStrike">
                <a:solidFill>
                  <a:srgbClr val="7f8b91"/>
                </a:solidFill>
                <a:latin typeface="Amatic SC"/>
                <a:ea typeface="Amatic SC"/>
              </a:rPr>
              <a:t>&lt;number&gt;</a:t>
            </a:fld>
            <a:endParaRPr b="0" lang="en-US" sz="1500" spc="-1" strike="noStrike">
              <a:latin typeface="Times New Roman"/>
            </a:endParaRPr>
          </a:p>
        </p:txBody>
      </p:sp>
      <p:sp>
        <p:nvSpPr>
          <p:cNvPr id="173" name="Google Shape;228;p 17"/>
          <p:cNvSpPr/>
          <p:nvPr/>
        </p:nvSpPr>
        <p:spPr>
          <a:xfrm>
            <a:off x="7648200" y="3814560"/>
            <a:ext cx="936720" cy="834120"/>
          </a:xfrm>
          <a:custGeom>
            <a:avLst/>
            <a:gdLst/>
            <a:ahLst/>
            <a:rect l="l" t="t" r="r" b="b"/>
            <a:pathLst>
              <a:path w="444359" h="395938">
                <a:moveTo>
                  <a:pt x="135136" y="205311"/>
                </a:moveTo>
                <a:lnTo>
                  <a:pt x="101482" y="200356"/>
                </a:lnTo>
                <a:cubicBezTo>
                  <a:pt x="92405" y="199041"/>
                  <a:pt x="88788" y="213642"/>
                  <a:pt x="98347" y="215046"/>
                </a:cubicBezTo>
                <a:lnTo>
                  <a:pt x="132067" y="220001"/>
                </a:lnTo>
                <a:cubicBezTo>
                  <a:pt x="141056" y="221316"/>
                  <a:pt x="144673" y="206714"/>
                  <a:pt x="135136" y="205311"/>
                </a:cubicBezTo>
                <a:close/>
                <a:moveTo>
                  <a:pt x="293388" y="291650"/>
                </a:moveTo>
                <a:cubicBezTo>
                  <a:pt x="292554" y="295482"/>
                  <a:pt x="294966" y="299271"/>
                  <a:pt x="298803" y="300115"/>
                </a:cubicBezTo>
                <a:cubicBezTo>
                  <a:pt x="298869" y="300130"/>
                  <a:pt x="298935" y="300144"/>
                  <a:pt x="299001" y="300157"/>
                </a:cubicBezTo>
                <a:cubicBezTo>
                  <a:pt x="299373" y="300157"/>
                  <a:pt x="300711" y="300157"/>
                  <a:pt x="300930" y="300551"/>
                </a:cubicBezTo>
                <a:cubicBezTo>
                  <a:pt x="299921" y="300222"/>
                  <a:pt x="299790" y="300201"/>
                  <a:pt x="300535" y="300551"/>
                </a:cubicBezTo>
                <a:cubicBezTo>
                  <a:pt x="301280" y="300902"/>
                  <a:pt x="301456" y="300924"/>
                  <a:pt x="302267" y="301297"/>
                </a:cubicBezTo>
                <a:lnTo>
                  <a:pt x="302377" y="301297"/>
                </a:lnTo>
                <a:cubicBezTo>
                  <a:pt x="309919" y="308335"/>
                  <a:pt x="320267" y="297416"/>
                  <a:pt x="313142" y="290335"/>
                </a:cubicBezTo>
                <a:cubicBezTo>
                  <a:pt x="307573" y="285621"/>
                  <a:pt x="295756" y="281894"/>
                  <a:pt x="293388" y="291650"/>
                </a:cubicBezTo>
                <a:close/>
                <a:moveTo>
                  <a:pt x="285999" y="274110"/>
                </a:moveTo>
                <a:cubicBezTo>
                  <a:pt x="269973" y="263589"/>
                  <a:pt x="253310" y="254069"/>
                  <a:pt x="236099" y="245608"/>
                </a:cubicBezTo>
                <a:cubicBezTo>
                  <a:pt x="227833" y="241530"/>
                  <a:pt x="220752" y="255014"/>
                  <a:pt x="229346" y="259180"/>
                </a:cubicBezTo>
                <a:cubicBezTo>
                  <a:pt x="245439" y="267053"/>
                  <a:pt x="261027" y="275919"/>
                  <a:pt x="276002" y="285730"/>
                </a:cubicBezTo>
                <a:cubicBezTo>
                  <a:pt x="283697" y="290576"/>
                  <a:pt x="293738" y="279109"/>
                  <a:pt x="285999" y="274023"/>
                </a:cubicBezTo>
                <a:close/>
                <a:moveTo>
                  <a:pt x="433354" y="1544"/>
                </a:moveTo>
                <a:cubicBezTo>
                  <a:pt x="431162" y="3057"/>
                  <a:pt x="428970" y="4482"/>
                  <a:pt x="426908" y="5929"/>
                </a:cubicBezTo>
                <a:cubicBezTo>
                  <a:pt x="425220" y="5833"/>
                  <a:pt x="423554" y="6381"/>
                  <a:pt x="422239" y="7464"/>
                </a:cubicBezTo>
                <a:cubicBezTo>
                  <a:pt x="417854" y="10840"/>
                  <a:pt x="413469" y="14261"/>
                  <a:pt x="408952" y="17659"/>
                </a:cubicBezTo>
                <a:cubicBezTo>
                  <a:pt x="315904" y="75803"/>
                  <a:pt x="209197" y="106563"/>
                  <a:pt x="111195" y="154928"/>
                </a:cubicBezTo>
                <a:cubicBezTo>
                  <a:pt x="93853" y="163501"/>
                  <a:pt x="76773" y="172622"/>
                  <a:pt x="60089" y="182400"/>
                </a:cubicBezTo>
                <a:cubicBezTo>
                  <a:pt x="42549" y="192748"/>
                  <a:pt x="25141" y="203184"/>
                  <a:pt x="5146" y="208249"/>
                </a:cubicBezTo>
                <a:cubicBezTo>
                  <a:pt x="-1804" y="210003"/>
                  <a:pt x="-1147" y="218532"/>
                  <a:pt x="3743" y="221404"/>
                </a:cubicBezTo>
                <a:cubicBezTo>
                  <a:pt x="4707" y="222430"/>
                  <a:pt x="5979" y="223140"/>
                  <a:pt x="7360" y="223443"/>
                </a:cubicBezTo>
                <a:cubicBezTo>
                  <a:pt x="52371" y="234230"/>
                  <a:pt x="97777" y="242999"/>
                  <a:pt x="143621" y="249752"/>
                </a:cubicBezTo>
                <a:lnTo>
                  <a:pt x="143117" y="384961"/>
                </a:lnTo>
                <a:cubicBezTo>
                  <a:pt x="142854" y="387829"/>
                  <a:pt x="144717" y="390464"/>
                  <a:pt x="147502" y="391166"/>
                </a:cubicBezTo>
                <a:cubicBezTo>
                  <a:pt x="148620" y="393251"/>
                  <a:pt x="150615" y="394717"/>
                  <a:pt x="152939" y="395156"/>
                </a:cubicBezTo>
                <a:cubicBezTo>
                  <a:pt x="155855" y="396721"/>
                  <a:pt x="159473" y="395875"/>
                  <a:pt x="161402" y="393183"/>
                </a:cubicBezTo>
                <a:cubicBezTo>
                  <a:pt x="187777" y="361278"/>
                  <a:pt x="215797" y="330777"/>
                  <a:pt x="245351" y="301801"/>
                </a:cubicBezTo>
                <a:cubicBezTo>
                  <a:pt x="266464" y="313914"/>
                  <a:pt x="286394" y="328001"/>
                  <a:pt x="304854" y="343874"/>
                </a:cubicBezTo>
                <a:cubicBezTo>
                  <a:pt x="316496" y="353850"/>
                  <a:pt x="331712" y="356854"/>
                  <a:pt x="343266" y="366413"/>
                </a:cubicBezTo>
                <a:cubicBezTo>
                  <a:pt x="346533" y="371170"/>
                  <a:pt x="355500" y="370798"/>
                  <a:pt x="356553" y="363519"/>
                </a:cubicBezTo>
                <a:cubicBezTo>
                  <a:pt x="373083" y="243175"/>
                  <a:pt x="405510" y="125528"/>
                  <a:pt x="443593" y="10753"/>
                </a:cubicBezTo>
                <a:cubicBezTo>
                  <a:pt x="446618" y="4679"/>
                  <a:pt x="440173" y="-3323"/>
                  <a:pt x="433354" y="1457"/>
                </a:cubicBezTo>
                <a:close/>
                <a:moveTo>
                  <a:pt x="144959" y="232695"/>
                </a:moveTo>
                <a:cubicBezTo>
                  <a:pt x="144345" y="233234"/>
                  <a:pt x="143819" y="233863"/>
                  <a:pt x="143380" y="234558"/>
                </a:cubicBezTo>
                <a:cubicBezTo>
                  <a:pt x="106218" y="229033"/>
                  <a:pt x="69319" y="222164"/>
                  <a:pt x="32639" y="213949"/>
                </a:cubicBezTo>
                <a:cubicBezTo>
                  <a:pt x="52744" y="204895"/>
                  <a:pt x="71358" y="192134"/>
                  <a:pt x="90652" y="181720"/>
                </a:cubicBezTo>
                <a:cubicBezTo>
                  <a:pt x="170610" y="138682"/>
                  <a:pt x="257497" y="110816"/>
                  <a:pt x="339320" y="71856"/>
                </a:cubicBezTo>
                <a:cubicBezTo>
                  <a:pt x="273370" y="123978"/>
                  <a:pt x="208584" y="177592"/>
                  <a:pt x="144959" y="232695"/>
                </a:cubicBezTo>
                <a:close/>
                <a:moveTo>
                  <a:pt x="157938" y="358827"/>
                </a:moveTo>
                <a:lnTo>
                  <a:pt x="158376" y="242429"/>
                </a:lnTo>
                <a:cubicBezTo>
                  <a:pt x="158376" y="241688"/>
                  <a:pt x="158267" y="240949"/>
                  <a:pt x="158070" y="240237"/>
                </a:cubicBezTo>
                <a:cubicBezTo>
                  <a:pt x="232788" y="175691"/>
                  <a:pt x="309152" y="113147"/>
                  <a:pt x="387181" y="52607"/>
                </a:cubicBezTo>
                <a:lnTo>
                  <a:pt x="297159" y="137213"/>
                </a:lnTo>
                <a:cubicBezTo>
                  <a:pt x="259098" y="172972"/>
                  <a:pt x="217024" y="207372"/>
                  <a:pt x="189531" y="252405"/>
                </a:cubicBezTo>
                <a:cubicBezTo>
                  <a:pt x="188216" y="254240"/>
                  <a:pt x="188018" y="256658"/>
                  <a:pt x="189049" y="258675"/>
                </a:cubicBezTo>
                <a:cubicBezTo>
                  <a:pt x="189356" y="259691"/>
                  <a:pt x="189882" y="260620"/>
                  <a:pt x="190605" y="261394"/>
                </a:cubicBezTo>
                <a:cubicBezTo>
                  <a:pt x="181222" y="294369"/>
                  <a:pt x="170325" y="326817"/>
                  <a:pt x="157938" y="358739"/>
                </a:cubicBezTo>
                <a:close/>
                <a:moveTo>
                  <a:pt x="174535" y="355801"/>
                </a:moveTo>
                <a:cubicBezTo>
                  <a:pt x="184927" y="328323"/>
                  <a:pt x="194267" y="300479"/>
                  <a:pt x="202533" y="272269"/>
                </a:cubicBezTo>
                <a:cubicBezTo>
                  <a:pt x="212223" y="280124"/>
                  <a:pt x="222396" y="287379"/>
                  <a:pt x="232964" y="293996"/>
                </a:cubicBezTo>
                <a:cubicBezTo>
                  <a:pt x="212749" y="313844"/>
                  <a:pt x="193281" y="334418"/>
                  <a:pt x="174535" y="355713"/>
                </a:cubicBezTo>
                <a:close/>
                <a:moveTo>
                  <a:pt x="344143" y="348807"/>
                </a:moveTo>
                <a:cubicBezTo>
                  <a:pt x="334847" y="343743"/>
                  <a:pt x="324608" y="340432"/>
                  <a:pt x="316255" y="333460"/>
                </a:cubicBezTo>
                <a:cubicBezTo>
                  <a:pt x="304394" y="323193"/>
                  <a:pt x="291962" y="313631"/>
                  <a:pt x="278983" y="304827"/>
                </a:cubicBezTo>
                <a:cubicBezTo>
                  <a:pt x="253946" y="288581"/>
                  <a:pt x="227351" y="274637"/>
                  <a:pt x="205273" y="254400"/>
                </a:cubicBezTo>
                <a:cubicBezTo>
                  <a:pt x="232701" y="211538"/>
                  <a:pt x="274533" y="178125"/>
                  <a:pt x="311212" y="143637"/>
                </a:cubicBezTo>
                <a:cubicBezTo>
                  <a:pt x="346993" y="110020"/>
                  <a:pt x="382796" y="76401"/>
                  <a:pt x="418643" y="42784"/>
                </a:cubicBezTo>
                <a:cubicBezTo>
                  <a:pt x="385098" y="142442"/>
                  <a:pt x="360170" y="244797"/>
                  <a:pt x="344143" y="348720"/>
                </a:cubicBezTo>
                <a:close/>
                <a:moveTo>
                  <a:pt x="55923" y="163172"/>
                </a:moveTo>
                <a:cubicBezTo>
                  <a:pt x="76620" y="147430"/>
                  <a:pt x="101087" y="137608"/>
                  <a:pt x="124481" y="126668"/>
                </a:cubicBezTo>
                <a:lnTo>
                  <a:pt x="197797" y="92378"/>
                </a:lnTo>
                <a:cubicBezTo>
                  <a:pt x="206238" y="88431"/>
                  <a:pt x="202379" y="74268"/>
                  <a:pt x="193412" y="78434"/>
                </a:cubicBezTo>
                <a:lnTo>
                  <a:pt x="116237" y="114478"/>
                </a:lnTo>
                <a:cubicBezTo>
                  <a:pt x="92954" y="125440"/>
                  <a:pt x="68661" y="135306"/>
                  <a:pt x="48052" y="150960"/>
                </a:cubicBezTo>
                <a:cubicBezTo>
                  <a:pt x="40532" y="156704"/>
                  <a:pt x="48096" y="169114"/>
                  <a:pt x="55923" y="163084"/>
                </a:cubicBezTo>
                <a:close/>
                <a:moveTo>
                  <a:pt x="41760" y="133684"/>
                </a:moveTo>
                <a:cubicBezTo>
                  <a:pt x="60198" y="122794"/>
                  <a:pt x="79119" y="112805"/>
                  <a:pt x="98479" y="103713"/>
                </a:cubicBezTo>
                <a:cubicBezTo>
                  <a:pt x="106919" y="99766"/>
                  <a:pt x="103061" y="85603"/>
                  <a:pt x="94094" y="89791"/>
                </a:cubicBezTo>
                <a:cubicBezTo>
                  <a:pt x="73528" y="99409"/>
                  <a:pt x="53467" y="109990"/>
                  <a:pt x="33889" y="121537"/>
                </a:cubicBezTo>
                <a:cubicBezTo>
                  <a:pt x="25689" y="126339"/>
                  <a:pt x="33341" y="138573"/>
                  <a:pt x="41760" y="133596"/>
                </a:cubicBezTo>
                <a:close/>
              </a:path>
            </a:pathLst>
          </a:custGeom>
          <a:solidFill>
            <a:srgbClr val="2b3547"/>
          </a:solidFill>
          <a:ln w="0">
            <a:noFill/>
          </a:ln>
        </p:spPr>
        <p:style>
          <a:lnRef idx="0"/>
          <a:fillRef idx="0"/>
          <a:effectRef idx="0"/>
          <a:fontRef idx="minor"/>
        </p:style>
      </p:sp>
      <p:sp>
        <p:nvSpPr>
          <p:cNvPr id="174" name="PlaceHolder 3"/>
          <p:cNvSpPr>
            <a:spLocks noGrp="1"/>
          </p:cNvSpPr>
          <p:nvPr>
            <p:ph/>
          </p:nvPr>
        </p:nvSpPr>
        <p:spPr>
          <a:xfrm>
            <a:off x="1188000" y="1307520"/>
            <a:ext cx="6425280" cy="2839320"/>
          </a:xfrm>
          <a:prstGeom prst="rect">
            <a:avLst/>
          </a:prstGeom>
          <a:noFill/>
          <a:ln w="0">
            <a:noFill/>
          </a:ln>
        </p:spPr>
        <p:txBody>
          <a:bodyPr lIns="0" rIns="0" tIns="0" bIns="0" anchor="t">
            <a:noAutofit/>
          </a:bodyPr>
          <a:p>
            <a:pPr marL="432000" indent="-324000">
              <a:lnSpc>
                <a:spcPct val="100000"/>
              </a:lnSpc>
              <a:spcBef>
                <a:spcPts val="1412"/>
              </a:spcBef>
              <a:buClr>
                <a:srgbClr val="000000"/>
              </a:buClr>
              <a:buSzPct val="45000"/>
              <a:buFont typeface="Wingdings" charset="2"/>
              <a:buChar char=""/>
            </a:pPr>
            <a:r>
              <a:rPr b="0" lang="en-US" sz="1800" spc="-1" strike="noStrike">
                <a:solidFill>
                  <a:srgbClr val="2b3547"/>
                </a:solidFill>
                <a:latin typeface="Nunito"/>
                <a:ea typeface="Nunito"/>
              </a:rPr>
              <a:t>Integrations</a:t>
            </a:r>
            <a:endParaRPr b="0" lang="en-US" sz="1800" spc="-1" strike="noStrike">
              <a:latin typeface="Arial"/>
            </a:endParaRPr>
          </a:p>
          <a:p>
            <a:pPr marL="432000" indent="-324000">
              <a:lnSpc>
                <a:spcPct val="100000"/>
              </a:lnSpc>
              <a:spcBef>
                <a:spcPts val="1412"/>
              </a:spcBef>
              <a:buClr>
                <a:srgbClr val="000000"/>
              </a:buClr>
              <a:buSzPct val="45000"/>
              <a:buFont typeface="Wingdings" charset="2"/>
              <a:buChar char=""/>
            </a:pPr>
            <a:r>
              <a:rPr b="0" lang="en-US" sz="1800" spc="-1" strike="noStrike">
                <a:solidFill>
                  <a:srgbClr val="2b3547"/>
                </a:solidFill>
                <a:latin typeface="Nunito"/>
                <a:ea typeface="Nunito"/>
              </a:rPr>
              <a:t>NATS: </a:t>
            </a:r>
            <a:r>
              <a:rPr b="0" lang="en-US" sz="1200" spc="-1" strike="noStrike">
                <a:solidFill>
                  <a:srgbClr val="2b3547"/>
                </a:solidFill>
                <a:latin typeface="Nunito"/>
                <a:ea typeface="Nunito"/>
              </a:rPr>
              <a:t>NATS supports WebSockets, a Kafka bridge, an IBM MQ Bridge, a Redis Connector, Apache Spark, Apache Flink, CoreOS, Elastic, Elasticsearch, Prometheus, Telegraf, Logrus, Fluent Bit, Fluentd, OpenFAAS, HTTP, and MQTT, and more.</a:t>
            </a:r>
            <a:endParaRPr b="0" lang="en-US" sz="1200" spc="-1" strike="noStrike">
              <a:latin typeface="Arial"/>
            </a:endParaRPr>
          </a:p>
          <a:p>
            <a:pPr marL="432000" indent="-324000">
              <a:lnSpc>
                <a:spcPct val="100000"/>
              </a:lnSpc>
              <a:spcBef>
                <a:spcPts val="1412"/>
              </a:spcBef>
              <a:buClr>
                <a:srgbClr val="000000"/>
              </a:buClr>
              <a:buSzPct val="45000"/>
              <a:buFont typeface="Wingdings" charset="2"/>
              <a:buChar char=""/>
            </a:pPr>
            <a:r>
              <a:rPr b="0" lang="en-US" sz="1800" spc="-1" strike="noStrike">
                <a:solidFill>
                  <a:srgbClr val="2b3547"/>
                </a:solidFill>
                <a:latin typeface="Nunito"/>
                <a:ea typeface="Nunito"/>
              </a:rPr>
              <a:t>Kafka: </a:t>
            </a:r>
            <a:r>
              <a:rPr b="0" lang="en-US" sz="1200" spc="-1" strike="noStrike">
                <a:solidFill>
                  <a:srgbClr val="2b3547"/>
                </a:solidFill>
                <a:latin typeface="Nunito"/>
                <a:ea typeface="Nunito"/>
              </a:rPr>
              <a:t>Kafka has a large number of integrations in its ecosystem, including stream processing (Storm, Samza, Flink), Hadoop, database (JDBC, Oracle Golden Gate), Search and Query (ElasticSearch, Hive), and a variety of logging and other integrations.</a:t>
            </a:r>
            <a:endParaRPr b="0" lang="en-US" sz="1200" spc="-1" strike="noStrike">
              <a:latin typeface="Arial"/>
            </a:endParaRPr>
          </a:p>
          <a:p>
            <a:pPr marL="432000" indent="-324000">
              <a:lnSpc>
                <a:spcPct val="100000"/>
              </a:lnSpc>
              <a:spcBef>
                <a:spcPts val="1412"/>
              </a:spcBef>
              <a:buClr>
                <a:srgbClr val="000000"/>
              </a:buClr>
              <a:buSzPct val="45000"/>
              <a:buFont typeface="Wingdings" charset="2"/>
              <a:buChar char=""/>
            </a:pPr>
            <a:r>
              <a:rPr b="0" lang="en-US" sz="1800" spc="-1" strike="noStrike">
                <a:solidFill>
                  <a:srgbClr val="2b3547"/>
                </a:solidFill>
                <a:latin typeface="Nunito"/>
                <a:ea typeface="Nunito"/>
              </a:rPr>
              <a:t>Rabbit: </a:t>
            </a:r>
            <a:r>
              <a:rPr b="0" lang="en-US" sz="1200" spc="-1" strike="noStrike">
                <a:solidFill>
                  <a:srgbClr val="2b3547"/>
                </a:solidFill>
                <a:latin typeface="Nunito"/>
                <a:ea typeface="Nunito"/>
              </a:rPr>
              <a:t>RabbitMQ has many plugins, including protocols (MQTT, STOMP), WebSockets, and various authorization and authentication plugins.</a:t>
            </a:r>
            <a:endParaRPr b="0" lang="en-US" sz="1200" spc="-1" strike="noStrike">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5" name="PlaceHolder 1"/>
          <p:cNvSpPr>
            <a:spLocks noGrp="1"/>
          </p:cNvSpPr>
          <p:nvPr>
            <p:ph type="title"/>
          </p:nvPr>
        </p:nvSpPr>
        <p:spPr>
          <a:xfrm>
            <a:off x="2180880" y="1828800"/>
            <a:ext cx="4905000" cy="1523520"/>
          </a:xfrm>
          <a:prstGeom prst="rect">
            <a:avLst/>
          </a:prstGeom>
          <a:noFill/>
          <a:ln w="0">
            <a:noFill/>
          </a:ln>
        </p:spPr>
        <p:txBody>
          <a:bodyPr lIns="0" rIns="0" tIns="0" bIns="0" anchor="ctr">
            <a:noAutofit/>
          </a:bodyPr>
          <a:p>
            <a:pPr algn="ctr">
              <a:lnSpc>
                <a:spcPct val="90000"/>
              </a:lnSpc>
              <a:buNone/>
              <a:tabLst>
                <a:tab algn="l" pos="0"/>
              </a:tabLst>
            </a:pPr>
            <a:r>
              <a:rPr b="1" lang="en" sz="6800" spc="-1" strike="noStrike">
                <a:solidFill>
                  <a:srgbClr val="2b3547"/>
                </a:solidFill>
                <a:latin typeface="Amatic SC"/>
                <a:ea typeface="Amatic SC"/>
              </a:rPr>
              <a:t>What is NATS</a:t>
            </a:r>
            <a:endParaRPr b="0" lang="en-US" sz="6800" spc="-1" strike="noStrike">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 name="PlaceHolder 1"/>
          <p:cNvSpPr>
            <a:spLocks noGrp="1"/>
          </p:cNvSpPr>
          <p:nvPr>
            <p:ph type="title"/>
          </p:nvPr>
        </p:nvSpPr>
        <p:spPr>
          <a:xfrm>
            <a:off x="883080" y="682920"/>
            <a:ext cx="6425280" cy="395280"/>
          </a:xfrm>
          <a:prstGeom prst="rect">
            <a:avLst/>
          </a:prstGeom>
          <a:noFill/>
          <a:ln w="0">
            <a:noFill/>
          </a:ln>
        </p:spPr>
        <p:txBody>
          <a:bodyPr lIns="0" rIns="0" tIns="0" bIns="0" anchor="ctr">
            <a:noAutofit/>
          </a:bodyPr>
          <a:p>
            <a:pPr>
              <a:lnSpc>
                <a:spcPct val="90000"/>
              </a:lnSpc>
              <a:buNone/>
              <a:tabLst>
                <a:tab algn="l" pos="0"/>
              </a:tabLst>
            </a:pPr>
            <a:r>
              <a:rPr b="1" lang="en" sz="3400" spc="-1" strike="noStrike">
                <a:solidFill>
                  <a:srgbClr val="2b3547"/>
                </a:solidFill>
                <a:latin typeface="Amatic SC"/>
                <a:ea typeface="Amatic SC"/>
              </a:rPr>
              <a:t>What is NATS</a:t>
            </a:r>
            <a:endParaRPr b="0" lang="en-US" sz="3400" spc="-1" strike="noStrike">
              <a:latin typeface="Arial"/>
            </a:endParaRPr>
          </a:p>
        </p:txBody>
      </p:sp>
      <p:sp>
        <p:nvSpPr>
          <p:cNvPr id="177" name="PlaceHolder 2"/>
          <p:cNvSpPr>
            <a:spLocks noGrp="1"/>
          </p:cNvSpPr>
          <p:nvPr>
            <p:ph type="sldNum" idx="21"/>
          </p:nvPr>
        </p:nvSpPr>
        <p:spPr>
          <a:xfrm>
            <a:off x="8403840" y="4692960"/>
            <a:ext cx="547560" cy="299160"/>
          </a:xfrm>
          <a:prstGeom prst="rect">
            <a:avLst/>
          </a:prstGeom>
          <a:noFill/>
          <a:ln w="0">
            <a:noFill/>
          </a:ln>
        </p:spPr>
        <p:txBody>
          <a:bodyPr lIns="0" rIns="0" tIns="0" bIns="0" anchor="ctr">
            <a:noAutofit/>
          </a:bodyPr>
          <a:lstStyle>
            <a:lvl1pPr algn="r">
              <a:lnSpc>
                <a:spcPct val="100000"/>
              </a:lnSpc>
              <a:buNone/>
              <a:tabLst>
                <a:tab algn="l" pos="0"/>
              </a:tabLst>
              <a:defRPr b="1" lang="en" sz="1500" spc="-1" strike="noStrike">
                <a:solidFill>
                  <a:srgbClr val="7f8b91"/>
                </a:solidFill>
                <a:latin typeface="Amatic SC"/>
                <a:ea typeface="Amatic SC"/>
              </a:defRPr>
            </a:lvl1pPr>
          </a:lstStyle>
          <a:p>
            <a:pPr algn="r">
              <a:lnSpc>
                <a:spcPct val="100000"/>
              </a:lnSpc>
              <a:buNone/>
              <a:tabLst>
                <a:tab algn="l" pos="0"/>
              </a:tabLst>
            </a:pPr>
            <a:fld id="{A9429067-35C7-4EE9-BC9B-4259EAB7B491}" type="slidenum">
              <a:rPr b="1" lang="en" sz="1500" spc="-1" strike="noStrike">
                <a:solidFill>
                  <a:srgbClr val="7f8b91"/>
                </a:solidFill>
                <a:latin typeface="Amatic SC"/>
                <a:ea typeface="Amatic SC"/>
              </a:rPr>
              <a:t>&lt;number&gt;</a:t>
            </a:fld>
            <a:endParaRPr b="0" lang="en-US" sz="1500" spc="-1" strike="noStrike">
              <a:latin typeface="Times New Roman"/>
            </a:endParaRPr>
          </a:p>
        </p:txBody>
      </p:sp>
      <p:sp>
        <p:nvSpPr>
          <p:cNvPr id="178" name="Google Shape;228;p 18"/>
          <p:cNvSpPr/>
          <p:nvPr/>
        </p:nvSpPr>
        <p:spPr>
          <a:xfrm>
            <a:off x="7648200" y="3814560"/>
            <a:ext cx="936720" cy="834120"/>
          </a:xfrm>
          <a:custGeom>
            <a:avLst/>
            <a:gdLst/>
            <a:ahLst/>
            <a:rect l="l" t="t" r="r" b="b"/>
            <a:pathLst>
              <a:path w="444359" h="395938">
                <a:moveTo>
                  <a:pt x="135136" y="205311"/>
                </a:moveTo>
                <a:lnTo>
                  <a:pt x="101482" y="200356"/>
                </a:lnTo>
                <a:cubicBezTo>
                  <a:pt x="92405" y="199041"/>
                  <a:pt x="88788" y="213642"/>
                  <a:pt x="98347" y="215046"/>
                </a:cubicBezTo>
                <a:lnTo>
                  <a:pt x="132067" y="220001"/>
                </a:lnTo>
                <a:cubicBezTo>
                  <a:pt x="141056" y="221316"/>
                  <a:pt x="144673" y="206714"/>
                  <a:pt x="135136" y="205311"/>
                </a:cubicBezTo>
                <a:close/>
                <a:moveTo>
                  <a:pt x="293388" y="291650"/>
                </a:moveTo>
                <a:cubicBezTo>
                  <a:pt x="292554" y="295482"/>
                  <a:pt x="294966" y="299271"/>
                  <a:pt x="298803" y="300115"/>
                </a:cubicBezTo>
                <a:cubicBezTo>
                  <a:pt x="298869" y="300130"/>
                  <a:pt x="298935" y="300144"/>
                  <a:pt x="299001" y="300157"/>
                </a:cubicBezTo>
                <a:cubicBezTo>
                  <a:pt x="299373" y="300157"/>
                  <a:pt x="300711" y="300157"/>
                  <a:pt x="300930" y="300551"/>
                </a:cubicBezTo>
                <a:cubicBezTo>
                  <a:pt x="299921" y="300222"/>
                  <a:pt x="299790" y="300201"/>
                  <a:pt x="300535" y="300551"/>
                </a:cubicBezTo>
                <a:cubicBezTo>
                  <a:pt x="301280" y="300902"/>
                  <a:pt x="301456" y="300924"/>
                  <a:pt x="302267" y="301297"/>
                </a:cubicBezTo>
                <a:lnTo>
                  <a:pt x="302377" y="301297"/>
                </a:lnTo>
                <a:cubicBezTo>
                  <a:pt x="309919" y="308335"/>
                  <a:pt x="320267" y="297416"/>
                  <a:pt x="313142" y="290335"/>
                </a:cubicBezTo>
                <a:cubicBezTo>
                  <a:pt x="307573" y="285621"/>
                  <a:pt x="295756" y="281894"/>
                  <a:pt x="293388" y="291650"/>
                </a:cubicBezTo>
                <a:close/>
                <a:moveTo>
                  <a:pt x="285999" y="274110"/>
                </a:moveTo>
                <a:cubicBezTo>
                  <a:pt x="269973" y="263589"/>
                  <a:pt x="253310" y="254069"/>
                  <a:pt x="236099" y="245608"/>
                </a:cubicBezTo>
                <a:cubicBezTo>
                  <a:pt x="227833" y="241530"/>
                  <a:pt x="220752" y="255014"/>
                  <a:pt x="229346" y="259180"/>
                </a:cubicBezTo>
                <a:cubicBezTo>
                  <a:pt x="245439" y="267053"/>
                  <a:pt x="261027" y="275919"/>
                  <a:pt x="276002" y="285730"/>
                </a:cubicBezTo>
                <a:cubicBezTo>
                  <a:pt x="283697" y="290576"/>
                  <a:pt x="293738" y="279109"/>
                  <a:pt x="285999" y="274023"/>
                </a:cubicBezTo>
                <a:close/>
                <a:moveTo>
                  <a:pt x="433354" y="1544"/>
                </a:moveTo>
                <a:cubicBezTo>
                  <a:pt x="431162" y="3057"/>
                  <a:pt x="428970" y="4482"/>
                  <a:pt x="426908" y="5929"/>
                </a:cubicBezTo>
                <a:cubicBezTo>
                  <a:pt x="425220" y="5833"/>
                  <a:pt x="423554" y="6381"/>
                  <a:pt x="422239" y="7464"/>
                </a:cubicBezTo>
                <a:cubicBezTo>
                  <a:pt x="417854" y="10840"/>
                  <a:pt x="413469" y="14261"/>
                  <a:pt x="408952" y="17659"/>
                </a:cubicBezTo>
                <a:cubicBezTo>
                  <a:pt x="315904" y="75803"/>
                  <a:pt x="209197" y="106563"/>
                  <a:pt x="111195" y="154928"/>
                </a:cubicBezTo>
                <a:cubicBezTo>
                  <a:pt x="93853" y="163501"/>
                  <a:pt x="76773" y="172622"/>
                  <a:pt x="60089" y="182400"/>
                </a:cubicBezTo>
                <a:cubicBezTo>
                  <a:pt x="42549" y="192748"/>
                  <a:pt x="25141" y="203184"/>
                  <a:pt x="5146" y="208249"/>
                </a:cubicBezTo>
                <a:cubicBezTo>
                  <a:pt x="-1804" y="210003"/>
                  <a:pt x="-1147" y="218532"/>
                  <a:pt x="3743" y="221404"/>
                </a:cubicBezTo>
                <a:cubicBezTo>
                  <a:pt x="4707" y="222430"/>
                  <a:pt x="5979" y="223140"/>
                  <a:pt x="7360" y="223443"/>
                </a:cubicBezTo>
                <a:cubicBezTo>
                  <a:pt x="52371" y="234230"/>
                  <a:pt x="97777" y="242999"/>
                  <a:pt x="143621" y="249752"/>
                </a:cubicBezTo>
                <a:lnTo>
                  <a:pt x="143117" y="384961"/>
                </a:lnTo>
                <a:cubicBezTo>
                  <a:pt x="142854" y="387829"/>
                  <a:pt x="144717" y="390464"/>
                  <a:pt x="147502" y="391166"/>
                </a:cubicBezTo>
                <a:cubicBezTo>
                  <a:pt x="148620" y="393251"/>
                  <a:pt x="150615" y="394717"/>
                  <a:pt x="152939" y="395156"/>
                </a:cubicBezTo>
                <a:cubicBezTo>
                  <a:pt x="155855" y="396721"/>
                  <a:pt x="159473" y="395875"/>
                  <a:pt x="161402" y="393183"/>
                </a:cubicBezTo>
                <a:cubicBezTo>
                  <a:pt x="187777" y="361278"/>
                  <a:pt x="215797" y="330777"/>
                  <a:pt x="245351" y="301801"/>
                </a:cubicBezTo>
                <a:cubicBezTo>
                  <a:pt x="266464" y="313914"/>
                  <a:pt x="286394" y="328001"/>
                  <a:pt x="304854" y="343874"/>
                </a:cubicBezTo>
                <a:cubicBezTo>
                  <a:pt x="316496" y="353850"/>
                  <a:pt x="331712" y="356854"/>
                  <a:pt x="343266" y="366413"/>
                </a:cubicBezTo>
                <a:cubicBezTo>
                  <a:pt x="346533" y="371170"/>
                  <a:pt x="355500" y="370798"/>
                  <a:pt x="356553" y="363519"/>
                </a:cubicBezTo>
                <a:cubicBezTo>
                  <a:pt x="373083" y="243175"/>
                  <a:pt x="405510" y="125528"/>
                  <a:pt x="443593" y="10753"/>
                </a:cubicBezTo>
                <a:cubicBezTo>
                  <a:pt x="446618" y="4679"/>
                  <a:pt x="440173" y="-3323"/>
                  <a:pt x="433354" y="1457"/>
                </a:cubicBezTo>
                <a:close/>
                <a:moveTo>
                  <a:pt x="144959" y="232695"/>
                </a:moveTo>
                <a:cubicBezTo>
                  <a:pt x="144345" y="233234"/>
                  <a:pt x="143819" y="233863"/>
                  <a:pt x="143380" y="234558"/>
                </a:cubicBezTo>
                <a:cubicBezTo>
                  <a:pt x="106218" y="229033"/>
                  <a:pt x="69319" y="222164"/>
                  <a:pt x="32639" y="213949"/>
                </a:cubicBezTo>
                <a:cubicBezTo>
                  <a:pt x="52744" y="204895"/>
                  <a:pt x="71358" y="192134"/>
                  <a:pt x="90652" y="181720"/>
                </a:cubicBezTo>
                <a:cubicBezTo>
                  <a:pt x="170610" y="138682"/>
                  <a:pt x="257497" y="110816"/>
                  <a:pt x="339320" y="71856"/>
                </a:cubicBezTo>
                <a:cubicBezTo>
                  <a:pt x="273370" y="123978"/>
                  <a:pt x="208584" y="177592"/>
                  <a:pt x="144959" y="232695"/>
                </a:cubicBezTo>
                <a:close/>
                <a:moveTo>
                  <a:pt x="157938" y="358827"/>
                </a:moveTo>
                <a:lnTo>
                  <a:pt x="158376" y="242429"/>
                </a:lnTo>
                <a:cubicBezTo>
                  <a:pt x="158376" y="241688"/>
                  <a:pt x="158267" y="240949"/>
                  <a:pt x="158070" y="240237"/>
                </a:cubicBezTo>
                <a:cubicBezTo>
                  <a:pt x="232788" y="175691"/>
                  <a:pt x="309152" y="113147"/>
                  <a:pt x="387181" y="52607"/>
                </a:cubicBezTo>
                <a:lnTo>
                  <a:pt x="297159" y="137213"/>
                </a:lnTo>
                <a:cubicBezTo>
                  <a:pt x="259098" y="172972"/>
                  <a:pt x="217024" y="207372"/>
                  <a:pt x="189531" y="252405"/>
                </a:cubicBezTo>
                <a:cubicBezTo>
                  <a:pt x="188216" y="254240"/>
                  <a:pt x="188018" y="256658"/>
                  <a:pt x="189049" y="258675"/>
                </a:cubicBezTo>
                <a:cubicBezTo>
                  <a:pt x="189356" y="259691"/>
                  <a:pt x="189882" y="260620"/>
                  <a:pt x="190605" y="261394"/>
                </a:cubicBezTo>
                <a:cubicBezTo>
                  <a:pt x="181222" y="294369"/>
                  <a:pt x="170325" y="326817"/>
                  <a:pt x="157938" y="358739"/>
                </a:cubicBezTo>
                <a:close/>
                <a:moveTo>
                  <a:pt x="174535" y="355801"/>
                </a:moveTo>
                <a:cubicBezTo>
                  <a:pt x="184927" y="328323"/>
                  <a:pt x="194267" y="300479"/>
                  <a:pt x="202533" y="272269"/>
                </a:cubicBezTo>
                <a:cubicBezTo>
                  <a:pt x="212223" y="280124"/>
                  <a:pt x="222396" y="287379"/>
                  <a:pt x="232964" y="293996"/>
                </a:cubicBezTo>
                <a:cubicBezTo>
                  <a:pt x="212749" y="313844"/>
                  <a:pt x="193281" y="334418"/>
                  <a:pt x="174535" y="355713"/>
                </a:cubicBezTo>
                <a:close/>
                <a:moveTo>
                  <a:pt x="344143" y="348807"/>
                </a:moveTo>
                <a:cubicBezTo>
                  <a:pt x="334847" y="343743"/>
                  <a:pt x="324608" y="340432"/>
                  <a:pt x="316255" y="333460"/>
                </a:cubicBezTo>
                <a:cubicBezTo>
                  <a:pt x="304394" y="323193"/>
                  <a:pt x="291962" y="313631"/>
                  <a:pt x="278983" y="304827"/>
                </a:cubicBezTo>
                <a:cubicBezTo>
                  <a:pt x="253946" y="288581"/>
                  <a:pt x="227351" y="274637"/>
                  <a:pt x="205273" y="254400"/>
                </a:cubicBezTo>
                <a:cubicBezTo>
                  <a:pt x="232701" y="211538"/>
                  <a:pt x="274533" y="178125"/>
                  <a:pt x="311212" y="143637"/>
                </a:cubicBezTo>
                <a:cubicBezTo>
                  <a:pt x="346993" y="110020"/>
                  <a:pt x="382796" y="76401"/>
                  <a:pt x="418643" y="42784"/>
                </a:cubicBezTo>
                <a:cubicBezTo>
                  <a:pt x="385098" y="142442"/>
                  <a:pt x="360170" y="244797"/>
                  <a:pt x="344143" y="348720"/>
                </a:cubicBezTo>
                <a:close/>
                <a:moveTo>
                  <a:pt x="55923" y="163172"/>
                </a:moveTo>
                <a:cubicBezTo>
                  <a:pt x="76620" y="147430"/>
                  <a:pt x="101087" y="137608"/>
                  <a:pt x="124481" y="126668"/>
                </a:cubicBezTo>
                <a:lnTo>
                  <a:pt x="197797" y="92378"/>
                </a:lnTo>
                <a:cubicBezTo>
                  <a:pt x="206238" y="88431"/>
                  <a:pt x="202379" y="74268"/>
                  <a:pt x="193412" y="78434"/>
                </a:cubicBezTo>
                <a:lnTo>
                  <a:pt x="116237" y="114478"/>
                </a:lnTo>
                <a:cubicBezTo>
                  <a:pt x="92954" y="125440"/>
                  <a:pt x="68661" y="135306"/>
                  <a:pt x="48052" y="150960"/>
                </a:cubicBezTo>
                <a:cubicBezTo>
                  <a:pt x="40532" y="156704"/>
                  <a:pt x="48096" y="169114"/>
                  <a:pt x="55923" y="163084"/>
                </a:cubicBezTo>
                <a:close/>
                <a:moveTo>
                  <a:pt x="41760" y="133684"/>
                </a:moveTo>
                <a:cubicBezTo>
                  <a:pt x="60198" y="122794"/>
                  <a:pt x="79119" y="112805"/>
                  <a:pt x="98479" y="103713"/>
                </a:cubicBezTo>
                <a:cubicBezTo>
                  <a:pt x="106919" y="99766"/>
                  <a:pt x="103061" y="85603"/>
                  <a:pt x="94094" y="89791"/>
                </a:cubicBezTo>
                <a:cubicBezTo>
                  <a:pt x="73528" y="99409"/>
                  <a:pt x="53467" y="109990"/>
                  <a:pt x="33889" y="121537"/>
                </a:cubicBezTo>
                <a:cubicBezTo>
                  <a:pt x="25689" y="126339"/>
                  <a:pt x="33341" y="138573"/>
                  <a:pt x="41760" y="133596"/>
                </a:cubicBezTo>
                <a:close/>
              </a:path>
            </a:pathLst>
          </a:custGeom>
          <a:solidFill>
            <a:srgbClr val="2b3547"/>
          </a:solidFill>
          <a:ln w="0">
            <a:noFill/>
          </a:ln>
        </p:spPr>
        <p:style>
          <a:lnRef idx="0"/>
          <a:fillRef idx="0"/>
          <a:effectRef idx="0"/>
          <a:fontRef idx="minor"/>
        </p:style>
      </p:sp>
      <p:sp>
        <p:nvSpPr>
          <p:cNvPr id="179" name="PlaceHolder 3"/>
          <p:cNvSpPr>
            <a:spLocks noGrp="1"/>
          </p:cNvSpPr>
          <p:nvPr>
            <p:ph/>
          </p:nvPr>
        </p:nvSpPr>
        <p:spPr>
          <a:xfrm>
            <a:off x="1188000" y="1307520"/>
            <a:ext cx="6425280" cy="2839320"/>
          </a:xfrm>
          <a:prstGeom prst="rect">
            <a:avLst/>
          </a:prstGeom>
          <a:noFill/>
          <a:ln w="0">
            <a:noFill/>
          </a:ln>
        </p:spPr>
        <p:txBody>
          <a:bodyPr lIns="0" rIns="0" tIns="0" bIns="0" anchor="t">
            <a:noAutofit/>
          </a:bodyPr>
          <a:p>
            <a:pPr>
              <a:lnSpc>
                <a:spcPct val="100000"/>
              </a:lnSpc>
              <a:buNone/>
            </a:pPr>
            <a:endParaRPr b="0" lang="en-US" sz="1800" spc="-1" strike="noStrike">
              <a:latin typeface="Arial"/>
            </a:endParaRPr>
          </a:p>
          <a:p>
            <a:pPr>
              <a:lnSpc>
                <a:spcPct val="100000"/>
              </a:lnSpc>
              <a:buNone/>
            </a:pPr>
            <a:endParaRPr b="0" lang="en-US" sz="1800" spc="-1" strike="noStrike">
              <a:latin typeface="Arial"/>
            </a:endParaRPr>
          </a:p>
          <a:p>
            <a:pPr>
              <a:lnSpc>
                <a:spcPct val="100000"/>
              </a:lnSpc>
              <a:buNone/>
            </a:pPr>
            <a:endParaRPr b="0" lang="en-US" sz="1800" spc="-1" strike="noStrike">
              <a:latin typeface="Arial"/>
            </a:endParaRPr>
          </a:p>
          <a:p>
            <a:pPr>
              <a:lnSpc>
                <a:spcPct val="100000"/>
              </a:lnSpc>
              <a:buNone/>
            </a:pPr>
            <a:r>
              <a:rPr b="0" lang="en-US" sz="1800" spc="-1" strike="noStrike">
                <a:solidFill>
                  <a:srgbClr val="000000"/>
                </a:solidFill>
                <a:latin typeface="Arial"/>
              </a:rPr>
              <a:t>Software applications and services need to exchange data. NATS is an infrastructure that allows such data exchange, segmented in the form of messages.</a:t>
            </a:r>
            <a:endParaRPr b="0" lang="en-US" sz="1800" spc="-1" strike="noStrike">
              <a:latin typeface="Arial"/>
            </a:endParaRPr>
          </a:p>
          <a:p>
            <a:pPr>
              <a:lnSpc>
                <a:spcPct val="100000"/>
              </a:lnSpc>
              <a:buNone/>
            </a:pPr>
            <a:r>
              <a:rPr b="0" lang="en-US" sz="1800" spc="-1" strike="noStrike">
                <a:solidFill>
                  <a:srgbClr val="000000"/>
                </a:solidFill>
                <a:latin typeface="Arial"/>
              </a:rPr>
              <a:t>    </a:t>
            </a:r>
            <a:r>
              <a:rPr b="0" lang="en-US" sz="1800" spc="-1" strike="noStrike">
                <a:solidFill>
                  <a:srgbClr val="000000"/>
                </a:solidFill>
                <a:latin typeface="Arial"/>
              </a:rPr>
              <a:t>We call this a "message oriented middle-ware".</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0" name="PlaceHolder 1"/>
          <p:cNvSpPr>
            <a:spLocks noGrp="1"/>
          </p:cNvSpPr>
          <p:nvPr>
            <p:ph type="title"/>
          </p:nvPr>
        </p:nvSpPr>
        <p:spPr>
          <a:xfrm>
            <a:off x="883080" y="682920"/>
            <a:ext cx="6425280" cy="395280"/>
          </a:xfrm>
          <a:prstGeom prst="rect">
            <a:avLst/>
          </a:prstGeom>
          <a:noFill/>
          <a:ln w="0">
            <a:noFill/>
          </a:ln>
        </p:spPr>
        <p:txBody>
          <a:bodyPr lIns="0" rIns="0" tIns="0" bIns="0" anchor="ctr">
            <a:noAutofit/>
          </a:bodyPr>
          <a:p>
            <a:pPr>
              <a:lnSpc>
                <a:spcPct val="90000"/>
              </a:lnSpc>
              <a:buNone/>
              <a:tabLst>
                <a:tab algn="l" pos="0"/>
              </a:tabLst>
            </a:pPr>
            <a:r>
              <a:rPr b="1" lang="en" sz="3400" spc="-1" strike="noStrike">
                <a:solidFill>
                  <a:srgbClr val="2b3547"/>
                </a:solidFill>
                <a:latin typeface="Amatic SC"/>
                <a:ea typeface="Amatic SC"/>
              </a:rPr>
              <a:t>What is NATS</a:t>
            </a:r>
            <a:endParaRPr b="0" lang="en-US" sz="3400" spc="-1" strike="noStrike">
              <a:latin typeface="Arial"/>
            </a:endParaRPr>
          </a:p>
        </p:txBody>
      </p:sp>
      <p:sp>
        <p:nvSpPr>
          <p:cNvPr id="181" name="PlaceHolder 2"/>
          <p:cNvSpPr>
            <a:spLocks noGrp="1"/>
          </p:cNvSpPr>
          <p:nvPr>
            <p:ph type="sldNum" idx="22"/>
          </p:nvPr>
        </p:nvSpPr>
        <p:spPr>
          <a:xfrm>
            <a:off x="8403840" y="4692960"/>
            <a:ext cx="547560" cy="299160"/>
          </a:xfrm>
          <a:prstGeom prst="rect">
            <a:avLst/>
          </a:prstGeom>
          <a:noFill/>
          <a:ln w="0">
            <a:noFill/>
          </a:ln>
        </p:spPr>
        <p:txBody>
          <a:bodyPr lIns="0" rIns="0" tIns="0" bIns="0" anchor="ctr">
            <a:noAutofit/>
          </a:bodyPr>
          <a:lstStyle>
            <a:lvl1pPr algn="r">
              <a:lnSpc>
                <a:spcPct val="100000"/>
              </a:lnSpc>
              <a:buNone/>
              <a:tabLst>
                <a:tab algn="l" pos="0"/>
              </a:tabLst>
              <a:defRPr b="1" lang="en" sz="1500" spc="-1" strike="noStrike">
                <a:solidFill>
                  <a:srgbClr val="7f8b91"/>
                </a:solidFill>
                <a:latin typeface="Amatic SC"/>
                <a:ea typeface="Amatic SC"/>
              </a:defRPr>
            </a:lvl1pPr>
          </a:lstStyle>
          <a:p>
            <a:pPr algn="r">
              <a:lnSpc>
                <a:spcPct val="100000"/>
              </a:lnSpc>
              <a:buNone/>
              <a:tabLst>
                <a:tab algn="l" pos="0"/>
              </a:tabLst>
            </a:pPr>
            <a:fld id="{BEA73279-5CB9-4ACF-9FC0-7B05DF59A27B}" type="slidenum">
              <a:rPr b="1" lang="en" sz="1500" spc="-1" strike="noStrike">
                <a:solidFill>
                  <a:srgbClr val="7f8b91"/>
                </a:solidFill>
                <a:latin typeface="Amatic SC"/>
                <a:ea typeface="Amatic SC"/>
              </a:rPr>
              <a:t>&lt;number&gt;</a:t>
            </a:fld>
            <a:endParaRPr b="0" lang="en-US" sz="1500" spc="-1" strike="noStrike">
              <a:latin typeface="Times New Roman"/>
            </a:endParaRPr>
          </a:p>
        </p:txBody>
      </p:sp>
      <p:sp>
        <p:nvSpPr>
          <p:cNvPr id="182" name="Google Shape;228;p 24"/>
          <p:cNvSpPr/>
          <p:nvPr/>
        </p:nvSpPr>
        <p:spPr>
          <a:xfrm>
            <a:off x="7648200" y="3814560"/>
            <a:ext cx="936720" cy="834120"/>
          </a:xfrm>
          <a:custGeom>
            <a:avLst/>
            <a:gdLst/>
            <a:ahLst/>
            <a:rect l="l" t="t" r="r" b="b"/>
            <a:pathLst>
              <a:path w="444359" h="395938">
                <a:moveTo>
                  <a:pt x="135136" y="205311"/>
                </a:moveTo>
                <a:lnTo>
                  <a:pt x="101482" y="200356"/>
                </a:lnTo>
                <a:cubicBezTo>
                  <a:pt x="92405" y="199041"/>
                  <a:pt x="88788" y="213642"/>
                  <a:pt x="98347" y="215046"/>
                </a:cubicBezTo>
                <a:lnTo>
                  <a:pt x="132067" y="220001"/>
                </a:lnTo>
                <a:cubicBezTo>
                  <a:pt x="141056" y="221316"/>
                  <a:pt x="144673" y="206714"/>
                  <a:pt x="135136" y="205311"/>
                </a:cubicBezTo>
                <a:close/>
                <a:moveTo>
                  <a:pt x="293388" y="291650"/>
                </a:moveTo>
                <a:cubicBezTo>
                  <a:pt x="292554" y="295482"/>
                  <a:pt x="294966" y="299271"/>
                  <a:pt x="298803" y="300115"/>
                </a:cubicBezTo>
                <a:cubicBezTo>
                  <a:pt x="298869" y="300130"/>
                  <a:pt x="298935" y="300144"/>
                  <a:pt x="299001" y="300157"/>
                </a:cubicBezTo>
                <a:cubicBezTo>
                  <a:pt x="299373" y="300157"/>
                  <a:pt x="300711" y="300157"/>
                  <a:pt x="300930" y="300551"/>
                </a:cubicBezTo>
                <a:cubicBezTo>
                  <a:pt x="299921" y="300222"/>
                  <a:pt x="299790" y="300201"/>
                  <a:pt x="300535" y="300551"/>
                </a:cubicBezTo>
                <a:cubicBezTo>
                  <a:pt x="301280" y="300902"/>
                  <a:pt x="301456" y="300924"/>
                  <a:pt x="302267" y="301297"/>
                </a:cubicBezTo>
                <a:lnTo>
                  <a:pt x="302377" y="301297"/>
                </a:lnTo>
                <a:cubicBezTo>
                  <a:pt x="309919" y="308335"/>
                  <a:pt x="320267" y="297416"/>
                  <a:pt x="313142" y="290335"/>
                </a:cubicBezTo>
                <a:cubicBezTo>
                  <a:pt x="307573" y="285621"/>
                  <a:pt x="295756" y="281894"/>
                  <a:pt x="293388" y="291650"/>
                </a:cubicBezTo>
                <a:close/>
                <a:moveTo>
                  <a:pt x="285999" y="274110"/>
                </a:moveTo>
                <a:cubicBezTo>
                  <a:pt x="269973" y="263589"/>
                  <a:pt x="253310" y="254069"/>
                  <a:pt x="236099" y="245608"/>
                </a:cubicBezTo>
                <a:cubicBezTo>
                  <a:pt x="227833" y="241530"/>
                  <a:pt x="220752" y="255014"/>
                  <a:pt x="229346" y="259180"/>
                </a:cubicBezTo>
                <a:cubicBezTo>
                  <a:pt x="245439" y="267053"/>
                  <a:pt x="261027" y="275919"/>
                  <a:pt x="276002" y="285730"/>
                </a:cubicBezTo>
                <a:cubicBezTo>
                  <a:pt x="283697" y="290576"/>
                  <a:pt x="293738" y="279109"/>
                  <a:pt x="285999" y="274023"/>
                </a:cubicBezTo>
                <a:close/>
                <a:moveTo>
                  <a:pt x="433354" y="1544"/>
                </a:moveTo>
                <a:cubicBezTo>
                  <a:pt x="431162" y="3057"/>
                  <a:pt x="428970" y="4482"/>
                  <a:pt x="426908" y="5929"/>
                </a:cubicBezTo>
                <a:cubicBezTo>
                  <a:pt x="425220" y="5833"/>
                  <a:pt x="423554" y="6381"/>
                  <a:pt x="422239" y="7464"/>
                </a:cubicBezTo>
                <a:cubicBezTo>
                  <a:pt x="417854" y="10840"/>
                  <a:pt x="413469" y="14261"/>
                  <a:pt x="408952" y="17659"/>
                </a:cubicBezTo>
                <a:cubicBezTo>
                  <a:pt x="315904" y="75803"/>
                  <a:pt x="209197" y="106563"/>
                  <a:pt x="111195" y="154928"/>
                </a:cubicBezTo>
                <a:cubicBezTo>
                  <a:pt x="93853" y="163501"/>
                  <a:pt x="76773" y="172622"/>
                  <a:pt x="60089" y="182400"/>
                </a:cubicBezTo>
                <a:cubicBezTo>
                  <a:pt x="42549" y="192748"/>
                  <a:pt x="25141" y="203184"/>
                  <a:pt x="5146" y="208249"/>
                </a:cubicBezTo>
                <a:cubicBezTo>
                  <a:pt x="-1804" y="210003"/>
                  <a:pt x="-1147" y="218532"/>
                  <a:pt x="3743" y="221404"/>
                </a:cubicBezTo>
                <a:cubicBezTo>
                  <a:pt x="4707" y="222430"/>
                  <a:pt x="5979" y="223140"/>
                  <a:pt x="7360" y="223443"/>
                </a:cubicBezTo>
                <a:cubicBezTo>
                  <a:pt x="52371" y="234230"/>
                  <a:pt x="97777" y="242999"/>
                  <a:pt x="143621" y="249752"/>
                </a:cubicBezTo>
                <a:lnTo>
                  <a:pt x="143117" y="384961"/>
                </a:lnTo>
                <a:cubicBezTo>
                  <a:pt x="142854" y="387829"/>
                  <a:pt x="144717" y="390464"/>
                  <a:pt x="147502" y="391166"/>
                </a:cubicBezTo>
                <a:cubicBezTo>
                  <a:pt x="148620" y="393251"/>
                  <a:pt x="150615" y="394717"/>
                  <a:pt x="152939" y="395156"/>
                </a:cubicBezTo>
                <a:cubicBezTo>
                  <a:pt x="155855" y="396721"/>
                  <a:pt x="159473" y="395875"/>
                  <a:pt x="161402" y="393183"/>
                </a:cubicBezTo>
                <a:cubicBezTo>
                  <a:pt x="187777" y="361278"/>
                  <a:pt x="215797" y="330777"/>
                  <a:pt x="245351" y="301801"/>
                </a:cubicBezTo>
                <a:cubicBezTo>
                  <a:pt x="266464" y="313914"/>
                  <a:pt x="286394" y="328001"/>
                  <a:pt x="304854" y="343874"/>
                </a:cubicBezTo>
                <a:cubicBezTo>
                  <a:pt x="316496" y="353850"/>
                  <a:pt x="331712" y="356854"/>
                  <a:pt x="343266" y="366413"/>
                </a:cubicBezTo>
                <a:cubicBezTo>
                  <a:pt x="346533" y="371170"/>
                  <a:pt x="355500" y="370798"/>
                  <a:pt x="356553" y="363519"/>
                </a:cubicBezTo>
                <a:cubicBezTo>
                  <a:pt x="373083" y="243175"/>
                  <a:pt x="405510" y="125528"/>
                  <a:pt x="443593" y="10753"/>
                </a:cubicBezTo>
                <a:cubicBezTo>
                  <a:pt x="446618" y="4679"/>
                  <a:pt x="440173" y="-3323"/>
                  <a:pt x="433354" y="1457"/>
                </a:cubicBezTo>
                <a:close/>
                <a:moveTo>
                  <a:pt x="144959" y="232695"/>
                </a:moveTo>
                <a:cubicBezTo>
                  <a:pt x="144345" y="233234"/>
                  <a:pt x="143819" y="233863"/>
                  <a:pt x="143380" y="234558"/>
                </a:cubicBezTo>
                <a:cubicBezTo>
                  <a:pt x="106218" y="229033"/>
                  <a:pt x="69319" y="222164"/>
                  <a:pt x="32639" y="213949"/>
                </a:cubicBezTo>
                <a:cubicBezTo>
                  <a:pt x="52744" y="204895"/>
                  <a:pt x="71358" y="192134"/>
                  <a:pt x="90652" y="181720"/>
                </a:cubicBezTo>
                <a:cubicBezTo>
                  <a:pt x="170610" y="138682"/>
                  <a:pt x="257497" y="110816"/>
                  <a:pt x="339320" y="71856"/>
                </a:cubicBezTo>
                <a:cubicBezTo>
                  <a:pt x="273370" y="123978"/>
                  <a:pt x="208584" y="177592"/>
                  <a:pt x="144959" y="232695"/>
                </a:cubicBezTo>
                <a:close/>
                <a:moveTo>
                  <a:pt x="157938" y="358827"/>
                </a:moveTo>
                <a:lnTo>
                  <a:pt x="158376" y="242429"/>
                </a:lnTo>
                <a:cubicBezTo>
                  <a:pt x="158376" y="241688"/>
                  <a:pt x="158267" y="240949"/>
                  <a:pt x="158070" y="240237"/>
                </a:cubicBezTo>
                <a:cubicBezTo>
                  <a:pt x="232788" y="175691"/>
                  <a:pt x="309152" y="113147"/>
                  <a:pt x="387181" y="52607"/>
                </a:cubicBezTo>
                <a:lnTo>
                  <a:pt x="297159" y="137213"/>
                </a:lnTo>
                <a:cubicBezTo>
                  <a:pt x="259098" y="172972"/>
                  <a:pt x="217024" y="207372"/>
                  <a:pt x="189531" y="252405"/>
                </a:cubicBezTo>
                <a:cubicBezTo>
                  <a:pt x="188216" y="254240"/>
                  <a:pt x="188018" y="256658"/>
                  <a:pt x="189049" y="258675"/>
                </a:cubicBezTo>
                <a:cubicBezTo>
                  <a:pt x="189356" y="259691"/>
                  <a:pt x="189882" y="260620"/>
                  <a:pt x="190605" y="261394"/>
                </a:cubicBezTo>
                <a:cubicBezTo>
                  <a:pt x="181222" y="294369"/>
                  <a:pt x="170325" y="326817"/>
                  <a:pt x="157938" y="358739"/>
                </a:cubicBezTo>
                <a:close/>
                <a:moveTo>
                  <a:pt x="174535" y="355801"/>
                </a:moveTo>
                <a:cubicBezTo>
                  <a:pt x="184927" y="328323"/>
                  <a:pt x="194267" y="300479"/>
                  <a:pt x="202533" y="272269"/>
                </a:cubicBezTo>
                <a:cubicBezTo>
                  <a:pt x="212223" y="280124"/>
                  <a:pt x="222396" y="287379"/>
                  <a:pt x="232964" y="293996"/>
                </a:cubicBezTo>
                <a:cubicBezTo>
                  <a:pt x="212749" y="313844"/>
                  <a:pt x="193281" y="334418"/>
                  <a:pt x="174535" y="355713"/>
                </a:cubicBezTo>
                <a:close/>
                <a:moveTo>
                  <a:pt x="344143" y="348807"/>
                </a:moveTo>
                <a:cubicBezTo>
                  <a:pt x="334847" y="343743"/>
                  <a:pt x="324608" y="340432"/>
                  <a:pt x="316255" y="333460"/>
                </a:cubicBezTo>
                <a:cubicBezTo>
                  <a:pt x="304394" y="323193"/>
                  <a:pt x="291962" y="313631"/>
                  <a:pt x="278983" y="304827"/>
                </a:cubicBezTo>
                <a:cubicBezTo>
                  <a:pt x="253946" y="288581"/>
                  <a:pt x="227351" y="274637"/>
                  <a:pt x="205273" y="254400"/>
                </a:cubicBezTo>
                <a:cubicBezTo>
                  <a:pt x="232701" y="211538"/>
                  <a:pt x="274533" y="178125"/>
                  <a:pt x="311212" y="143637"/>
                </a:cubicBezTo>
                <a:cubicBezTo>
                  <a:pt x="346993" y="110020"/>
                  <a:pt x="382796" y="76401"/>
                  <a:pt x="418643" y="42784"/>
                </a:cubicBezTo>
                <a:cubicBezTo>
                  <a:pt x="385098" y="142442"/>
                  <a:pt x="360170" y="244797"/>
                  <a:pt x="344143" y="348720"/>
                </a:cubicBezTo>
                <a:close/>
                <a:moveTo>
                  <a:pt x="55923" y="163172"/>
                </a:moveTo>
                <a:cubicBezTo>
                  <a:pt x="76620" y="147430"/>
                  <a:pt x="101087" y="137608"/>
                  <a:pt x="124481" y="126668"/>
                </a:cubicBezTo>
                <a:lnTo>
                  <a:pt x="197797" y="92378"/>
                </a:lnTo>
                <a:cubicBezTo>
                  <a:pt x="206238" y="88431"/>
                  <a:pt x="202379" y="74268"/>
                  <a:pt x="193412" y="78434"/>
                </a:cubicBezTo>
                <a:lnTo>
                  <a:pt x="116237" y="114478"/>
                </a:lnTo>
                <a:cubicBezTo>
                  <a:pt x="92954" y="125440"/>
                  <a:pt x="68661" y="135306"/>
                  <a:pt x="48052" y="150960"/>
                </a:cubicBezTo>
                <a:cubicBezTo>
                  <a:pt x="40532" y="156704"/>
                  <a:pt x="48096" y="169114"/>
                  <a:pt x="55923" y="163084"/>
                </a:cubicBezTo>
                <a:close/>
                <a:moveTo>
                  <a:pt x="41760" y="133684"/>
                </a:moveTo>
                <a:cubicBezTo>
                  <a:pt x="60198" y="122794"/>
                  <a:pt x="79119" y="112805"/>
                  <a:pt x="98479" y="103713"/>
                </a:cubicBezTo>
                <a:cubicBezTo>
                  <a:pt x="106919" y="99766"/>
                  <a:pt x="103061" y="85603"/>
                  <a:pt x="94094" y="89791"/>
                </a:cubicBezTo>
                <a:cubicBezTo>
                  <a:pt x="73528" y="99409"/>
                  <a:pt x="53467" y="109990"/>
                  <a:pt x="33889" y="121537"/>
                </a:cubicBezTo>
                <a:cubicBezTo>
                  <a:pt x="25689" y="126339"/>
                  <a:pt x="33341" y="138573"/>
                  <a:pt x="41760" y="133596"/>
                </a:cubicBezTo>
                <a:close/>
              </a:path>
            </a:pathLst>
          </a:custGeom>
          <a:solidFill>
            <a:srgbClr val="2b3547"/>
          </a:solidFill>
          <a:ln w="0">
            <a:noFill/>
          </a:ln>
        </p:spPr>
        <p:style>
          <a:lnRef idx="0"/>
          <a:fillRef idx="0"/>
          <a:effectRef idx="0"/>
          <a:fontRef idx="minor"/>
        </p:style>
      </p:sp>
      <p:sp>
        <p:nvSpPr>
          <p:cNvPr id="183" name="PlaceHolder 3"/>
          <p:cNvSpPr>
            <a:spLocks noGrp="1"/>
          </p:cNvSpPr>
          <p:nvPr>
            <p:ph/>
          </p:nvPr>
        </p:nvSpPr>
        <p:spPr>
          <a:xfrm>
            <a:off x="1188000" y="1307520"/>
            <a:ext cx="6425280" cy="2839320"/>
          </a:xfrm>
          <a:prstGeom prst="rect">
            <a:avLst/>
          </a:prstGeom>
          <a:noFill/>
          <a:ln w="0">
            <a:noFill/>
          </a:ln>
        </p:spPr>
        <p:txBody>
          <a:bodyPr lIns="0" rIns="0" tIns="0" bIns="0" anchor="t">
            <a:noAutofit/>
          </a:bodyPr>
          <a:p>
            <a:pPr>
              <a:lnSpc>
                <a:spcPct val="100000"/>
              </a:lnSpc>
              <a:buNone/>
            </a:pPr>
            <a:endParaRPr b="0" lang="en-US" sz="1800" spc="-1" strike="noStrike">
              <a:latin typeface="Arial"/>
            </a:endParaRPr>
          </a:p>
          <a:p>
            <a:pPr>
              <a:lnSpc>
                <a:spcPct val="100000"/>
              </a:lnSpc>
              <a:buNone/>
            </a:pPr>
            <a:endParaRPr b="0" lang="en-US" sz="1800" spc="-1" strike="noStrike">
              <a:latin typeface="Arial"/>
            </a:endParaRPr>
          </a:p>
          <a:p>
            <a:pPr>
              <a:lnSpc>
                <a:spcPct val="100000"/>
              </a:lnSpc>
              <a:buNone/>
            </a:pPr>
            <a:r>
              <a:rPr b="0" lang="en-US" sz="1800" spc="-1" strike="noStrike">
                <a:solidFill>
                  <a:srgbClr val="000000"/>
                </a:solidFill>
                <a:latin typeface="Arial"/>
              </a:rPr>
              <a:t>With NATS, application developers can:</a:t>
            </a:r>
            <a:endParaRPr b="0" lang="en-US" sz="1800" spc="-1" strike="noStrike">
              <a:latin typeface="Arial"/>
            </a:endParaRPr>
          </a:p>
          <a:p>
            <a:pPr>
              <a:lnSpc>
                <a:spcPct val="100000"/>
              </a:lnSpc>
              <a:buNone/>
            </a:pPr>
            <a:endParaRPr b="0" lang="en-US" sz="1800" spc="-1" strike="noStrike">
              <a:latin typeface="Arial"/>
            </a:endParaRPr>
          </a:p>
          <a:p>
            <a:pPr marL="432000" indent="-324000">
              <a:lnSpc>
                <a:spcPct val="100000"/>
              </a:lnSpc>
              <a:buClr>
                <a:srgbClr val="000000"/>
              </a:buClr>
              <a:buFont typeface="Wingdings" charset="2"/>
              <a:buChar char=""/>
            </a:pPr>
            <a:r>
              <a:rPr b="0" lang="en-US" sz="1800" spc="-1" strike="noStrike">
                <a:solidFill>
                  <a:srgbClr val="000000"/>
                </a:solidFill>
                <a:latin typeface="Arial"/>
              </a:rPr>
              <a:t>Effortlessly build distributed and scalable client-server   applications.</a:t>
            </a:r>
            <a:endParaRPr b="0" lang="en-US" sz="1800" spc="-1" strike="noStrike">
              <a:latin typeface="Arial"/>
            </a:endParaRPr>
          </a:p>
          <a:p>
            <a:pPr marL="432000" indent="-324000">
              <a:lnSpc>
                <a:spcPct val="100000"/>
              </a:lnSpc>
              <a:buClr>
                <a:srgbClr val="000000"/>
              </a:buClr>
              <a:buFont typeface="Wingdings" charset="2"/>
              <a:buChar char=""/>
            </a:pPr>
            <a:r>
              <a:rPr b="0" lang="en-US" sz="1800" spc="-1" strike="noStrike">
                <a:solidFill>
                  <a:srgbClr val="000000"/>
                </a:solidFill>
                <a:latin typeface="Arial"/>
              </a:rPr>
              <a:t>Store and distribute data in real-time in a general manner. This can flexibly be achieved across various environments, languages, cloud providers and on-premises systems.</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 name="PlaceHolder 1"/>
          <p:cNvSpPr>
            <a:spLocks noGrp="1"/>
          </p:cNvSpPr>
          <p:nvPr>
            <p:ph type="title"/>
          </p:nvPr>
        </p:nvSpPr>
        <p:spPr>
          <a:xfrm>
            <a:off x="883080" y="682920"/>
            <a:ext cx="6425280" cy="395280"/>
          </a:xfrm>
          <a:prstGeom prst="rect">
            <a:avLst/>
          </a:prstGeom>
          <a:noFill/>
          <a:ln w="0">
            <a:noFill/>
          </a:ln>
        </p:spPr>
        <p:txBody>
          <a:bodyPr lIns="0" rIns="0" tIns="0" bIns="0" anchor="ctr">
            <a:noAutofit/>
          </a:bodyPr>
          <a:p>
            <a:pPr>
              <a:lnSpc>
                <a:spcPct val="90000"/>
              </a:lnSpc>
              <a:buNone/>
              <a:tabLst>
                <a:tab algn="l" pos="0"/>
              </a:tabLst>
            </a:pPr>
            <a:r>
              <a:rPr b="1" lang="en" sz="3400" spc="-1" strike="noStrike">
                <a:solidFill>
                  <a:srgbClr val="2b3547"/>
                </a:solidFill>
                <a:latin typeface="Amatic SC"/>
                <a:ea typeface="Amatic SC"/>
              </a:rPr>
              <a:t>What is NATS</a:t>
            </a:r>
            <a:endParaRPr b="0" lang="en-US" sz="3400" spc="-1" strike="noStrike">
              <a:latin typeface="Arial"/>
            </a:endParaRPr>
          </a:p>
        </p:txBody>
      </p:sp>
      <p:sp>
        <p:nvSpPr>
          <p:cNvPr id="185" name="PlaceHolder 2"/>
          <p:cNvSpPr>
            <a:spLocks noGrp="1"/>
          </p:cNvSpPr>
          <p:nvPr>
            <p:ph type="sldNum" idx="23"/>
          </p:nvPr>
        </p:nvSpPr>
        <p:spPr>
          <a:xfrm>
            <a:off x="8403840" y="4692960"/>
            <a:ext cx="547560" cy="299160"/>
          </a:xfrm>
          <a:prstGeom prst="rect">
            <a:avLst/>
          </a:prstGeom>
          <a:noFill/>
          <a:ln w="0">
            <a:noFill/>
          </a:ln>
        </p:spPr>
        <p:txBody>
          <a:bodyPr lIns="0" rIns="0" tIns="0" bIns="0" anchor="ctr">
            <a:noAutofit/>
          </a:bodyPr>
          <a:lstStyle>
            <a:lvl1pPr algn="r">
              <a:lnSpc>
                <a:spcPct val="100000"/>
              </a:lnSpc>
              <a:buNone/>
              <a:tabLst>
                <a:tab algn="l" pos="0"/>
              </a:tabLst>
              <a:defRPr b="1" lang="en" sz="1500" spc="-1" strike="noStrike">
                <a:solidFill>
                  <a:srgbClr val="7f8b91"/>
                </a:solidFill>
                <a:latin typeface="Amatic SC"/>
                <a:ea typeface="Amatic SC"/>
              </a:defRPr>
            </a:lvl1pPr>
          </a:lstStyle>
          <a:p>
            <a:pPr algn="r">
              <a:lnSpc>
                <a:spcPct val="100000"/>
              </a:lnSpc>
              <a:buNone/>
              <a:tabLst>
                <a:tab algn="l" pos="0"/>
              </a:tabLst>
            </a:pPr>
            <a:fld id="{D1466DE8-0D2E-41F6-95CE-266415D8B265}" type="slidenum">
              <a:rPr b="1" lang="en" sz="1500" spc="-1" strike="noStrike">
                <a:solidFill>
                  <a:srgbClr val="7f8b91"/>
                </a:solidFill>
                <a:latin typeface="Amatic SC"/>
                <a:ea typeface="Amatic SC"/>
              </a:rPr>
              <a:t>&lt;number&gt;</a:t>
            </a:fld>
            <a:endParaRPr b="0" lang="en-US" sz="1500" spc="-1" strike="noStrike">
              <a:latin typeface="Times New Roman"/>
            </a:endParaRPr>
          </a:p>
        </p:txBody>
      </p:sp>
      <p:sp>
        <p:nvSpPr>
          <p:cNvPr id="186" name="Google Shape;228;p 19"/>
          <p:cNvSpPr/>
          <p:nvPr/>
        </p:nvSpPr>
        <p:spPr>
          <a:xfrm>
            <a:off x="7648200" y="3814560"/>
            <a:ext cx="936720" cy="834120"/>
          </a:xfrm>
          <a:custGeom>
            <a:avLst/>
            <a:gdLst/>
            <a:ahLst/>
            <a:rect l="l" t="t" r="r" b="b"/>
            <a:pathLst>
              <a:path w="444359" h="395938">
                <a:moveTo>
                  <a:pt x="135136" y="205311"/>
                </a:moveTo>
                <a:lnTo>
                  <a:pt x="101482" y="200356"/>
                </a:lnTo>
                <a:cubicBezTo>
                  <a:pt x="92405" y="199041"/>
                  <a:pt x="88788" y="213642"/>
                  <a:pt x="98347" y="215046"/>
                </a:cubicBezTo>
                <a:lnTo>
                  <a:pt x="132067" y="220001"/>
                </a:lnTo>
                <a:cubicBezTo>
                  <a:pt x="141056" y="221316"/>
                  <a:pt x="144673" y="206714"/>
                  <a:pt x="135136" y="205311"/>
                </a:cubicBezTo>
                <a:close/>
                <a:moveTo>
                  <a:pt x="293388" y="291650"/>
                </a:moveTo>
                <a:cubicBezTo>
                  <a:pt x="292554" y="295482"/>
                  <a:pt x="294966" y="299271"/>
                  <a:pt x="298803" y="300115"/>
                </a:cubicBezTo>
                <a:cubicBezTo>
                  <a:pt x="298869" y="300130"/>
                  <a:pt x="298935" y="300144"/>
                  <a:pt x="299001" y="300157"/>
                </a:cubicBezTo>
                <a:cubicBezTo>
                  <a:pt x="299373" y="300157"/>
                  <a:pt x="300711" y="300157"/>
                  <a:pt x="300930" y="300551"/>
                </a:cubicBezTo>
                <a:cubicBezTo>
                  <a:pt x="299921" y="300222"/>
                  <a:pt x="299790" y="300201"/>
                  <a:pt x="300535" y="300551"/>
                </a:cubicBezTo>
                <a:cubicBezTo>
                  <a:pt x="301280" y="300902"/>
                  <a:pt x="301456" y="300924"/>
                  <a:pt x="302267" y="301297"/>
                </a:cubicBezTo>
                <a:lnTo>
                  <a:pt x="302377" y="301297"/>
                </a:lnTo>
                <a:cubicBezTo>
                  <a:pt x="309919" y="308335"/>
                  <a:pt x="320267" y="297416"/>
                  <a:pt x="313142" y="290335"/>
                </a:cubicBezTo>
                <a:cubicBezTo>
                  <a:pt x="307573" y="285621"/>
                  <a:pt x="295756" y="281894"/>
                  <a:pt x="293388" y="291650"/>
                </a:cubicBezTo>
                <a:close/>
                <a:moveTo>
                  <a:pt x="285999" y="274110"/>
                </a:moveTo>
                <a:cubicBezTo>
                  <a:pt x="269973" y="263589"/>
                  <a:pt x="253310" y="254069"/>
                  <a:pt x="236099" y="245608"/>
                </a:cubicBezTo>
                <a:cubicBezTo>
                  <a:pt x="227833" y="241530"/>
                  <a:pt x="220752" y="255014"/>
                  <a:pt x="229346" y="259180"/>
                </a:cubicBezTo>
                <a:cubicBezTo>
                  <a:pt x="245439" y="267053"/>
                  <a:pt x="261027" y="275919"/>
                  <a:pt x="276002" y="285730"/>
                </a:cubicBezTo>
                <a:cubicBezTo>
                  <a:pt x="283697" y="290576"/>
                  <a:pt x="293738" y="279109"/>
                  <a:pt x="285999" y="274023"/>
                </a:cubicBezTo>
                <a:close/>
                <a:moveTo>
                  <a:pt x="433354" y="1544"/>
                </a:moveTo>
                <a:cubicBezTo>
                  <a:pt x="431162" y="3057"/>
                  <a:pt x="428970" y="4482"/>
                  <a:pt x="426908" y="5929"/>
                </a:cubicBezTo>
                <a:cubicBezTo>
                  <a:pt x="425220" y="5833"/>
                  <a:pt x="423554" y="6381"/>
                  <a:pt x="422239" y="7464"/>
                </a:cubicBezTo>
                <a:cubicBezTo>
                  <a:pt x="417854" y="10840"/>
                  <a:pt x="413469" y="14261"/>
                  <a:pt x="408952" y="17659"/>
                </a:cubicBezTo>
                <a:cubicBezTo>
                  <a:pt x="315904" y="75803"/>
                  <a:pt x="209197" y="106563"/>
                  <a:pt x="111195" y="154928"/>
                </a:cubicBezTo>
                <a:cubicBezTo>
                  <a:pt x="93853" y="163501"/>
                  <a:pt x="76773" y="172622"/>
                  <a:pt x="60089" y="182400"/>
                </a:cubicBezTo>
                <a:cubicBezTo>
                  <a:pt x="42549" y="192748"/>
                  <a:pt x="25141" y="203184"/>
                  <a:pt x="5146" y="208249"/>
                </a:cubicBezTo>
                <a:cubicBezTo>
                  <a:pt x="-1804" y="210003"/>
                  <a:pt x="-1147" y="218532"/>
                  <a:pt x="3743" y="221404"/>
                </a:cubicBezTo>
                <a:cubicBezTo>
                  <a:pt x="4707" y="222430"/>
                  <a:pt x="5979" y="223140"/>
                  <a:pt x="7360" y="223443"/>
                </a:cubicBezTo>
                <a:cubicBezTo>
                  <a:pt x="52371" y="234230"/>
                  <a:pt x="97777" y="242999"/>
                  <a:pt x="143621" y="249752"/>
                </a:cubicBezTo>
                <a:lnTo>
                  <a:pt x="143117" y="384961"/>
                </a:lnTo>
                <a:cubicBezTo>
                  <a:pt x="142854" y="387829"/>
                  <a:pt x="144717" y="390464"/>
                  <a:pt x="147502" y="391166"/>
                </a:cubicBezTo>
                <a:cubicBezTo>
                  <a:pt x="148620" y="393251"/>
                  <a:pt x="150615" y="394717"/>
                  <a:pt x="152939" y="395156"/>
                </a:cubicBezTo>
                <a:cubicBezTo>
                  <a:pt x="155855" y="396721"/>
                  <a:pt x="159473" y="395875"/>
                  <a:pt x="161402" y="393183"/>
                </a:cubicBezTo>
                <a:cubicBezTo>
                  <a:pt x="187777" y="361278"/>
                  <a:pt x="215797" y="330777"/>
                  <a:pt x="245351" y="301801"/>
                </a:cubicBezTo>
                <a:cubicBezTo>
                  <a:pt x="266464" y="313914"/>
                  <a:pt x="286394" y="328001"/>
                  <a:pt x="304854" y="343874"/>
                </a:cubicBezTo>
                <a:cubicBezTo>
                  <a:pt x="316496" y="353850"/>
                  <a:pt x="331712" y="356854"/>
                  <a:pt x="343266" y="366413"/>
                </a:cubicBezTo>
                <a:cubicBezTo>
                  <a:pt x="346533" y="371170"/>
                  <a:pt x="355500" y="370798"/>
                  <a:pt x="356553" y="363519"/>
                </a:cubicBezTo>
                <a:cubicBezTo>
                  <a:pt x="373083" y="243175"/>
                  <a:pt x="405510" y="125528"/>
                  <a:pt x="443593" y="10753"/>
                </a:cubicBezTo>
                <a:cubicBezTo>
                  <a:pt x="446618" y="4679"/>
                  <a:pt x="440173" y="-3323"/>
                  <a:pt x="433354" y="1457"/>
                </a:cubicBezTo>
                <a:close/>
                <a:moveTo>
                  <a:pt x="144959" y="232695"/>
                </a:moveTo>
                <a:cubicBezTo>
                  <a:pt x="144345" y="233234"/>
                  <a:pt x="143819" y="233863"/>
                  <a:pt x="143380" y="234558"/>
                </a:cubicBezTo>
                <a:cubicBezTo>
                  <a:pt x="106218" y="229033"/>
                  <a:pt x="69319" y="222164"/>
                  <a:pt x="32639" y="213949"/>
                </a:cubicBezTo>
                <a:cubicBezTo>
                  <a:pt x="52744" y="204895"/>
                  <a:pt x="71358" y="192134"/>
                  <a:pt x="90652" y="181720"/>
                </a:cubicBezTo>
                <a:cubicBezTo>
                  <a:pt x="170610" y="138682"/>
                  <a:pt x="257497" y="110816"/>
                  <a:pt x="339320" y="71856"/>
                </a:cubicBezTo>
                <a:cubicBezTo>
                  <a:pt x="273370" y="123978"/>
                  <a:pt x="208584" y="177592"/>
                  <a:pt x="144959" y="232695"/>
                </a:cubicBezTo>
                <a:close/>
                <a:moveTo>
                  <a:pt x="157938" y="358827"/>
                </a:moveTo>
                <a:lnTo>
                  <a:pt x="158376" y="242429"/>
                </a:lnTo>
                <a:cubicBezTo>
                  <a:pt x="158376" y="241688"/>
                  <a:pt x="158267" y="240949"/>
                  <a:pt x="158070" y="240237"/>
                </a:cubicBezTo>
                <a:cubicBezTo>
                  <a:pt x="232788" y="175691"/>
                  <a:pt x="309152" y="113147"/>
                  <a:pt x="387181" y="52607"/>
                </a:cubicBezTo>
                <a:lnTo>
                  <a:pt x="297159" y="137213"/>
                </a:lnTo>
                <a:cubicBezTo>
                  <a:pt x="259098" y="172972"/>
                  <a:pt x="217024" y="207372"/>
                  <a:pt x="189531" y="252405"/>
                </a:cubicBezTo>
                <a:cubicBezTo>
                  <a:pt x="188216" y="254240"/>
                  <a:pt x="188018" y="256658"/>
                  <a:pt x="189049" y="258675"/>
                </a:cubicBezTo>
                <a:cubicBezTo>
                  <a:pt x="189356" y="259691"/>
                  <a:pt x="189882" y="260620"/>
                  <a:pt x="190605" y="261394"/>
                </a:cubicBezTo>
                <a:cubicBezTo>
                  <a:pt x="181222" y="294369"/>
                  <a:pt x="170325" y="326817"/>
                  <a:pt x="157938" y="358739"/>
                </a:cubicBezTo>
                <a:close/>
                <a:moveTo>
                  <a:pt x="174535" y="355801"/>
                </a:moveTo>
                <a:cubicBezTo>
                  <a:pt x="184927" y="328323"/>
                  <a:pt x="194267" y="300479"/>
                  <a:pt x="202533" y="272269"/>
                </a:cubicBezTo>
                <a:cubicBezTo>
                  <a:pt x="212223" y="280124"/>
                  <a:pt x="222396" y="287379"/>
                  <a:pt x="232964" y="293996"/>
                </a:cubicBezTo>
                <a:cubicBezTo>
                  <a:pt x="212749" y="313844"/>
                  <a:pt x="193281" y="334418"/>
                  <a:pt x="174535" y="355713"/>
                </a:cubicBezTo>
                <a:close/>
                <a:moveTo>
                  <a:pt x="344143" y="348807"/>
                </a:moveTo>
                <a:cubicBezTo>
                  <a:pt x="334847" y="343743"/>
                  <a:pt x="324608" y="340432"/>
                  <a:pt x="316255" y="333460"/>
                </a:cubicBezTo>
                <a:cubicBezTo>
                  <a:pt x="304394" y="323193"/>
                  <a:pt x="291962" y="313631"/>
                  <a:pt x="278983" y="304827"/>
                </a:cubicBezTo>
                <a:cubicBezTo>
                  <a:pt x="253946" y="288581"/>
                  <a:pt x="227351" y="274637"/>
                  <a:pt x="205273" y="254400"/>
                </a:cubicBezTo>
                <a:cubicBezTo>
                  <a:pt x="232701" y="211538"/>
                  <a:pt x="274533" y="178125"/>
                  <a:pt x="311212" y="143637"/>
                </a:cubicBezTo>
                <a:cubicBezTo>
                  <a:pt x="346993" y="110020"/>
                  <a:pt x="382796" y="76401"/>
                  <a:pt x="418643" y="42784"/>
                </a:cubicBezTo>
                <a:cubicBezTo>
                  <a:pt x="385098" y="142442"/>
                  <a:pt x="360170" y="244797"/>
                  <a:pt x="344143" y="348720"/>
                </a:cubicBezTo>
                <a:close/>
                <a:moveTo>
                  <a:pt x="55923" y="163172"/>
                </a:moveTo>
                <a:cubicBezTo>
                  <a:pt x="76620" y="147430"/>
                  <a:pt x="101087" y="137608"/>
                  <a:pt x="124481" y="126668"/>
                </a:cubicBezTo>
                <a:lnTo>
                  <a:pt x="197797" y="92378"/>
                </a:lnTo>
                <a:cubicBezTo>
                  <a:pt x="206238" y="88431"/>
                  <a:pt x="202379" y="74268"/>
                  <a:pt x="193412" y="78434"/>
                </a:cubicBezTo>
                <a:lnTo>
                  <a:pt x="116237" y="114478"/>
                </a:lnTo>
                <a:cubicBezTo>
                  <a:pt x="92954" y="125440"/>
                  <a:pt x="68661" y="135306"/>
                  <a:pt x="48052" y="150960"/>
                </a:cubicBezTo>
                <a:cubicBezTo>
                  <a:pt x="40532" y="156704"/>
                  <a:pt x="48096" y="169114"/>
                  <a:pt x="55923" y="163084"/>
                </a:cubicBezTo>
                <a:close/>
                <a:moveTo>
                  <a:pt x="41760" y="133684"/>
                </a:moveTo>
                <a:cubicBezTo>
                  <a:pt x="60198" y="122794"/>
                  <a:pt x="79119" y="112805"/>
                  <a:pt x="98479" y="103713"/>
                </a:cubicBezTo>
                <a:cubicBezTo>
                  <a:pt x="106919" y="99766"/>
                  <a:pt x="103061" y="85603"/>
                  <a:pt x="94094" y="89791"/>
                </a:cubicBezTo>
                <a:cubicBezTo>
                  <a:pt x="73528" y="99409"/>
                  <a:pt x="53467" y="109990"/>
                  <a:pt x="33889" y="121537"/>
                </a:cubicBezTo>
                <a:cubicBezTo>
                  <a:pt x="25689" y="126339"/>
                  <a:pt x="33341" y="138573"/>
                  <a:pt x="41760" y="133596"/>
                </a:cubicBezTo>
                <a:close/>
              </a:path>
            </a:pathLst>
          </a:custGeom>
          <a:solidFill>
            <a:srgbClr val="2b3547"/>
          </a:solidFill>
          <a:ln w="0">
            <a:noFill/>
          </a:ln>
        </p:spPr>
        <p:style>
          <a:lnRef idx="0"/>
          <a:fillRef idx="0"/>
          <a:effectRef idx="0"/>
          <a:fontRef idx="minor"/>
        </p:style>
      </p:sp>
      <p:sp>
        <p:nvSpPr>
          <p:cNvPr id="187" name="PlaceHolder 3"/>
          <p:cNvSpPr>
            <a:spLocks noGrp="1"/>
          </p:cNvSpPr>
          <p:nvPr>
            <p:ph/>
          </p:nvPr>
        </p:nvSpPr>
        <p:spPr>
          <a:xfrm>
            <a:off x="1188000" y="1307520"/>
            <a:ext cx="6425280" cy="2839320"/>
          </a:xfrm>
          <a:prstGeom prst="rect">
            <a:avLst/>
          </a:prstGeom>
          <a:noFill/>
          <a:ln w="0">
            <a:noFill/>
          </a:ln>
        </p:spPr>
        <p:txBody>
          <a:bodyPr lIns="0" rIns="0" tIns="0" bIns="0" anchor="t">
            <a:noAutofit/>
          </a:bodyPr>
          <a:p>
            <a:pPr>
              <a:lnSpc>
                <a:spcPct val="100000"/>
              </a:lnSpc>
              <a:buNone/>
            </a:pPr>
            <a:endParaRPr b="0" lang="en-US" sz="1800" spc="-1" strike="noStrike">
              <a:latin typeface="Arial"/>
            </a:endParaRPr>
          </a:p>
          <a:p>
            <a:pPr>
              <a:lnSpc>
                <a:spcPct val="100000"/>
              </a:lnSpc>
              <a:buNone/>
            </a:pPr>
            <a:r>
              <a:rPr b="1" lang="en-US" sz="1800" spc="-1" strike="noStrike">
                <a:solidFill>
                  <a:srgbClr val="000000"/>
                </a:solidFill>
                <a:latin typeface="Arial"/>
              </a:rPr>
              <a:t>NATS Client Applications</a:t>
            </a:r>
            <a:endParaRPr b="0" lang="en-US" sz="1800" spc="-1" strike="noStrike">
              <a:latin typeface="Arial"/>
            </a:endParaRPr>
          </a:p>
          <a:p>
            <a:pPr>
              <a:lnSpc>
                <a:spcPct val="100000"/>
              </a:lnSpc>
              <a:buNone/>
            </a:pPr>
            <a:endParaRPr b="0" lang="en-US" sz="1800" spc="-1" strike="noStrike">
              <a:latin typeface="Arial"/>
            </a:endParaRPr>
          </a:p>
          <a:p>
            <a:pPr marL="432000" indent="-324000">
              <a:lnSpc>
                <a:spcPct val="100000"/>
              </a:lnSpc>
              <a:buClr>
                <a:srgbClr val="000000"/>
              </a:buClr>
              <a:buFont typeface="Wingdings" charset="2"/>
              <a:buChar char=""/>
            </a:pPr>
            <a:r>
              <a:rPr b="0" lang="en-US" sz="1400" spc="-1" strike="noStrike">
                <a:solidFill>
                  <a:srgbClr val="000000"/>
                </a:solidFill>
                <a:latin typeface="Arial"/>
              </a:rPr>
              <a:t>Developers use one of the NATS client libraries in their application code to allow them to </a:t>
            </a:r>
            <a:r>
              <a:rPr b="0" lang="en-US" sz="1400" spc="-1" strike="noStrike" u="sng">
                <a:solidFill>
                  <a:srgbClr val="000000"/>
                </a:solidFill>
                <a:uFillTx/>
                <a:latin typeface="Arial"/>
              </a:rPr>
              <a:t>publish</a:t>
            </a:r>
            <a:r>
              <a:rPr b="0" lang="en-US" sz="1400" spc="-1" strike="noStrike">
                <a:solidFill>
                  <a:srgbClr val="000000"/>
                </a:solidFill>
                <a:latin typeface="Arial"/>
              </a:rPr>
              <a:t>, </a:t>
            </a:r>
            <a:r>
              <a:rPr b="0" lang="en-US" sz="1400" spc="-1" strike="noStrike" u="sng">
                <a:solidFill>
                  <a:srgbClr val="000000"/>
                </a:solidFill>
                <a:uFillTx/>
                <a:latin typeface="Arial"/>
              </a:rPr>
              <a:t>subscribe</a:t>
            </a:r>
            <a:r>
              <a:rPr b="0" lang="en-US" sz="1400" spc="-1" strike="noStrike">
                <a:solidFill>
                  <a:srgbClr val="000000"/>
                </a:solidFill>
                <a:latin typeface="Arial"/>
              </a:rPr>
              <a:t>, r</a:t>
            </a:r>
            <a:r>
              <a:rPr b="0" lang="en-US" sz="1400" spc="-1" strike="noStrike" u="sng">
                <a:solidFill>
                  <a:srgbClr val="000000"/>
                </a:solidFill>
                <a:uFillTx/>
                <a:latin typeface="Arial"/>
              </a:rPr>
              <a:t>equest and reply</a:t>
            </a:r>
            <a:r>
              <a:rPr b="0" lang="en-US" sz="1400" spc="-1" strike="noStrike">
                <a:solidFill>
                  <a:srgbClr val="000000"/>
                </a:solidFill>
                <a:latin typeface="Arial"/>
              </a:rPr>
              <a:t> between instances of the application or between completely separate applications. Those applications are generally referred to as 'client applications' or sometimes just as 'clients' throughout this manual (since from the point of view of the NATS server, they are clients).</a:t>
            </a:r>
            <a:endParaRPr b="0" lang="en-US" sz="1400" spc="-1" strike="noStrike">
              <a:latin typeface="Arial"/>
            </a:endParaRPr>
          </a:p>
          <a:p>
            <a:pPr>
              <a:lnSpc>
                <a:spcPct val="100000"/>
              </a:lnSpc>
              <a:buNone/>
            </a:pPr>
            <a:endParaRPr b="0" lang="en-US" sz="1400" spc="-1" strike="noStrike">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8" name="PlaceHolder 1"/>
          <p:cNvSpPr>
            <a:spLocks noGrp="1"/>
          </p:cNvSpPr>
          <p:nvPr>
            <p:ph type="title"/>
          </p:nvPr>
        </p:nvSpPr>
        <p:spPr>
          <a:xfrm>
            <a:off x="883080" y="682920"/>
            <a:ext cx="6425280" cy="395280"/>
          </a:xfrm>
          <a:prstGeom prst="rect">
            <a:avLst/>
          </a:prstGeom>
          <a:noFill/>
          <a:ln w="0">
            <a:noFill/>
          </a:ln>
        </p:spPr>
        <p:txBody>
          <a:bodyPr lIns="0" rIns="0" tIns="0" bIns="0" anchor="ctr">
            <a:noAutofit/>
          </a:bodyPr>
          <a:p>
            <a:pPr>
              <a:lnSpc>
                <a:spcPct val="90000"/>
              </a:lnSpc>
              <a:buNone/>
              <a:tabLst>
                <a:tab algn="l" pos="0"/>
              </a:tabLst>
            </a:pPr>
            <a:r>
              <a:rPr b="1" lang="en" sz="3400" spc="-1" strike="noStrike">
                <a:solidFill>
                  <a:srgbClr val="2b3547"/>
                </a:solidFill>
                <a:latin typeface="Amatic SC"/>
                <a:ea typeface="Amatic SC"/>
              </a:rPr>
              <a:t>What is NATS</a:t>
            </a:r>
            <a:endParaRPr b="0" lang="en-US" sz="3400" spc="-1" strike="noStrike">
              <a:latin typeface="Arial"/>
            </a:endParaRPr>
          </a:p>
        </p:txBody>
      </p:sp>
      <p:sp>
        <p:nvSpPr>
          <p:cNvPr id="189" name="PlaceHolder 2"/>
          <p:cNvSpPr>
            <a:spLocks noGrp="1"/>
          </p:cNvSpPr>
          <p:nvPr>
            <p:ph type="sldNum" idx="24"/>
          </p:nvPr>
        </p:nvSpPr>
        <p:spPr>
          <a:xfrm>
            <a:off x="8403840" y="4692960"/>
            <a:ext cx="547560" cy="299160"/>
          </a:xfrm>
          <a:prstGeom prst="rect">
            <a:avLst/>
          </a:prstGeom>
          <a:noFill/>
          <a:ln w="0">
            <a:noFill/>
          </a:ln>
        </p:spPr>
        <p:txBody>
          <a:bodyPr lIns="0" rIns="0" tIns="0" bIns="0" anchor="ctr">
            <a:noAutofit/>
          </a:bodyPr>
          <a:lstStyle>
            <a:lvl1pPr algn="r">
              <a:lnSpc>
                <a:spcPct val="100000"/>
              </a:lnSpc>
              <a:buNone/>
              <a:tabLst>
                <a:tab algn="l" pos="0"/>
              </a:tabLst>
              <a:defRPr b="1" lang="en" sz="1500" spc="-1" strike="noStrike">
                <a:solidFill>
                  <a:srgbClr val="7f8b91"/>
                </a:solidFill>
                <a:latin typeface="Amatic SC"/>
                <a:ea typeface="Amatic SC"/>
              </a:defRPr>
            </a:lvl1pPr>
          </a:lstStyle>
          <a:p>
            <a:pPr algn="r">
              <a:lnSpc>
                <a:spcPct val="100000"/>
              </a:lnSpc>
              <a:buNone/>
              <a:tabLst>
                <a:tab algn="l" pos="0"/>
              </a:tabLst>
            </a:pPr>
            <a:fld id="{2A2E69FA-5B09-4CED-8F55-49FD9572CE3B}" type="slidenum">
              <a:rPr b="1" lang="en" sz="1500" spc="-1" strike="noStrike">
                <a:solidFill>
                  <a:srgbClr val="7f8b91"/>
                </a:solidFill>
                <a:latin typeface="Amatic SC"/>
                <a:ea typeface="Amatic SC"/>
              </a:rPr>
              <a:t>&lt;number&gt;</a:t>
            </a:fld>
            <a:endParaRPr b="0" lang="en-US" sz="1500" spc="-1" strike="noStrike">
              <a:latin typeface="Times New Roman"/>
            </a:endParaRPr>
          </a:p>
        </p:txBody>
      </p:sp>
      <p:sp>
        <p:nvSpPr>
          <p:cNvPr id="190" name="Google Shape;228;p 20"/>
          <p:cNvSpPr/>
          <p:nvPr/>
        </p:nvSpPr>
        <p:spPr>
          <a:xfrm>
            <a:off x="7648200" y="3814560"/>
            <a:ext cx="936720" cy="834120"/>
          </a:xfrm>
          <a:custGeom>
            <a:avLst/>
            <a:gdLst/>
            <a:ahLst/>
            <a:rect l="l" t="t" r="r" b="b"/>
            <a:pathLst>
              <a:path w="444359" h="395938">
                <a:moveTo>
                  <a:pt x="135136" y="205311"/>
                </a:moveTo>
                <a:lnTo>
                  <a:pt x="101482" y="200356"/>
                </a:lnTo>
                <a:cubicBezTo>
                  <a:pt x="92405" y="199041"/>
                  <a:pt x="88788" y="213642"/>
                  <a:pt x="98347" y="215046"/>
                </a:cubicBezTo>
                <a:lnTo>
                  <a:pt x="132067" y="220001"/>
                </a:lnTo>
                <a:cubicBezTo>
                  <a:pt x="141056" y="221316"/>
                  <a:pt x="144673" y="206714"/>
                  <a:pt x="135136" y="205311"/>
                </a:cubicBezTo>
                <a:close/>
                <a:moveTo>
                  <a:pt x="293388" y="291650"/>
                </a:moveTo>
                <a:cubicBezTo>
                  <a:pt x="292554" y="295482"/>
                  <a:pt x="294966" y="299271"/>
                  <a:pt x="298803" y="300115"/>
                </a:cubicBezTo>
                <a:cubicBezTo>
                  <a:pt x="298869" y="300130"/>
                  <a:pt x="298935" y="300144"/>
                  <a:pt x="299001" y="300157"/>
                </a:cubicBezTo>
                <a:cubicBezTo>
                  <a:pt x="299373" y="300157"/>
                  <a:pt x="300711" y="300157"/>
                  <a:pt x="300930" y="300551"/>
                </a:cubicBezTo>
                <a:cubicBezTo>
                  <a:pt x="299921" y="300222"/>
                  <a:pt x="299790" y="300201"/>
                  <a:pt x="300535" y="300551"/>
                </a:cubicBezTo>
                <a:cubicBezTo>
                  <a:pt x="301280" y="300902"/>
                  <a:pt x="301456" y="300924"/>
                  <a:pt x="302267" y="301297"/>
                </a:cubicBezTo>
                <a:lnTo>
                  <a:pt x="302377" y="301297"/>
                </a:lnTo>
                <a:cubicBezTo>
                  <a:pt x="309919" y="308335"/>
                  <a:pt x="320267" y="297416"/>
                  <a:pt x="313142" y="290335"/>
                </a:cubicBezTo>
                <a:cubicBezTo>
                  <a:pt x="307573" y="285621"/>
                  <a:pt x="295756" y="281894"/>
                  <a:pt x="293388" y="291650"/>
                </a:cubicBezTo>
                <a:close/>
                <a:moveTo>
                  <a:pt x="285999" y="274110"/>
                </a:moveTo>
                <a:cubicBezTo>
                  <a:pt x="269973" y="263589"/>
                  <a:pt x="253310" y="254069"/>
                  <a:pt x="236099" y="245608"/>
                </a:cubicBezTo>
                <a:cubicBezTo>
                  <a:pt x="227833" y="241530"/>
                  <a:pt x="220752" y="255014"/>
                  <a:pt x="229346" y="259180"/>
                </a:cubicBezTo>
                <a:cubicBezTo>
                  <a:pt x="245439" y="267053"/>
                  <a:pt x="261027" y="275919"/>
                  <a:pt x="276002" y="285730"/>
                </a:cubicBezTo>
                <a:cubicBezTo>
                  <a:pt x="283697" y="290576"/>
                  <a:pt x="293738" y="279109"/>
                  <a:pt x="285999" y="274023"/>
                </a:cubicBezTo>
                <a:close/>
                <a:moveTo>
                  <a:pt x="433354" y="1544"/>
                </a:moveTo>
                <a:cubicBezTo>
                  <a:pt x="431162" y="3057"/>
                  <a:pt x="428970" y="4482"/>
                  <a:pt x="426908" y="5929"/>
                </a:cubicBezTo>
                <a:cubicBezTo>
                  <a:pt x="425220" y="5833"/>
                  <a:pt x="423554" y="6381"/>
                  <a:pt x="422239" y="7464"/>
                </a:cubicBezTo>
                <a:cubicBezTo>
                  <a:pt x="417854" y="10840"/>
                  <a:pt x="413469" y="14261"/>
                  <a:pt x="408952" y="17659"/>
                </a:cubicBezTo>
                <a:cubicBezTo>
                  <a:pt x="315904" y="75803"/>
                  <a:pt x="209197" y="106563"/>
                  <a:pt x="111195" y="154928"/>
                </a:cubicBezTo>
                <a:cubicBezTo>
                  <a:pt x="93853" y="163501"/>
                  <a:pt x="76773" y="172622"/>
                  <a:pt x="60089" y="182400"/>
                </a:cubicBezTo>
                <a:cubicBezTo>
                  <a:pt x="42549" y="192748"/>
                  <a:pt x="25141" y="203184"/>
                  <a:pt x="5146" y="208249"/>
                </a:cubicBezTo>
                <a:cubicBezTo>
                  <a:pt x="-1804" y="210003"/>
                  <a:pt x="-1147" y="218532"/>
                  <a:pt x="3743" y="221404"/>
                </a:cubicBezTo>
                <a:cubicBezTo>
                  <a:pt x="4707" y="222430"/>
                  <a:pt x="5979" y="223140"/>
                  <a:pt x="7360" y="223443"/>
                </a:cubicBezTo>
                <a:cubicBezTo>
                  <a:pt x="52371" y="234230"/>
                  <a:pt x="97777" y="242999"/>
                  <a:pt x="143621" y="249752"/>
                </a:cubicBezTo>
                <a:lnTo>
                  <a:pt x="143117" y="384961"/>
                </a:lnTo>
                <a:cubicBezTo>
                  <a:pt x="142854" y="387829"/>
                  <a:pt x="144717" y="390464"/>
                  <a:pt x="147502" y="391166"/>
                </a:cubicBezTo>
                <a:cubicBezTo>
                  <a:pt x="148620" y="393251"/>
                  <a:pt x="150615" y="394717"/>
                  <a:pt x="152939" y="395156"/>
                </a:cubicBezTo>
                <a:cubicBezTo>
                  <a:pt x="155855" y="396721"/>
                  <a:pt x="159473" y="395875"/>
                  <a:pt x="161402" y="393183"/>
                </a:cubicBezTo>
                <a:cubicBezTo>
                  <a:pt x="187777" y="361278"/>
                  <a:pt x="215797" y="330777"/>
                  <a:pt x="245351" y="301801"/>
                </a:cubicBezTo>
                <a:cubicBezTo>
                  <a:pt x="266464" y="313914"/>
                  <a:pt x="286394" y="328001"/>
                  <a:pt x="304854" y="343874"/>
                </a:cubicBezTo>
                <a:cubicBezTo>
                  <a:pt x="316496" y="353850"/>
                  <a:pt x="331712" y="356854"/>
                  <a:pt x="343266" y="366413"/>
                </a:cubicBezTo>
                <a:cubicBezTo>
                  <a:pt x="346533" y="371170"/>
                  <a:pt x="355500" y="370798"/>
                  <a:pt x="356553" y="363519"/>
                </a:cubicBezTo>
                <a:cubicBezTo>
                  <a:pt x="373083" y="243175"/>
                  <a:pt x="405510" y="125528"/>
                  <a:pt x="443593" y="10753"/>
                </a:cubicBezTo>
                <a:cubicBezTo>
                  <a:pt x="446618" y="4679"/>
                  <a:pt x="440173" y="-3323"/>
                  <a:pt x="433354" y="1457"/>
                </a:cubicBezTo>
                <a:close/>
                <a:moveTo>
                  <a:pt x="144959" y="232695"/>
                </a:moveTo>
                <a:cubicBezTo>
                  <a:pt x="144345" y="233234"/>
                  <a:pt x="143819" y="233863"/>
                  <a:pt x="143380" y="234558"/>
                </a:cubicBezTo>
                <a:cubicBezTo>
                  <a:pt x="106218" y="229033"/>
                  <a:pt x="69319" y="222164"/>
                  <a:pt x="32639" y="213949"/>
                </a:cubicBezTo>
                <a:cubicBezTo>
                  <a:pt x="52744" y="204895"/>
                  <a:pt x="71358" y="192134"/>
                  <a:pt x="90652" y="181720"/>
                </a:cubicBezTo>
                <a:cubicBezTo>
                  <a:pt x="170610" y="138682"/>
                  <a:pt x="257497" y="110816"/>
                  <a:pt x="339320" y="71856"/>
                </a:cubicBezTo>
                <a:cubicBezTo>
                  <a:pt x="273370" y="123978"/>
                  <a:pt x="208584" y="177592"/>
                  <a:pt x="144959" y="232695"/>
                </a:cubicBezTo>
                <a:close/>
                <a:moveTo>
                  <a:pt x="157938" y="358827"/>
                </a:moveTo>
                <a:lnTo>
                  <a:pt x="158376" y="242429"/>
                </a:lnTo>
                <a:cubicBezTo>
                  <a:pt x="158376" y="241688"/>
                  <a:pt x="158267" y="240949"/>
                  <a:pt x="158070" y="240237"/>
                </a:cubicBezTo>
                <a:cubicBezTo>
                  <a:pt x="232788" y="175691"/>
                  <a:pt x="309152" y="113147"/>
                  <a:pt x="387181" y="52607"/>
                </a:cubicBezTo>
                <a:lnTo>
                  <a:pt x="297159" y="137213"/>
                </a:lnTo>
                <a:cubicBezTo>
                  <a:pt x="259098" y="172972"/>
                  <a:pt x="217024" y="207372"/>
                  <a:pt x="189531" y="252405"/>
                </a:cubicBezTo>
                <a:cubicBezTo>
                  <a:pt x="188216" y="254240"/>
                  <a:pt x="188018" y="256658"/>
                  <a:pt x="189049" y="258675"/>
                </a:cubicBezTo>
                <a:cubicBezTo>
                  <a:pt x="189356" y="259691"/>
                  <a:pt x="189882" y="260620"/>
                  <a:pt x="190605" y="261394"/>
                </a:cubicBezTo>
                <a:cubicBezTo>
                  <a:pt x="181222" y="294369"/>
                  <a:pt x="170325" y="326817"/>
                  <a:pt x="157938" y="358739"/>
                </a:cubicBezTo>
                <a:close/>
                <a:moveTo>
                  <a:pt x="174535" y="355801"/>
                </a:moveTo>
                <a:cubicBezTo>
                  <a:pt x="184927" y="328323"/>
                  <a:pt x="194267" y="300479"/>
                  <a:pt x="202533" y="272269"/>
                </a:cubicBezTo>
                <a:cubicBezTo>
                  <a:pt x="212223" y="280124"/>
                  <a:pt x="222396" y="287379"/>
                  <a:pt x="232964" y="293996"/>
                </a:cubicBezTo>
                <a:cubicBezTo>
                  <a:pt x="212749" y="313844"/>
                  <a:pt x="193281" y="334418"/>
                  <a:pt x="174535" y="355713"/>
                </a:cubicBezTo>
                <a:close/>
                <a:moveTo>
                  <a:pt x="344143" y="348807"/>
                </a:moveTo>
                <a:cubicBezTo>
                  <a:pt x="334847" y="343743"/>
                  <a:pt x="324608" y="340432"/>
                  <a:pt x="316255" y="333460"/>
                </a:cubicBezTo>
                <a:cubicBezTo>
                  <a:pt x="304394" y="323193"/>
                  <a:pt x="291962" y="313631"/>
                  <a:pt x="278983" y="304827"/>
                </a:cubicBezTo>
                <a:cubicBezTo>
                  <a:pt x="253946" y="288581"/>
                  <a:pt x="227351" y="274637"/>
                  <a:pt x="205273" y="254400"/>
                </a:cubicBezTo>
                <a:cubicBezTo>
                  <a:pt x="232701" y="211538"/>
                  <a:pt x="274533" y="178125"/>
                  <a:pt x="311212" y="143637"/>
                </a:cubicBezTo>
                <a:cubicBezTo>
                  <a:pt x="346993" y="110020"/>
                  <a:pt x="382796" y="76401"/>
                  <a:pt x="418643" y="42784"/>
                </a:cubicBezTo>
                <a:cubicBezTo>
                  <a:pt x="385098" y="142442"/>
                  <a:pt x="360170" y="244797"/>
                  <a:pt x="344143" y="348720"/>
                </a:cubicBezTo>
                <a:close/>
                <a:moveTo>
                  <a:pt x="55923" y="163172"/>
                </a:moveTo>
                <a:cubicBezTo>
                  <a:pt x="76620" y="147430"/>
                  <a:pt x="101087" y="137608"/>
                  <a:pt x="124481" y="126668"/>
                </a:cubicBezTo>
                <a:lnTo>
                  <a:pt x="197797" y="92378"/>
                </a:lnTo>
                <a:cubicBezTo>
                  <a:pt x="206238" y="88431"/>
                  <a:pt x="202379" y="74268"/>
                  <a:pt x="193412" y="78434"/>
                </a:cubicBezTo>
                <a:lnTo>
                  <a:pt x="116237" y="114478"/>
                </a:lnTo>
                <a:cubicBezTo>
                  <a:pt x="92954" y="125440"/>
                  <a:pt x="68661" y="135306"/>
                  <a:pt x="48052" y="150960"/>
                </a:cubicBezTo>
                <a:cubicBezTo>
                  <a:pt x="40532" y="156704"/>
                  <a:pt x="48096" y="169114"/>
                  <a:pt x="55923" y="163084"/>
                </a:cubicBezTo>
                <a:close/>
                <a:moveTo>
                  <a:pt x="41760" y="133684"/>
                </a:moveTo>
                <a:cubicBezTo>
                  <a:pt x="60198" y="122794"/>
                  <a:pt x="79119" y="112805"/>
                  <a:pt x="98479" y="103713"/>
                </a:cubicBezTo>
                <a:cubicBezTo>
                  <a:pt x="106919" y="99766"/>
                  <a:pt x="103061" y="85603"/>
                  <a:pt x="94094" y="89791"/>
                </a:cubicBezTo>
                <a:cubicBezTo>
                  <a:pt x="73528" y="99409"/>
                  <a:pt x="53467" y="109990"/>
                  <a:pt x="33889" y="121537"/>
                </a:cubicBezTo>
                <a:cubicBezTo>
                  <a:pt x="25689" y="126339"/>
                  <a:pt x="33341" y="138573"/>
                  <a:pt x="41760" y="133596"/>
                </a:cubicBezTo>
                <a:close/>
              </a:path>
            </a:pathLst>
          </a:custGeom>
          <a:solidFill>
            <a:srgbClr val="2b3547"/>
          </a:solidFill>
          <a:ln w="0">
            <a:noFill/>
          </a:ln>
        </p:spPr>
        <p:style>
          <a:lnRef idx="0"/>
          <a:fillRef idx="0"/>
          <a:effectRef idx="0"/>
          <a:fontRef idx="minor"/>
        </p:style>
      </p:sp>
      <p:sp>
        <p:nvSpPr>
          <p:cNvPr id="191" name="PlaceHolder 3"/>
          <p:cNvSpPr>
            <a:spLocks noGrp="1"/>
          </p:cNvSpPr>
          <p:nvPr>
            <p:ph/>
          </p:nvPr>
        </p:nvSpPr>
        <p:spPr>
          <a:xfrm>
            <a:off x="1188000" y="1307520"/>
            <a:ext cx="6425280" cy="2839320"/>
          </a:xfrm>
          <a:prstGeom prst="rect">
            <a:avLst/>
          </a:prstGeom>
          <a:noFill/>
          <a:ln w="0">
            <a:noFill/>
          </a:ln>
        </p:spPr>
        <p:txBody>
          <a:bodyPr lIns="0" rIns="0" tIns="0" bIns="0" anchor="t">
            <a:noAutofit/>
          </a:bodyPr>
          <a:p>
            <a:pPr>
              <a:lnSpc>
                <a:spcPct val="100000"/>
              </a:lnSpc>
              <a:buNone/>
            </a:pPr>
            <a:endParaRPr b="0" lang="en-US" sz="1800" spc="-1" strike="noStrike">
              <a:latin typeface="Arial"/>
            </a:endParaRPr>
          </a:p>
          <a:p>
            <a:pPr>
              <a:lnSpc>
                <a:spcPct val="100000"/>
              </a:lnSpc>
              <a:buNone/>
            </a:pPr>
            <a:endParaRPr b="0" lang="en-US" sz="1800" spc="-1" strike="noStrike">
              <a:latin typeface="Arial"/>
            </a:endParaRPr>
          </a:p>
          <a:p>
            <a:pPr>
              <a:lnSpc>
                <a:spcPct val="100000"/>
              </a:lnSpc>
              <a:buNone/>
            </a:pPr>
            <a:r>
              <a:rPr b="1" lang="en-US" sz="1800" spc="-1" strike="noStrike">
                <a:solidFill>
                  <a:srgbClr val="000000"/>
                </a:solidFill>
                <a:latin typeface="Arial"/>
              </a:rPr>
              <a:t>NATS Service Infrastructure</a:t>
            </a:r>
            <a:endParaRPr b="0" lang="en-US" sz="1800" spc="-1" strike="noStrike">
              <a:latin typeface="Arial"/>
            </a:endParaRPr>
          </a:p>
          <a:p>
            <a:pPr>
              <a:lnSpc>
                <a:spcPct val="100000"/>
              </a:lnSpc>
              <a:buNone/>
            </a:pPr>
            <a:endParaRPr b="0" lang="en-US" sz="1400" spc="-1" strike="noStrike">
              <a:latin typeface="Arial"/>
            </a:endParaRPr>
          </a:p>
          <a:p>
            <a:pPr marL="432000" indent="-324000">
              <a:lnSpc>
                <a:spcPct val="100000"/>
              </a:lnSpc>
              <a:buClr>
                <a:srgbClr val="000000"/>
              </a:buClr>
              <a:buFont typeface="Wingdings" charset="2"/>
              <a:buChar char=""/>
            </a:pPr>
            <a:r>
              <a:rPr b="0" lang="en-US" sz="1400" spc="-1" strike="noStrike">
                <a:solidFill>
                  <a:srgbClr val="000000"/>
                </a:solidFill>
                <a:latin typeface="Arial"/>
              </a:rPr>
              <a:t>The NATS services are provided by </a:t>
            </a:r>
            <a:r>
              <a:rPr b="0" lang="en-US" sz="1400" spc="-1" strike="noStrike" u="sng">
                <a:solidFill>
                  <a:srgbClr val="000000"/>
                </a:solidFill>
                <a:uFillTx/>
                <a:latin typeface="Arial"/>
              </a:rPr>
              <a:t>one or more NATS server processes</a:t>
            </a:r>
            <a:r>
              <a:rPr b="0" lang="en-US" sz="1400" spc="-1" strike="noStrike">
                <a:solidFill>
                  <a:srgbClr val="000000"/>
                </a:solidFill>
                <a:latin typeface="Arial"/>
              </a:rPr>
              <a:t> that are </a:t>
            </a:r>
            <a:r>
              <a:rPr b="0" lang="en-US" sz="1400" spc="-1" strike="noStrike" u="sng">
                <a:solidFill>
                  <a:srgbClr val="000000"/>
                </a:solidFill>
                <a:uFillTx/>
                <a:latin typeface="Arial"/>
              </a:rPr>
              <a:t>configured to interconnect with each other</a:t>
            </a:r>
            <a:r>
              <a:rPr b="0" lang="en-US" sz="1400" spc="-1" strike="noStrike">
                <a:solidFill>
                  <a:srgbClr val="000000"/>
                </a:solidFill>
                <a:latin typeface="Arial"/>
              </a:rPr>
              <a:t> and provide a NATS service infrastructure. The NATS service infrastructure can scale from a single NATS server process running on an end device (t</a:t>
            </a:r>
            <a:r>
              <a:rPr b="0" lang="en-US" sz="1400" spc="-1" strike="noStrike" u="sng">
                <a:solidFill>
                  <a:srgbClr val="000000"/>
                </a:solidFill>
                <a:uFillTx/>
                <a:latin typeface="Arial"/>
              </a:rPr>
              <a:t>he nats-server process is less than 20 MB in size!</a:t>
            </a:r>
            <a:r>
              <a:rPr b="0" lang="en-US" sz="1400" spc="-1" strike="noStrike">
                <a:solidFill>
                  <a:srgbClr val="000000"/>
                </a:solidFill>
                <a:latin typeface="Arial"/>
              </a:rPr>
              <a:t>) all the way to a public global super-cluster of many clusters spanning all major cloud providers and all regions of the world such as Synadia's NGS.</a:t>
            </a:r>
            <a:endParaRPr b="0" lang="en-US" sz="1400" spc="-1" strike="noStrike">
              <a:latin typeface="Arial"/>
            </a:endParaRPr>
          </a:p>
          <a:p>
            <a:pPr>
              <a:lnSpc>
                <a:spcPct val="100000"/>
              </a:lnSpc>
              <a:buNone/>
            </a:pPr>
            <a:endParaRPr b="0" lang="en-US" sz="1400" spc="-1" strike="noStrike">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2" name="PlaceHolder 1"/>
          <p:cNvSpPr>
            <a:spLocks noGrp="1"/>
          </p:cNvSpPr>
          <p:nvPr>
            <p:ph type="title"/>
          </p:nvPr>
        </p:nvSpPr>
        <p:spPr>
          <a:xfrm>
            <a:off x="883080" y="682920"/>
            <a:ext cx="6425280" cy="395280"/>
          </a:xfrm>
          <a:prstGeom prst="rect">
            <a:avLst/>
          </a:prstGeom>
          <a:noFill/>
          <a:ln w="0">
            <a:noFill/>
          </a:ln>
        </p:spPr>
        <p:txBody>
          <a:bodyPr lIns="0" rIns="0" tIns="0" bIns="0" anchor="ctr">
            <a:noAutofit/>
          </a:bodyPr>
          <a:p>
            <a:pPr>
              <a:lnSpc>
                <a:spcPct val="90000"/>
              </a:lnSpc>
              <a:buNone/>
              <a:tabLst>
                <a:tab algn="l" pos="0"/>
              </a:tabLst>
            </a:pPr>
            <a:r>
              <a:rPr b="1" lang="en" sz="3400" spc="-1" strike="noStrike">
                <a:solidFill>
                  <a:srgbClr val="2b3547"/>
                </a:solidFill>
                <a:latin typeface="Amatic SC"/>
                <a:ea typeface="Amatic SC"/>
              </a:rPr>
              <a:t>What is NATS</a:t>
            </a:r>
            <a:endParaRPr b="0" lang="en-US" sz="3400" spc="-1" strike="noStrike">
              <a:latin typeface="Arial"/>
            </a:endParaRPr>
          </a:p>
        </p:txBody>
      </p:sp>
      <p:sp>
        <p:nvSpPr>
          <p:cNvPr id="193" name="PlaceHolder 2"/>
          <p:cNvSpPr>
            <a:spLocks noGrp="1"/>
          </p:cNvSpPr>
          <p:nvPr>
            <p:ph type="sldNum" idx="25"/>
          </p:nvPr>
        </p:nvSpPr>
        <p:spPr>
          <a:xfrm>
            <a:off x="8403840" y="4692960"/>
            <a:ext cx="547560" cy="299160"/>
          </a:xfrm>
          <a:prstGeom prst="rect">
            <a:avLst/>
          </a:prstGeom>
          <a:noFill/>
          <a:ln w="0">
            <a:noFill/>
          </a:ln>
        </p:spPr>
        <p:txBody>
          <a:bodyPr lIns="0" rIns="0" tIns="0" bIns="0" anchor="ctr">
            <a:noAutofit/>
          </a:bodyPr>
          <a:lstStyle>
            <a:lvl1pPr algn="r">
              <a:lnSpc>
                <a:spcPct val="100000"/>
              </a:lnSpc>
              <a:buNone/>
              <a:tabLst>
                <a:tab algn="l" pos="0"/>
              </a:tabLst>
              <a:defRPr b="1" lang="en" sz="1500" spc="-1" strike="noStrike">
                <a:solidFill>
                  <a:srgbClr val="7f8b91"/>
                </a:solidFill>
                <a:latin typeface="Amatic SC"/>
                <a:ea typeface="Amatic SC"/>
              </a:defRPr>
            </a:lvl1pPr>
          </a:lstStyle>
          <a:p>
            <a:pPr algn="r">
              <a:lnSpc>
                <a:spcPct val="100000"/>
              </a:lnSpc>
              <a:buNone/>
              <a:tabLst>
                <a:tab algn="l" pos="0"/>
              </a:tabLst>
            </a:pPr>
            <a:fld id="{C2EB39B8-06F5-4D3E-A9B1-86058FCCCC88}" type="slidenum">
              <a:rPr b="1" lang="en" sz="1500" spc="-1" strike="noStrike">
                <a:solidFill>
                  <a:srgbClr val="7f8b91"/>
                </a:solidFill>
                <a:latin typeface="Amatic SC"/>
                <a:ea typeface="Amatic SC"/>
              </a:rPr>
              <a:t>&lt;number&gt;</a:t>
            </a:fld>
            <a:endParaRPr b="0" lang="en-US" sz="1500" spc="-1" strike="noStrike">
              <a:latin typeface="Times New Roman"/>
            </a:endParaRPr>
          </a:p>
        </p:txBody>
      </p:sp>
      <p:sp>
        <p:nvSpPr>
          <p:cNvPr id="194" name="Google Shape;228;p 21"/>
          <p:cNvSpPr/>
          <p:nvPr/>
        </p:nvSpPr>
        <p:spPr>
          <a:xfrm>
            <a:off x="7648200" y="3814560"/>
            <a:ext cx="936720" cy="834120"/>
          </a:xfrm>
          <a:custGeom>
            <a:avLst/>
            <a:gdLst/>
            <a:ahLst/>
            <a:rect l="l" t="t" r="r" b="b"/>
            <a:pathLst>
              <a:path w="444359" h="395938">
                <a:moveTo>
                  <a:pt x="135136" y="205311"/>
                </a:moveTo>
                <a:lnTo>
                  <a:pt x="101482" y="200356"/>
                </a:lnTo>
                <a:cubicBezTo>
                  <a:pt x="92405" y="199041"/>
                  <a:pt x="88788" y="213642"/>
                  <a:pt x="98347" y="215046"/>
                </a:cubicBezTo>
                <a:lnTo>
                  <a:pt x="132067" y="220001"/>
                </a:lnTo>
                <a:cubicBezTo>
                  <a:pt x="141056" y="221316"/>
                  <a:pt x="144673" y="206714"/>
                  <a:pt x="135136" y="205311"/>
                </a:cubicBezTo>
                <a:close/>
                <a:moveTo>
                  <a:pt x="293388" y="291650"/>
                </a:moveTo>
                <a:cubicBezTo>
                  <a:pt x="292554" y="295482"/>
                  <a:pt x="294966" y="299271"/>
                  <a:pt x="298803" y="300115"/>
                </a:cubicBezTo>
                <a:cubicBezTo>
                  <a:pt x="298869" y="300130"/>
                  <a:pt x="298935" y="300144"/>
                  <a:pt x="299001" y="300157"/>
                </a:cubicBezTo>
                <a:cubicBezTo>
                  <a:pt x="299373" y="300157"/>
                  <a:pt x="300711" y="300157"/>
                  <a:pt x="300930" y="300551"/>
                </a:cubicBezTo>
                <a:cubicBezTo>
                  <a:pt x="299921" y="300222"/>
                  <a:pt x="299790" y="300201"/>
                  <a:pt x="300535" y="300551"/>
                </a:cubicBezTo>
                <a:cubicBezTo>
                  <a:pt x="301280" y="300902"/>
                  <a:pt x="301456" y="300924"/>
                  <a:pt x="302267" y="301297"/>
                </a:cubicBezTo>
                <a:lnTo>
                  <a:pt x="302377" y="301297"/>
                </a:lnTo>
                <a:cubicBezTo>
                  <a:pt x="309919" y="308335"/>
                  <a:pt x="320267" y="297416"/>
                  <a:pt x="313142" y="290335"/>
                </a:cubicBezTo>
                <a:cubicBezTo>
                  <a:pt x="307573" y="285621"/>
                  <a:pt x="295756" y="281894"/>
                  <a:pt x="293388" y="291650"/>
                </a:cubicBezTo>
                <a:close/>
                <a:moveTo>
                  <a:pt x="285999" y="274110"/>
                </a:moveTo>
                <a:cubicBezTo>
                  <a:pt x="269973" y="263589"/>
                  <a:pt x="253310" y="254069"/>
                  <a:pt x="236099" y="245608"/>
                </a:cubicBezTo>
                <a:cubicBezTo>
                  <a:pt x="227833" y="241530"/>
                  <a:pt x="220752" y="255014"/>
                  <a:pt x="229346" y="259180"/>
                </a:cubicBezTo>
                <a:cubicBezTo>
                  <a:pt x="245439" y="267053"/>
                  <a:pt x="261027" y="275919"/>
                  <a:pt x="276002" y="285730"/>
                </a:cubicBezTo>
                <a:cubicBezTo>
                  <a:pt x="283697" y="290576"/>
                  <a:pt x="293738" y="279109"/>
                  <a:pt x="285999" y="274023"/>
                </a:cubicBezTo>
                <a:close/>
                <a:moveTo>
                  <a:pt x="433354" y="1544"/>
                </a:moveTo>
                <a:cubicBezTo>
                  <a:pt x="431162" y="3057"/>
                  <a:pt x="428970" y="4482"/>
                  <a:pt x="426908" y="5929"/>
                </a:cubicBezTo>
                <a:cubicBezTo>
                  <a:pt x="425220" y="5833"/>
                  <a:pt x="423554" y="6381"/>
                  <a:pt x="422239" y="7464"/>
                </a:cubicBezTo>
                <a:cubicBezTo>
                  <a:pt x="417854" y="10840"/>
                  <a:pt x="413469" y="14261"/>
                  <a:pt x="408952" y="17659"/>
                </a:cubicBezTo>
                <a:cubicBezTo>
                  <a:pt x="315904" y="75803"/>
                  <a:pt x="209197" y="106563"/>
                  <a:pt x="111195" y="154928"/>
                </a:cubicBezTo>
                <a:cubicBezTo>
                  <a:pt x="93853" y="163501"/>
                  <a:pt x="76773" y="172622"/>
                  <a:pt x="60089" y="182400"/>
                </a:cubicBezTo>
                <a:cubicBezTo>
                  <a:pt x="42549" y="192748"/>
                  <a:pt x="25141" y="203184"/>
                  <a:pt x="5146" y="208249"/>
                </a:cubicBezTo>
                <a:cubicBezTo>
                  <a:pt x="-1804" y="210003"/>
                  <a:pt x="-1147" y="218532"/>
                  <a:pt x="3743" y="221404"/>
                </a:cubicBezTo>
                <a:cubicBezTo>
                  <a:pt x="4707" y="222430"/>
                  <a:pt x="5979" y="223140"/>
                  <a:pt x="7360" y="223443"/>
                </a:cubicBezTo>
                <a:cubicBezTo>
                  <a:pt x="52371" y="234230"/>
                  <a:pt x="97777" y="242999"/>
                  <a:pt x="143621" y="249752"/>
                </a:cubicBezTo>
                <a:lnTo>
                  <a:pt x="143117" y="384961"/>
                </a:lnTo>
                <a:cubicBezTo>
                  <a:pt x="142854" y="387829"/>
                  <a:pt x="144717" y="390464"/>
                  <a:pt x="147502" y="391166"/>
                </a:cubicBezTo>
                <a:cubicBezTo>
                  <a:pt x="148620" y="393251"/>
                  <a:pt x="150615" y="394717"/>
                  <a:pt x="152939" y="395156"/>
                </a:cubicBezTo>
                <a:cubicBezTo>
                  <a:pt x="155855" y="396721"/>
                  <a:pt x="159473" y="395875"/>
                  <a:pt x="161402" y="393183"/>
                </a:cubicBezTo>
                <a:cubicBezTo>
                  <a:pt x="187777" y="361278"/>
                  <a:pt x="215797" y="330777"/>
                  <a:pt x="245351" y="301801"/>
                </a:cubicBezTo>
                <a:cubicBezTo>
                  <a:pt x="266464" y="313914"/>
                  <a:pt x="286394" y="328001"/>
                  <a:pt x="304854" y="343874"/>
                </a:cubicBezTo>
                <a:cubicBezTo>
                  <a:pt x="316496" y="353850"/>
                  <a:pt x="331712" y="356854"/>
                  <a:pt x="343266" y="366413"/>
                </a:cubicBezTo>
                <a:cubicBezTo>
                  <a:pt x="346533" y="371170"/>
                  <a:pt x="355500" y="370798"/>
                  <a:pt x="356553" y="363519"/>
                </a:cubicBezTo>
                <a:cubicBezTo>
                  <a:pt x="373083" y="243175"/>
                  <a:pt x="405510" y="125528"/>
                  <a:pt x="443593" y="10753"/>
                </a:cubicBezTo>
                <a:cubicBezTo>
                  <a:pt x="446618" y="4679"/>
                  <a:pt x="440173" y="-3323"/>
                  <a:pt x="433354" y="1457"/>
                </a:cubicBezTo>
                <a:close/>
                <a:moveTo>
                  <a:pt x="144959" y="232695"/>
                </a:moveTo>
                <a:cubicBezTo>
                  <a:pt x="144345" y="233234"/>
                  <a:pt x="143819" y="233863"/>
                  <a:pt x="143380" y="234558"/>
                </a:cubicBezTo>
                <a:cubicBezTo>
                  <a:pt x="106218" y="229033"/>
                  <a:pt x="69319" y="222164"/>
                  <a:pt x="32639" y="213949"/>
                </a:cubicBezTo>
                <a:cubicBezTo>
                  <a:pt x="52744" y="204895"/>
                  <a:pt x="71358" y="192134"/>
                  <a:pt x="90652" y="181720"/>
                </a:cubicBezTo>
                <a:cubicBezTo>
                  <a:pt x="170610" y="138682"/>
                  <a:pt x="257497" y="110816"/>
                  <a:pt x="339320" y="71856"/>
                </a:cubicBezTo>
                <a:cubicBezTo>
                  <a:pt x="273370" y="123978"/>
                  <a:pt x="208584" y="177592"/>
                  <a:pt x="144959" y="232695"/>
                </a:cubicBezTo>
                <a:close/>
                <a:moveTo>
                  <a:pt x="157938" y="358827"/>
                </a:moveTo>
                <a:lnTo>
                  <a:pt x="158376" y="242429"/>
                </a:lnTo>
                <a:cubicBezTo>
                  <a:pt x="158376" y="241688"/>
                  <a:pt x="158267" y="240949"/>
                  <a:pt x="158070" y="240237"/>
                </a:cubicBezTo>
                <a:cubicBezTo>
                  <a:pt x="232788" y="175691"/>
                  <a:pt x="309152" y="113147"/>
                  <a:pt x="387181" y="52607"/>
                </a:cubicBezTo>
                <a:lnTo>
                  <a:pt x="297159" y="137213"/>
                </a:lnTo>
                <a:cubicBezTo>
                  <a:pt x="259098" y="172972"/>
                  <a:pt x="217024" y="207372"/>
                  <a:pt x="189531" y="252405"/>
                </a:cubicBezTo>
                <a:cubicBezTo>
                  <a:pt x="188216" y="254240"/>
                  <a:pt x="188018" y="256658"/>
                  <a:pt x="189049" y="258675"/>
                </a:cubicBezTo>
                <a:cubicBezTo>
                  <a:pt x="189356" y="259691"/>
                  <a:pt x="189882" y="260620"/>
                  <a:pt x="190605" y="261394"/>
                </a:cubicBezTo>
                <a:cubicBezTo>
                  <a:pt x="181222" y="294369"/>
                  <a:pt x="170325" y="326817"/>
                  <a:pt x="157938" y="358739"/>
                </a:cubicBezTo>
                <a:close/>
                <a:moveTo>
                  <a:pt x="174535" y="355801"/>
                </a:moveTo>
                <a:cubicBezTo>
                  <a:pt x="184927" y="328323"/>
                  <a:pt x="194267" y="300479"/>
                  <a:pt x="202533" y="272269"/>
                </a:cubicBezTo>
                <a:cubicBezTo>
                  <a:pt x="212223" y="280124"/>
                  <a:pt x="222396" y="287379"/>
                  <a:pt x="232964" y="293996"/>
                </a:cubicBezTo>
                <a:cubicBezTo>
                  <a:pt x="212749" y="313844"/>
                  <a:pt x="193281" y="334418"/>
                  <a:pt x="174535" y="355713"/>
                </a:cubicBezTo>
                <a:close/>
                <a:moveTo>
                  <a:pt x="344143" y="348807"/>
                </a:moveTo>
                <a:cubicBezTo>
                  <a:pt x="334847" y="343743"/>
                  <a:pt x="324608" y="340432"/>
                  <a:pt x="316255" y="333460"/>
                </a:cubicBezTo>
                <a:cubicBezTo>
                  <a:pt x="304394" y="323193"/>
                  <a:pt x="291962" y="313631"/>
                  <a:pt x="278983" y="304827"/>
                </a:cubicBezTo>
                <a:cubicBezTo>
                  <a:pt x="253946" y="288581"/>
                  <a:pt x="227351" y="274637"/>
                  <a:pt x="205273" y="254400"/>
                </a:cubicBezTo>
                <a:cubicBezTo>
                  <a:pt x="232701" y="211538"/>
                  <a:pt x="274533" y="178125"/>
                  <a:pt x="311212" y="143637"/>
                </a:cubicBezTo>
                <a:cubicBezTo>
                  <a:pt x="346993" y="110020"/>
                  <a:pt x="382796" y="76401"/>
                  <a:pt x="418643" y="42784"/>
                </a:cubicBezTo>
                <a:cubicBezTo>
                  <a:pt x="385098" y="142442"/>
                  <a:pt x="360170" y="244797"/>
                  <a:pt x="344143" y="348720"/>
                </a:cubicBezTo>
                <a:close/>
                <a:moveTo>
                  <a:pt x="55923" y="163172"/>
                </a:moveTo>
                <a:cubicBezTo>
                  <a:pt x="76620" y="147430"/>
                  <a:pt x="101087" y="137608"/>
                  <a:pt x="124481" y="126668"/>
                </a:cubicBezTo>
                <a:lnTo>
                  <a:pt x="197797" y="92378"/>
                </a:lnTo>
                <a:cubicBezTo>
                  <a:pt x="206238" y="88431"/>
                  <a:pt x="202379" y="74268"/>
                  <a:pt x="193412" y="78434"/>
                </a:cubicBezTo>
                <a:lnTo>
                  <a:pt x="116237" y="114478"/>
                </a:lnTo>
                <a:cubicBezTo>
                  <a:pt x="92954" y="125440"/>
                  <a:pt x="68661" y="135306"/>
                  <a:pt x="48052" y="150960"/>
                </a:cubicBezTo>
                <a:cubicBezTo>
                  <a:pt x="40532" y="156704"/>
                  <a:pt x="48096" y="169114"/>
                  <a:pt x="55923" y="163084"/>
                </a:cubicBezTo>
                <a:close/>
                <a:moveTo>
                  <a:pt x="41760" y="133684"/>
                </a:moveTo>
                <a:cubicBezTo>
                  <a:pt x="60198" y="122794"/>
                  <a:pt x="79119" y="112805"/>
                  <a:pt x="98479" y="103713"/>
                </a:cubicBezTo>
                <a:cubicBezTo>
                  <a:pt x="106919" y="99766"/>
                  <a:pt x="103061" y="85603"/>
                  <a:pt x="94094" y="89791"/>
                </a:cubicBezTo>
                <a:cubicBezTo>
                  <a:pt x="73528" y="99409"/>
                  <a:pt x="53467" y="109990"/>
                  <a:pt x="33889" y="121537"/>
                </a:cubicBezTo>
                <a:cubicBezTo>
                  <a:pt x="25689" y="126339"/>
                  <a:pt x="33341" y="138573"/>
                  <a:pt x="41760" y="133596"/>
                </a:cubicBezTo>
                <a:close/>
              </a:path>
            </a:pathLst>
          </a:custGeom>
          <a:solidFill>
            <a:srgbClr val="2b3547"/>
          </a:solidFill>
          <a:ln w="0">
            <a:noFill/>
          </a:ln>
        </p:spPr>
        <p:style>
          <a:lnRef idx="0"/>
          <a:fillRef idx="0"/>
          <a:effectRef idx="0"/>
          <a:fontRef idx="minor"/>
        </p:style>
      </p:sp>
      <p:sp>
        <p:nvSpPr>
          <p:cNvPr id="195" name="PlaceHolder 3"/>
          <p:cNvSpPr>
            <a:spLocks noGrp="1"/>
          </p:cNvSpPr>
          <p:nvPr>
            <p:ph/>
          </p:nvPr>
        </p:nvSpPr>
        <p:spPr>
          <a:xfrm>
            <a:off x="1188000" y="1307520"/>
            <a:ext cx="6425280" cy="2839320"/>
          </a:xfrm>
          <a:prstGeom prst="rect">
            <a:avLst/>
          </a:prstGeom>
          <a:noFill/>
          <a:ln w="0">
            <a:noFill/>
          </a:ln>
        </p:spPr>
        <p:txBody>
          <a:bodyPr lIns="0" rIns="0" tIns="0" bIns="0" anchor="t">
            <a:noAutofit/>
          </a:bodyPr>
          <a:p>
            <a:pPr>
              <a:lnSpc>
                <a:spcPct val="100000"/>
              </a:lnSpc>
              <a:buNone/>
            </a:pPr>
            <a:endParaRPr b="0" lang="en-US" sz="1800" spc="-1" strike="noStrike">
              <a:latin typeface="Arial"/>
            </a:endParaRPr>
          </a:p>
          <a:p>
            <a:pPr>
              <a:lnSpc>
                <a:spcPct val="100000"/>
              </a:lnSpc>
              <a:buNone/>
            </a:pPr>
            <a:endParaRPr b="0" lang="en-US" sz="1800" spc="-1" strike="noStrike">
              <a:latin typeface="Arial"/>
            </a:endParaRPr>
          </a:p>
          <a:p>
            <a:pPr>
              <a:lnSpc>
                <a:spcPct val="100000"/>
              </a:lnSpc>
              <a:buNone/>
            </a:pPr>
            <a:r>
              <a:rPr b="1" lang="en-US" sz="1800" spc="-1" strike="noStrike">
                <a:solidFill>
                  <a:srgbClr val="000000"/>
                </a:solidFill>
                <a:latin typeface="Arial"/>
              </a:rPr>
              <a:t>Connecting NATS Client applications to the NATS servers</a:t>
            </a:r>
            <a:endParaRPr b="0" lang="en-US" sz="1800" spc="-1" strike="noStrike">
              <a:latin typeface="Arial"/>
            </a:endParaRPr>
          </a:p>
          <a:p>
            <a:pPr>
              <a:lnSpc>
                <a:spcPct val="100000"/>
              </a:lnSpc>
              <a:buNone/>
            </a:pPr>
            <a:endParaRPr b="0" lang="en-US" sz="1400" spc="-1" strike="noStrike">
              <a:latin typeface="Arial"/>
            </a:endParaRPr>
          </a:p>
          <a:p>
            <a:pPr marL="432000" indent="-324000">
              <a:lnSpc>
                <a:spcPct val="100000"/>
              </a:lnSpc>
              <a:buClr>
                <a:srgbClr val="000000"/>
              </a:buClr>
              <a:buFont typeface="Wingdings" charset="2"/>
              <a:buChar char=""/>
            </a:pPr>
            <a:r>
              <a:rPr b="0" lang="en-US" sz="1400" spc="-1" strike="noStrike">
                <a:solidFill>
                  <a:srgbClr val="000000"/>
                </a:solidFill>
                <a:latin typeface="Arial"/>
              </a:rPr>
              <a:t>To connect a NATS client application with a NATS service, and then subscribe or publish messages to subjects, it only needs to be configured with:</a:t>
            </a:r>
            <a:endParaRPr b="0" lang="en-US" sz="1400" spc="-1" strike="noStrike">
              <a:latin typeface="Arial"/>
            </a:endParaRPr>
          </a:p>
          <a:p>
            <a:pPr marL="432000" indent="-324000">
              <a:lnSpc>
                <a:spcPct val="100000"/>
              </a:lnSpc>
              <a:buClr>
                <a:srgbClr val="000000"/>
              </a:buClr>
              <a:buFont typeface="Wingdings" charset="2"/>
              <a:buChar char=""/>
            </a:pPr>
            <a:r>
              <a:rPr b="0" lang="en-US" sz="1400" spc="-1" strike="noStrike">
                <a:solidFill>
                  <a:srgbClr val="000000"/>
                </a:solidFill>
                <a:latin typeface="Arial"/>
              </a:rPr>
              <a:t>1. URL: A 'NATS URL'. This is a string (in a URL format) that specifies the IP address and port where the NATS server(s) can be reached, and what kind of connection to establish (plain TCP, TLS, or Websocket).</a:t>
            </a:r>
            <a:endParaRPr b="0" lang="en-US" sz="1400" spc="-1" strike="noStrike">
              <a:latin typeface="Arial"/>
            </a:endParaRPr>
          </a:p>
          <a:p>
            <a:pPr marL="432000" indent="-324000">
              <a:lnSpc>
                <a:spcPct val="100000"/>
              </a:lnSpc>
              <a:buClr>
                <a:srgbClr val="000000"/>
              </a:buClr>
              <a:buFont typeface="Wingdings" charset="2"/>
              <a:buChar char=""/>
            </a:pPr>
            <a:r>
              <a:rPr b="0" lang="en-US" sz="1400" spc="-1" strike="noStrike">
                <a:solidFill>
                  <a:srgbClr val="000000"/>
                </a:solidFill>
                <a:latin typeface="Arial"/>
              </a:rPr>
              <a:t>2. Authentication (if needed): Authentication details for the application to identify itself with the NATS server(s). NATS supports multiple authentication schemes (</a:t>
            </a:r>
            <a:r>
              <a:rPr b="0" lang="en-US" sz="1400" spc="-1" strike="noStrike" u="sng">
                <a:solidFill>
                  <a:srgbClr val="000000"/>
                </a:solidFill>
                <a:uFillTx/>
                <a:latin typeface="Arial"/>
              </a:rPr>
              <a:t>username/password</a:t>
            </a:r>
            <a:r>
              <a:rPr b="0" lang="en-US" sz="1400" spc="-1" strike="noStrike">
                <a:solidFill>
                  <a:srgbClr val="000000"/>
                </a:solidFill>
                <a:latin typeface="Arial"/>
              </a:rPr>
              <a:t>, </a:t>
            </a:r>
            <a:r>
              <a:rPr b="0" lang="en-US" sz="1400" spc="-1" strike="noStrike" u="sng">
                <a:solidFill>
                  <a:srgbClr val="000000"/>
                </a:solidFill>
                <a:uFillTx/>
                <a:latin typeface="Arial"/>
              </a:rPr>
              <a:t>decentralized JWT</a:t>
            </a:r>
            <a:r>
              <a:rPr b="0" lang="en-US" sz="1400" spc="-1" strike="noStrike">
                <a:solidFill>
                  <a:srgbClr val="000000"/>
                </a:solidFill>
                <a:latin typeface="Arial"/>
              </a:rPr>
              <a:t>, token, TLS certificates and Nkey with challenge).</a:t>
            </a:r>
            <a:endParaRPr b="0" lang="en-US" sz="1400" spc="-1" strike="noStrike">
              <a:latin typeface="Arial"/>
            </a:endParaRPr>
          </a:p>
          <a:p>
            <a:pPr>
              <a:lnSpc>
                <a:spcPct val="100000"/>
              </a:lnSpc>
              <a:buNone/>
            </a:pPr>
            <a:endParaRPr b="0" lang="en-US" sz="1400" spc="-1" strike="noStrike">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6" name="PlaceHolder 1"/>
          <p:cNvSpPr>
            <a:spLocks noGrp="1"/>
          </p:cNvSpPr>
          <p:nvPr>
            <p:ph type="title"/>
          </p:nvPr>
        </p:nvSpPr>
        <p:spPr>
          <a:xfrm>
            <a:off x="2180880" y="1828800"/>
            <a:ext cx="4905000" cy="1523520"/>
          </a:xfrm>
          <a:prstGeom prst="rect">
            <a:avLst/>
          </a:prstGeom>
          <a:noFill/>
          <a:ln w="0">
            <a:noFill/>
          </a:ln>
        </p:spPr>
        <p:txBody>
          <a:bodyPr lIns="0" rIns="0" tIns="0" bIns="0" anchor="ctr">
            <a:noAutofit/>
          </a:bodyPr>
          <a:p>
            <a:pPr algn="ctr">
              <a:lnSpc>
                <a:spcPct val="90000"/>
              </a:lnSpc>
              <a:buNone/>
              <a:tabLst>
                <a:tab algn="l" pos="0"/>
              </a:tabLst>
            </a:pPr>
            <a:r>
              <a:rPr b="1" lang="en" sz="6800" spc="-1" strike="noStrike">
                <a:solidFill>
                  <a:srgbClr val="2b3547"/>
                </a:solidFill>
                <a:latin typeface="Amatic SC"/>
                <a:ea typeface="Amatic SC"/>
              </a:rPr>
              <a:t>NATS</a:t>
            </a:r>
            <a:br>
              <a:rPr sz="6800"/>
            </a:br>
            <a:r>
              <a:rPr b="1" lang="en" sz="6800" spc="-1" strike="noStrike">
                <a:solidFill>
                  <a:srgbClr val="2b3547"/>
                </a:solidFill>
                <a:latin typeface="Amatic SC"/>
                <a:ea typeface="Amatic SC"/>
              </a:rPr>
              <a:t>in CLi</a:t>
            </a:r>
            <a:endParaRPr b="0" lang="en-US" sz="6800" spc="-1" strike="noStrike">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 name="PlaceHolder 1"/>
          <p:cNvSpPr>
            <a:spLocks noGrp="1"/>
          </p:cNvSpPr>
          <p:nvPr>
            <p:ph type="title"/>
          </p:nvPr>
        </p:nvSpPr>
        <p:spPr>
          <a:xfrm>
            <a:off x="883080" y="682920"/>
            <a:ext cx="6425280" cy="395280"/>
          </a:xfrm>
          <a:prstGeom prst="rect">
            <a:avLst/>
          </a:prstGeom>
          <a:noFill/>
          <a:ln w="0">
            <a:noFill/>
          </a:ln>
        </p:spPr>
        <p:txBody>
          <a:bodyPr lIns="0" rIns="0" tIns="0" bIns="0" anchor="ctr">
            <a:noAutofit/>
          </a:bodyPr>
          <a:p>
            <a:pPr>
              <a:lnSpc>
                <a:spcPct val="90000"/>
              </a:lnSpc>
              <a:buNone/>
              <a:tabLst>
                <a:tab algn="l" pos="0"/>
              </a:tabLst>
            </a:pPr>
            <a:r>
              <a:rPr b="1" lang="en" sz="3400" spc="-1" strike="noStrike">
                <a:solidFill>
                  <a:srgbClr val="2b3547"/>
                </a:solidFill>
                <a:latin typeface="Amatic SC"/>
                <a:ea typeface="Amatic SC"/>
              </a:rPr>
              <a:t>What is NATS</a:t>
            </a:r>
            <a:endParaRPr b="0" lang="en-US" sz="3400" spc="-1" strike="noStrike">
              <a:latin typeface="Arial"/>
            </a:endParaRPr>
          </a:p>
        </p:txBody>
      </p:sp>
      <p:sp>
        <p:nvSpPr>
          <p:cNvPr id="198" name="PlaceHolder 2"/>
          <p:cNvSpPr>
            <a:spLocks noGrp="1"/>
          </p:cNvSpPr>
          <p:nvPr>
            <p:ph type="sldNum" idx="26"/>
          </p:nvPr>
        </p:nvSpPr>
        <p:spPr>
          <a:xfrm>
            <a:off x="8403840" y="4692960"/>
            <a:ext cx="547560" cy="299160"/>
          </a:xfrm>
          <a:prstGeom prst="rect">
            <a:avLst/>
          </a:prstGeom>
          <a:noFill/>
          <a:ln w="0">
            <a:noFill/>
          </a:ln>
        </p:spPr>
        <p:txBody>
          <a:bodyPr lIns="0" rIns="0" tIns="0" bIns="0" anchor="ctr">
            <a:noAutofit/>
          </a:bodyPr>
          <a:lstStyle>
            <a:lvl1pPr algn="r">
              <a:lnSpc>
                <a:spcPct val="100000"/>
              </a:lnSpc>
              <a:buNone/>
              <a:tabLst>
                <a:tab algn="l" pos="0"/>
              </a:tabLst>
              <a:defRPr b="1" lang="en" sz="1500" spc="-1" strike="noStrike">
                <a:solidFill>
                  <a:srgbClr val="7f8b91"/>
                </a:solidFill>
                <a:latin typeface="Amatic SC"/>
                <a:ea typeface="Amatic SC"/>
              </a:defRPr>
            </a:lvl1pPr>
          </a:lstStyle>
          <a:p>
            <a:pPr algn="r">
              <a:lnSpc>
                <a:spcPct val="100000"/>
              </a:lnSpc>
              <a:buNone/>
              <a:tabLst>
                <a:tab algn="l" pos="0"/>
              </a:tabLst>
            </a:pPr>
            <a:fld id="{947CA149-1495-47C0-9AB7-757CC87FFA12}" type="slidenum">
              <a:rPr b="1" lang="en" sz="1500" spc="-1" strike="noStrike">
                <a:solidFill>
                  <a:srgbClr val="7f8b91"/>
                </a:solidFill>
                <a:latin typeface="Amatic SC"/>
                <a:ea typeface="Amatic SC"/>
              </a:rPr>
              <a:t>&lt;number&gt;</a:t>
            </a:fld>
            <a:endParaRPr b="0" lang="en-US" sz="1500" spc="-1" strike="noStrike">
              <a:latin typeface="Times New Roman"/>
            </a:endParaRPr>
          </a:p>
        </p:txBody>
      </p:sp>
      <p:sp>
        <p:nvSpPr>
          <p:cNvPr id="199" name="Google Shape;228;p 22"/>
          <p:cNvSpPr/>
          <p:nvPr/>
        </p:nvSpPr>
        <p:spPr>
          <a:xfrm>
            <a:off x="7648200" y="3814560"/>
            <a:ext cx="936720" cy="834120"/>
          </a:xfrm>
          <a:custGeom>
            <a:avLst/>
            <a:gdLst/>
            <a:ahLst/>
            <a:rect l="l" t="t" r="r" b="b"/>
            <a:pathLst>
              <a:path w="444359" h="395938">
                <a:moveTo>
                  <a:pt x="135136" y="205311"/>
                </a:moveTo>
                <a:lnTo>
                  <a:pt x="101482" y="200356"/>
                </a:lnTo>
                <a:cubicBezTo>
                  <a:pt x="92405" y="199041"/>
                  <a:pt x="88788" y="213642"/>
                  <a:pt x="98347" y="215046"/>
                </a:cubicBezTo>
                <a:lnTo>
                  <a:pt x="132067" y="220001"/>
                </a:lnTo>
                <a:cubicBezTo>
                  <a:pt x="141056" y="221316"/>
                  <a:pt x="144673" y="206714"/>
                  <a:pt x="135136" y="205311"/>
                </a:cubicBezTo>
                <a:close/>
                <a:moveTo>
                  <a:pt x="293388" y="291650"/>
                </a:moveTo>
                <a:cubicBezTo>
                  <a:pt x="292554" y="295482"/>
                  <a:pt x="294966" y="299271"/>
                  <a:pt x="298803" y="300115"/>
                </a:cubicBezTo>
                <a:cubicBezTo>
                  <a:pt x="298869" y="300130"/>
                  <a:pt x="298935" y="300144"/>
                  <a:pt x="299001" y="300157"/>
                </a:cubicBezTo>
                <a:cubicBezTo>
                  <a:pt x="299373" y="300157"/>
                  <a:pt x="300711" y="300157"/>
                  <a:pt x="300930" y="300551"/>
                </a:cubicBezTo>
                <a:cubicBezTo>
                  <a:pt x="299921" y="300222"/>
                  <a:pt x="299790" y="300201"/>
                  <a:pt x="300535" y="300551"/>
                </a:cubicBezTo>
                <a:cubicBezTo>
                  <a:pt x="301280" y="300902"/>
                  <a:pt x="301456" y="300924"/>
                  <a:pt x="302267" y="301297"/>
                </a:cubicBezTo>
                <a:lnTo>
                  <a:pt x="302377" y="301297"/>
                </a:lnTo>
                <a:cubicBezTo>
                  <a:pt x="309919" y="308335"/>
                  <a:pt x="320267" y="297416"/>
                  <a:pt x="313142" y="290335"/>
                </a:cubicBezTo>
                <a:cubicBezTo>
                  <a:pt x="307573" y="285621"/>
                  <a:pt x="295756" y="281894"/>
                  <a:pt x="293388" y="291650"/>
                </a:cubicBezTo>
                <a:close/>
                <a:moveTo>
                  <a:pt x="285999" y="274110"/>
                </a:moveTo>
                <a:cubicBezTo>
                  <a:pt x="269973" y="263589"/>
                  <a:pt x="253310" y="254069"/>
                  <a:pt x="236099" y="245608"/>
                </a:cubicBezTo>
                <a:cubicBezTo>
                  <a:pt x="227833" y="241530"/>
                  <a:pt x="220752" y="255014"/>
                  <a:pt x="229346" y="259180"/>
                </a:cubicBezTo>
                <a:cubicBezTo>
                  <a:pt x="245439" y="267053"/>
                  <a:pt x="261027" y="275919"/>
                  <a:pt x="276002" y="285730"/>
                </a:cubicBezTo>
                <a:cubicBezTo>
                  <a:pt x="283697" y="290576"/>
                  <a:pt x="293738" y="279109"/>
                  <a:pt x="285999" y="274023"/>
                </a:cubicBezTo>
                <a:close/>
                <a:moveTo>
                  <a:pt x="433354" y="1544"/>
                </a:moveTo>
                <a:cubicBezTo>
                  <a:pt x="431162" y="3057"/>
                  <a:pt x="428970" y="4482"/>
                  <a:pt x="426908" y="5929"/>
                </a:cubicBezTo>
                <a:cubicBezTo>
                  <a:pt x="425220" y="5833"/>
                  <a:pt x="423554" y="6381"/>
                  <a:pt x="422239" y="7464"/>
                </a:cubicBezTo>
                <a:cubicBezTo>
                  <a:pt x="417854" y="10840"/>
                  <a:pt x="413469" y="14261"/>
                  <a:pt x="408952" y="17659"/>
                </a:cubicBezTo>
                <a:cubicBezTo>
                  <a:pt x="315904" y="75803"/>
                  <a:pt x="209197" y="106563"/>
                  <a:pt x="111195" y="154928"/>
                </a:cubicBezTo>
                <a:cubicBezTo>
                  <a:pt x="93853" y="163501"/>
                  <a:pt x="76773" y="172622"/>
                  <a:pt x="60089" y="182400"/>
                </a:cubicBezTo>
                <a:cubicBezTo>
                  <a:pt x="42549" y="192748"/>
                  <a:pt x="25141" y="203184"/>
                  <a:pt x="5146" y="208249"/>
                </a:cubicBezTo>
                <a:cubicBezTo>
                  <a:pt x="-1804" y="210003"/>
                  <a:pt x="-1147" y="218532"/>
                  <a:pt x="3743" y="221404"/>
                </a:cubicBezTo>
                <a:cubicBezTo>
                  <a:pt x="4707" y="222430"/>
                  <a:pt x="5979" y="223140"/>
                  <a:pt x="7360" y="223443"/>
                </a:cubicBezTo>
                <a:cubicBezTo>
                  <a:pt x="52371" y="234230"/>
                  <a:pt x="97777" y="242999"/>
                  <a:pt x="143621" y="249752"/>
                </a:cubicBezTo>
                <a:lnTo>
                  <a:pt x="143117" y="384961"/>
                </a:lnTo>
                <a:cubicBezTo>
                  <a:pt x="142854" y="387829"/>
                  <a:pt x="144717" y="390464"/>
                  <a:pt x="147502" y="391166"/>
                </a:cubicBezTo>
                <a:cubicBezTo>
                  <a:pt x="148620" y="393251"/>
                  <a:pt x="150615" y="394717"/>
                  <a:pt x="152939" y="395156"/>
                </a:cubicBezTo>
                <a:cubicBezTo>
                  <a:pt x="155855" y="396721"/>
                  <a:pt x="159473" y="395875"/>
                  <a:pt x="161402" y="393183"/>
                </a:cubicBezTo>
                <a:cubicBezTo>
                  <a:pt x="187777" y="361278"/>
                  <a:pt x="215797" y="330777"/>
                  <a:pt x="245351" y="301801"/>
                </a:cubicBezTo>
                <a:cubicBezTo>
                  <a:pt x="266464" y="313914"/>
                  <a:pt x="286394" y="328001"/>
                  <a:pt x="304854" y="343874"/>
                </a:cubicBezTo>
                <a:cubicBezTo>
                  <a:pt x="316496" y="353850"/>
                  <a:pt x="331712" y="356854"/>
                  <a:pt x="343266" y="366413"/>
                </a:cubicBezTo>
                <a:cubicBezTo>
                  <a:pt x="346533" y="371170"/>
                  <a:pt x="355500" y="370798"/>
                  <a:pt x="356553" y="363519"/>
                </a:cubicBezTo>
                <a:cubicBezTo>
                  <a:pt x="373083" y="243175"/>
                  <a:pt x="405510" y="125528"/>
                  <a:pt x="443593" y="10753"/>
                </a:cubicBezTo>
                <a:cubicBezTo>
                  <a:pt x="446618" y="4679"/>
                  <a:pt x="440173" y="-3323"/>
                  <a:pt x="433354" y="1457"/>
                </a:cubicBezTo>
                <a:close/>
                <a:moveTo>
                  <a:pt x="144959" y="232695"/>
                </a:moveTo>
                <a:cubicBezTo>
                  <a:pt x="144345" y="233234"/>
                  <a:pt x="143819" y="233863"/>
                  <a:pt x="143380" y="234558"/>
                </a:cubicBezTo>
                <a:cubicBezTo>
                  <a:pt x="106218" y="229033"/>
                  <a:pt x="69319" y="222164"/>
                  <a:pt x="32639" y="213949"/>
                </a:cubicBezTo>
                <a:cubicBezTo>
                  <a:pt x="52744" y="204895"/>
                  <a:pt x="71358" y="192134"/>
                  <a:pt x="90652" y="181720"/>
                </a:cubicBezTo>
                <a:cubicBezTo>
                  <a:pt x="170610" y="138682"/>
                  <a:pt x="257497" y="110816"/>
                  <a:pt x="339320" y="71856"/>
                </a:cubicBezTo>
                <a:cubicBezTo>
                  <a:pt x="273370" y="123978"/>
                  <a:pt x="208584" y="177592"/>
                  <a:pt x="144959" y="232695"/>
                </a:cubicBezTo>
                <a:close/>
                <a:moveTo>
                  <a:pt x="157938" y="358827"/>
                </a:moveTo>
                <a:lnTo>
                  <a:pt x="158376" y="242429"/>
                </a:lnTo>
                <a:cubicBezTo>
                  <a:pt x="158376" y="241688"/>
                  <a:pt x="158267" y="240949"/>
                  <a:pt x="158070" y="240237"/>
                </a:cubicBezTo>
                <a:cubicBezTo>
                  <a:pt x="232788" y="175691"/>
                  <a:pt x="309152" y="113147"/>
                  <a:pt x="387181" y="52607"/>
                </a:cubicBezTo>
                <a:lnTo>
                  <a:pt x="297159" y="137213"/>
                </a:lnTo>
                <a:cubicBezTo>
                  <a:pt x="259098" y="172972"/>
                  <a:pt x="217024" y="207372"/>
                  <a:pt x="189531" y="252405"/>
                </a:cubicBezTo>
                <a:cubicBezTo>
                  <a:pt x="188216" y="254240"/>
                  <a:pt x="188018" y="256658"/>
                  <a:pt x="189049" y="258675"/>
                </a:cubicBezTo>
                <a:cubicBezTo>
                  <a:pt x="189356" y="259691"/>
                  <a:pt x="189882" y="260620"/>
                  <a:pt x="190605" y="261394"/>
                </a:cubicBezTo>
                <a:cubicBezTo>
                  <a:pt x="181222" y="294369"/>
                  <a:pt x="170325" y="326817"/>
                  <a:pt x="157938" y="358739"/>
                </a:cubicBezTo>
                <a:close/>
                <a:moveTo>
                  <a:pt x="174535" y="355801"/>
                </a:moveTo>
                <a:cubicBezTo>
                  <a:pt x="184927" y="328323"/>
                  <a:pt x="194267" y="300479"/>
                  <a:pt x="202533" y="272269"/>
                </a:cubicBezTo>
                <a:cubicBezTo>
                  <a:pt x="212223" y="280124"/>
                  <a:pt x="222396" y="287379"/>
                  <a:pt x="232964" y="293996"/>
                </a:cubicBezTo>
                <a:cubicBezTo>
                  <a:pt x="212749" y="313844"/>
                  <a:pt x="193281" y="334418"/>
                  <a:pt x="174535" y="355713"/>
                </a:cubicBezTo>
                <a:close/>
                <a:moveTo>
                  <a:pt x="344143" y="348807"/>
                </a:moveTo>
                <a:cubicBezTo>
                  <a:pt x="334847" y="343743"/>
                  <a:pt x="324608" y="340432"/>
                  <a:pt x="316255" y="333460"/>
                </a:cubicBezTo>
                <a:cubicBezTo>
                  <a:pt x="304394" y="323193"/>
                  <a:pt x="291962" y="313631"/>
                  <a:pt x="278983" y="304827"/>
                </a:cubicBezTo>
                <a:cubicBezTo>
                  <a:pt x="253946" y="288581"/>
                  <a:pt x="227351" y="274637"/>
                  <a:pt x="205273" y="254400"/>
                </a:cubicBezTo>
                <a:cubicBezTo>
                  <a:pt x="232701" y="211538"/>
                  <a:pt x="274533" y="178125"/>
                  <a:pt x="311212" y="143637"/>
                </a:cubicBezTo>
                <a:cubicBezTo>
                  <a:pt x="346993" y="110020"/>
                  <a:pt x="382796" y="76401"/>
                  <a:pt x="418643" y="42784"/>
                </a:cubicBezTo>
                <a:cubicBezTo>
                  <a:pt x="385098" y="142442"/>
                  <a:pt x="360170" y="244797"/>
                  <a:pt x="344143" y="348720"/>
                </a:cubicBezTo>
                <a:close/>
                <a:moveTo>
                  <a:pt x="55923" y="163172"/>
                </a:moveTo>
                <a:cubicBezTo>
                  <a:pt x="76620" y="147430"/>
                  <a:pt x="101087" y="137608"/>
                  <a:pt x="124481" y="126668"/>
                </a:cubicBezTo>
                <a:lnTo>
                  <a:pt x="197797" y="92378"/>
                </a:lnTo>
                <a:cubicBezTo>
                  <a:pt x="206238" y="88431"/>
                  <a:pt x="202379" y="74268"/>
                  <a:pt x="193412" y="78434"/>
                </a:cubicBezTo>
                <a:lnTo>
                  <a:pt x="116237" y="114478"/>
                </a:lnTo>
                <a:cubicBezTo>
                  <a:pt x="92954" y="125440"/>
                  <a:pt x="68661" y="135306"/>
                  <a:pt x="48052" y="150960"/>
                </a:cubicBezTo>
                <a:cubicBezTo>
                  <a:pt x="40532" y="156704"/>
                  <a:pt x="48096" y="169114"/>
                  <a:pt x="55923" y="163084"/>
                </a:cubicBezTo>
                <a:close/>
                <a:moveTo>
                  <a:pt x="41760" y="133684"/>
                </a:moveTo>
                <a:cubicBezTo>
                  <a:pt x="60198" y="122794"/>
                  <a:pt x="79119" y="112805"/>
                  <a:pt x="98479" y="103713"/>
                </a:cubicBezTo>
                <a:cubicBezTo>
                  <a:pt x="106919" y="99766"/>
                  <a:pt x="103061" y="85603"/>
                  <a:pt x="94094" y="89791"/>
                </a:cubicBezTo>
                <a:cubicBezTo>
                  <a:pt x="73528" y="99409"/>
                  <a:pt x="53467" y="109990"/>
                  <a:pt x="33889" y="121537"/>
                </a:cubicBezTo>
                <a:cubicBezTo>
                  <a:pt x="25689" y="126339"/>
                  <a:pt x="33341" y="138573"/>
                  <a:pt x="41760" y="133596"/>
                </a:cubicBezTo>
                <a:close/>
              </a:path>
            </a:pathLst>
          </a:custGeom>
          <a:solidFill>
            <a:srgbClr val="2b3547"/>
          </a:solidFill>
          <a:ln w="0">
            <a:noFill/>
          </a:ln>
        </p:spPr>
        <p:style>
          <a:lnRef idx="0"/>
          <a:fillRef idx="0"/>
          <a:effectRef idx="0"/>
          <a:fontRef idx="minor"/>
        </p:style>
      </p:sp>
      <p:sp>
        <p:nvSpPr>
          <p:cNvPr id="200" name="PlaceHolder 3"/>
          <p:cNvSpPr>
            <a:spLocks noGrp="1"/>
          </p:cNvSpPr>
          <p:nvPr>
            <p:ph/>
          </p:nvPr>
        </p:nvSpPr>
        <p:spPr>
          <a:xfrm>
            <a:off x="1188000" y="1307520"/>
            <a:ext cx="6425280" cy="2839320"/>
          </a:xfrm>
          <a:prstGeom prst="rect">
            <a:avLst/>
          </a:prstGeom>
          <a:noFill/>
          <a:ln w="0">
            <a:noFill/>
          </a:ln>
        </p:spPr>
        <p:txBody>
          <a:bodyPr lIns="0" rIns="0" tIns="0" bIns="0" anchor="t">
            <a:noAutofit/>
          </a:bodyPr>
          <a:p>
            <a:pPr>
              <a:lnSpc>
                <a:spcPct val="100000"/>
              </a:lnSpc>
              <a:buNone/>
            </a:pPr>
            <a:endParaRPr b="0" lang="en-US" sz="1800" spc="-1" strike="noStrike">
              <a:latin typeface="Arial"/>
            </a:endParaRPr>
          </a:p>
          <a:p>
            <a:pPr>
              <a:lnSpc>
                <a:spcPct val="100000"/>
              </a:lnSpc>
              <a:buNone/>
            </a:pPr>
            <a:endParaRPr b="0" lang="en-US" sz="1800" spc="-1" strike="noStrike">
              <a:latin typeface="Arial"/>
            </a:endParaRPr>
          </a:p>
          <a:p>
            <a:pPr>
              <a:lnSpc>
                <a:spcPct val="100000"/>
              </a:lnSpc>
              <a:buNone/>
            </a:pPr>
            <a:r>
              <a:rPr b="1" lang="en-US" sz="1800" spc="-1" strike="noStrike">
                <a:solidFill>
                  <a:srgbClr val="000000"/>
                </a:solidFill>
                <a:latin typeface="Arial"/>
              </a:rPr>
              <a:t>Simple messaging design</a:t>
            </a:r>
            <a:endParaRPr b="0" lang="en-US" sz="1800" spc="-1" strike="noStrike">
              <a:latin typeface="Arial"/>
            </a:endParaRPr>
          </a:p>
          <a:p>
            <a:pPr marL="432000" indent="-324000">
              <a:lnSpc>
                <a:spcPct val="100000"/>
              </a:lnSpc>
              <a:buClr>
                <a:srgbClr val="000000"/>
              </a:buClr>
              <a:buFont typeface="Wingdings" charset="2"/>
              <a:buChar char=""/>
            </a:pPr>
            <a:r>
              <a:rPr b="0" lang="en-US" sz="1400" spc="-1" strike="noStrike">
                <a:solidFill>
                  <a:srgbClr val="000000"/>
                </a:solidFill>
                <a:latin typeface="Arial"/>
              </a:rPr>
              <a:t>NATS makes it easy for applications to communicate by sending and receiving messages. These messages are addressed and identified by subject strings, and do not depend on network location.</a:t>
            </a:r>
            <a:br>
              <a:rPr sz="1400"/>
            </a:br>
            <a:r>
              <a:rPr b="0" lang="en-US" sz="1400" spc="-1" strike="noStrike">
                <a:solidFill>
                  <a:srgbClr val="000000"/>
                </a:solidFill>
                <a:latin typeface="Arial"/>
              </a:rPr>
              <a:t>Data is encoded and framed as a message and sent by a publisher. The message is received, decoded, and processed by one or more subscribers.</a:t>
            </a:r>
            <a:br>
              <a:rPr sz="1400"/>
            </a:br>
            <a:r>
              <a:rPr b="0" lang="en-US" sz="1400" spc="-1" strike="noStrike">
                <a:solidFill>
                  <a:srgbClr val="000000"/>
                </a:solidFill>
                <a:latin typeface="Arial"/>
              </a:rPr>
              <a:t>With this simple design, NATS lets programs share common message-handling code, isolate resources and interdependencies, and scale by easily handling an increase in message volume, whether those are service requests or stream data.</a:t>
            </a:r>
            <a:endParaRPr b="0" lang="en-US" sz="1400" spc="-1" strike="noStrike">
              <a:latin typeface="Arial"/>
            </a:endParaRPr>
          </a:p>
          <a:p>
            <a:pPr>
              <a:lnSpc>
                <a:spcPct val="100000"/>
              </a:lnSpc>
              <a:buNone/>
            </a:pPr>
            <a:endParaRPr b="0" lang="en-US" sz="1400" spc="-1" strike="noStrike">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543</TotalTime>
  <Application>LibreOffice/7.3.7.2$Linux_X86_64 LibreOffice_project/30$Build-2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2025-07-19T10:33:04Z</dcterms:created>
  <dc:creator/>
  <dc:description/>
  <dc:language>en-US</dc:language>
  <cp:lastModifiedBy/>
  <dcterms:modified xsi:type="dcterms:W3CDTF">2025-07-23T16:14:34Z</dcterms:modified>
  <cp:revision>23</cp:revision>
  <dc:subject/>
  <dc:title/>
</cp:coreProperties>
</file>

<file path=docProps/custom.xml><?xml version="1.0" encoding="utf-8"?>
<Properties xmlns="http://schemas.openxmlformats.org/officeDocument/2006/custom-properties" xmlns:vt="http://schemas.openxmlformats.org/officeDocument/2006/docPropsVTypes"/>
</file>